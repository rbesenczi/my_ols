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294" r:id="rId3"/>
    <p:sldId id="257" r:id="rId4"/>
    <p:sldId id="291" r:id="rId5"/>
    <p:sldId id="302" r:id="rId6"/>
    <p:sldId id="284" r:id="rId7"/>
    <p:sldId id="304" r:id="rId8"/>
    <p:sldId id="258" r:id="rId9"/>
    <p:sldId id="260" r:id="rId10"/>
    <p:sldId id="305" r:id="rId11"/>
    <p:sldId id="286" r:id="rId12"/>
    <p:sldId id="261" r:id="rId13"/>
    <p:sldId id="262" r:id="rId14"/>
    <p:sldId id="292" r:id="rId15"/>
    <p:sldId id="263" r:id="rId16"/>
    <p:sldId id="264" r:id="rId17"/>
    <p:sldId id="293" r:id="rId18"/>
    <p:sldId id="265" r:id="rId19"/>
    <p:sldId id="266" r:id="rId20"/>
    <p:sldId id="267" r:id="rId21"/>
    <p:sldId id="268" r:id="rId22"/>
    <p:sldId id="270" r:id="rId23"/>
    <p:sldId id="271" r:id="rId24"/>
    <p:sldId id="272" r:id="rId25"/>
    <p:sldId id="269" r:id="rId26"/>
    <p:sldId id="274" r:id="rId27"/>
    <p:sldId id="273" r:id="rId28"/>
    <p:sldId id="276" r:id="rId29"/>
    <p:sldId id="295" r:id="rId30"/>
    <p:sldId id="309" r:id="rId31"/>
    <p:sldId id="311" r:id="rId32"/>
    <p:sldId id="312" r:id="rId33"/>
    <p:sldId id="314" r:id="rId34"/>
    <p:sldId id="315" r:id="rId35"/>
    <p:sldId id="306" r:id="rId36"/>
    <p:sldId id="307" r:id="rId37"/>
    <p:sldId id="308" r:id="rId38"/>
    <p:sldId id="283" r:id="rId39"/>
    <p:sldId id="297" r:id="rId40"/>
    <p:sldId id="298" r:id="rId41"/>
    <p:sldId id="300" r:id="rId42"/>
    <p:sldId id="303" r:id="rId43"/>
    <p:sldId id="316" r:id="rId44"/>
    <p:sldId id="299" r:id="rId45"/>
    <p:sldId id="301" r:id="rId46"/>
    <p:sldId id="285" r:id="rId47"/>
    <p:sldId id="290" r:id="rId48"/>
  </p:sldIdLst>
  <p:sldSz cx="12192000" cy="6858000"/>
  <p:notesSz cx="6858000" cy="9144000"/>
  <p:defaultTextStyle>
    <a:defPPr>
      <a:defRPr lang="en-US"/>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44"/>
    <p:restoredTop sz="94607"/>
  </p:normalViewPr>
  <p:slideViewPr>
    <p:cSldViewPr snapToGrid="0">
      <p:cViewPr>
        <p:scale>
          <a:sx n="176" d="100"/>
          <a:sy n="176" d="100"/>
        </p:scale>
        <p:origin x="2760" y="9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F6C077-D7C9-7346-B9FB-3A3E4C4E054D}" type="datetimeFigureOut">
              <a:rPr lang="en-US" smtClean="0"/>
              <a:t>10/10/26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4E81F6-4C3C-2A4F-8633-33E49D293464}" type="slidenum">
              <a:rPr lang="en-US" smtClean="0"/>
              <a:t>‹#›</a:t>
            </a:fld>
            <a:endParaRPr lang="en-US"/>
          </a:p>
        </p:txBody>
      </p:sp>
    </p:spTree>
    <p:extLst>
      <p:ext uri="{BB962C8B-B14F-4D97-AF65-F5344CB8AC3E}">
        <p14:creationId xmlns:p14="http://schemas.microsoft.com/office/powerpoint/2010/main" val="1607506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welcome to this presentation about how to test your code. Although this presentation is about software engineering best practices, most elements are tailored for research code.</a:t>
            </a:r>
          </a:p>
          <a:p>
            <a:endParaRPr lang="en-US" dirty="0"/>
          </a:p>
          <a:p>
            <a:r>
              <a:rPr lang="en-US" dirty="0"/>
              <a:t>I should emphasize that this is not a complete guide on software testing; that would take considerably more time to do. Rather this is a guide on the bare minimum that you should do to improve robustness and traceability of your code.</a:t>
            </a:r>
          </a:p>
        </p:txBody>
      </p:sp>
      <p:sp>
        <p:nvSpPr>
          <p:cNvPr id="4" name="Slide Number Placeholder 3"/>
          <p:cNvSpPr>
            <a:spLocks noGrp="1"/>
          </p:cNvSpPr>
          <p:nvPr>
            <p:ph type="sldNum" sz="quarter" idx="5"/>
          </p:nvPr>
        </p:nvSpPr>
        <p:spPr/>
        <p:txBody>
          <a:bodyPr/>
          <a:lstStyle/>
          <a:p>
            <a:fld id="{3A4E81F6-4C3C-2A4F-8633-33E49D293464}" type="slidenum">
              <a:rPr lang="en-US" smtClean="0"/>
              <a:t>1</a:t>
            </a:fld>
            <a:endParaRPr lang="en-US"/>
          </a:p>
        </p:txBody>
      </p:sp>
    </p:spTree>
    <p:extLst>
      <p:ext uri="{BB962C8B-B14F-4D97-AF65-F5344CB8AC3E}">
        <p14:creationId xmlns:p14="http://schemas.microsoft.com/office/powerpoint/2010/main" val="2448858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presentations, mine and </a:t>
            </a:r>
            <a:r>
              <a:rPr lang="en-US" dirty="0" err="1"/>
              <a:t>Tianli's</a:t>
            </a:r>
            <a:r>
              <a:rPr lang="en-US" dirty="0"/>
              <a:t>, are available now in this GitHub repository. In addition, a more detailed tutorial is available on software testing with small examples.</a:t>
            </a:r>
          </a:p>
        </p:txBody>
      </p:sp>
      <p:sp>
        <p:nvSpPr>
          <p:cNvPr id="4" name="Slide Number Placeholder 3"/>
          <p:cNvSpPr>
            <a:spLocks noGrp="1"/>
          </p:cNvSpPr>
          <p:nvPr>
            <p:ph type="sldNum" sz="quarter" idx="5"/>
          </p:nvPr>
        </p:nvSpPr>
        <p:spPr/>
        <p:txBody>
          <a:bodyPr/>
          <a:lstStyle/>
          <a:p>
            <a:fld id="{3A4E81F6-4C3C-2A4F-8633-33E49D293464}" type="slidenum">
              <a:rPr lang="en-US" smtClean="0"/>
              <a:t>2</a:t>
            </a:fld>
            <a:endParaRPr lang="en-US"/>
          </a:p>
        </p:txBody>
      </p:sp>
    </p:spTree>
    <p:extLst>
      <p:ext uri="{BB962C8B-B14F-4D97-AF65-F5344CB8AC3E}">
        <p14:creationId xmlns:p14="http://schemas.microsoft.com/office/powerpoint/2010/main" val="31820178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will we cover today?</a:t>
            </a:r>
          </a:p>
          <a:p>
            <a:endParaRPr lang="en-US" dirty="0"/>
          </a:p>
          <a:p>
            <a:r>
              <a:rPr lang="en-US" dirty="0"/>
              <a:t>We will start with the basic idea why software testing is useful in general.</a:t>
            </a:r>
          </a:p>
          <a:p>
            <a:endParaRPr lang="en-US" dirty="0"/>
          </a:p>
          <a:p>
            <a:r>
              <a:rPr lang="en-US" dirty="0"/>
              <a:t>We then will continue with some basic programming ideas about how to </a:t>
            </a:r>
            <a:r>
              <a:rPr lang="en-US" dirty="0" err="1"/>
              <a:t>organise</a:t>
            </a:r>
            <a:r>
              <a:rPr lang="en-US" dirty="0"/>
              <a:t> your code to make the testing process easier. This will also contain some general coding advice.</a:t>
            </a:r>
          </a:p>
          <a:p>
            <a:endParaRPr lang="en-US" dirty="0"/>
          </a:p>
          <a:p>
            <a:r>
              <a:rPr lang="en-US" dirty="0"/>
              <a:t>Then we show a few ideas on how to write simple tests that you can run locally either for your code or for some else's code.</a:t>
            </a:r>
          </a:p>
          <a:p>
            <a:endParaRPr lang="en-US" dirty="0"/>
          </a:p>
          <a:p>
            <a:r>
              <a:rPr lang="en-US" dirty="0"/>
              <a:t>After, we show you how to automate the entire process on GitHub.</a:t>
            </a:r>
          </a:p>
        </p:txBody>
      </p:sp>
      <p:sp>
        <p:nvSpPr>
          <p:cNvPr id="4" name="Slide Number Placeholder 3"/>
          <p:cNvSpPr>
            <a:spLocks noGrp="1"/>
          </p:cNvSpPr>
          <p:nvPr>
            <p:ph type="sldNum" sz="quarter" idx="5"/>
          </p:nvPr>
        </p:nvSpPr>
        <p:spPr/>
        <p:txBody>
          <a:bodyPr/>
          <a:lstStyle/>
          <a:p>
            <a:fld id="{3A4E81F6-4C3C-2A4F-8633-33E49D293464}" type="slidenum">
              <a:rPr lang="en-US" smtClean="0"/>
              <a:t>3</a:t>
            </a:fld>
            <a:endParaRPr lang="en-US"/>
          </a:p>
        </p:txBody>
      </p:sp>
    </p:spTree>
    <p:extLst>
      <p:ext uri="{BB962C8B-B14F-4D97-AF65-F5344CB8AC3E}">
        <p14:creationId xmlns:p14="http://schemas.microsoft.com/office/powerpoint/2010/main" val="1516332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extra, we will show you how to make your whole process even more robust and traceable. </a:t>
            </a:r>
          </a:p>
        </p:txBody>
      </p:sp>
      <p:sp>
        <p:nvSpPr>
          <p:cNvPr id="4" name="Slide Number Placeholder 3"/>
          <p:cNvSpPr>
            <a:spLocks noGrp="1"/>
          </p:cNvSpPr>
          <p:nvPr>
            <p:ph type="sldNum" sz="quarter" idx="5"/>
          </p:nvPr>
        </p:nvSpPr>
        <p:spPr/>
        <p:txBody>
          <a:bodyPr/>
          <a:lstStyle/>
          <a:p>
            <a:fld id="{3A4E81F6-4C3C-2A4F-8633-33E49D293464}" type="slidenum">
              <a:rPr lang="en-US" smtClean="0"/>
              <a:t>4</a:t>
            </a:fld>
            <a:endParaRPr lang="en-US"/>
          </a:p>
        </p:txBody>
      </p:sp>
    </p:spTree>
    <p:extLst>
      <p:ext uri="{BB962C8B-B14F-4D97-AF65-F5344CB8AC3E}">
        <p14:creationId xmlns:p14="http://schemas.microsoft.com/office/powerpoint/2010/main" val="695354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believe this is not needed, but if you are not super familiar with version control systems and git you can check our tutorial on the topic.</a:t>
            </a:r>
          </a:p>
        </p:txBody>
      </p:sp>
      <p:sp>
        <p:nvSpPr>
          <p:cNvPr id="4" name="Slide Number Placeholder 3"/>
          <p:cNvSpPr>
            <a:spLocks noGrp="1"/>
          </p:cNvSpPr>
          <p:nvPr>
            <p:ph type="sldNum" sz="quarter" idx="5"/>
          </p:nvPr>
        </p:nvSpPr>
        <p:spPr/>
        <p:txBody>
          <a:bodyPr/>
          <a:lstStyle/>
          <a:p>
            <a:fld id="{3A4E81F6-4C3C-2A4F-8633-33E49D293464}" type="slidenum">
              <a:rPr lang="en-US" smtClean="0"/>
              <a:t>5</a:t>
            </a:fld>
            <a:endParaRPr lang="en-US"/>
          </a:p>
        </p:txBody>
      </p:sp>
    </p:spTree>
    <p:extLst>
      <p:ext uri="{BB962C8B-B14F-4D97-AF65-F5344CB8AC3E}">
        <p14:creationId xmlns:p14="http://schemas.microsoft.com/office/powerpoint/2010/main" val="3494339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might ask why testing matters. The idea is to show that you are indeed provided robustness into your work. </a:t>
            </a:r>
          </a:p>
          <a:p>
            <a:endParaRPr lang="en-US" dirty="0"/>
          </a:p>
          <a:p>
            <a:r>
              <a:rPr lang="en-US" dirty="0"/>
              <a:t>I'm certain that you have already run into code (as a supplement for a paper) that is difficult to run (if it could run at all). While I </a:t>
            </a:r>
            <a:r>
              <a:rPr lang="en-US" dirty="0" err="1"/>
              <a:t>recognise</a:t>
            </a:r>
            <a:r>
              <a:rPr lang="en-US" dirty="0"/>
              <a:t> that most problems arise from poor documentation or dependency versioning issues, several problems could be avoided by using a few tools from software engineering.</a:t>
            </a:r>
          </a:p>
          <a:p>
            <a:endParaRPr lang="en-US" dirty="0"/>
          </a:p>
          <a:p>
            <a:r>
              <a:rPr lang="en-US" dirty="0"/>
              <a:t>A nice and tidy software repository with accurate version control, commit messages, tests, some level of automation and issue tracking can give a major boost to community uptake.</a:t>
            </a:r>
          </a:p>
        </p:txBody>
      </p:sp>
      <p:sp>
        <p:nvSpPr>
          <p:cNvPr id="4" name="Slide Number Placeholder 3"/>
          <p:cNvSpPr>
            <a:spLocks noGrp="1"/>
          </p:cNvSpPr>
          <p:nvPr>
            <p:ph type="sldNum" sz="quarter" idx="5"/>
          </p:nvPr>
        </p:nvSpPr>
        <p:spPr/>
        <p:txBody>
          <a:bodyPr/>
          <a:lstStyle/>
          <a:p>
            <a:fld id="{3A4E81F6-4C3C-2A4F-8633-33E49D293464}" type="slidenum">
              <a:rPr lang="en-US" smtClean="0"/>
              <a:t>6</a:t>
            </a:fld>
            <a:endParaRPr lang="en-US"/>
          </a:p>
        </p:txBody>
      </p:sp>
    </p:spTree>
    <p:extLst>
      <p:ext uri="{BB962C8B-B14F-4D97-AF65-F5344CB8AC3E}">
        <p14:creationId xmlns:p14="http://schemas.microsoft.com/office/powerpoint/2010/main" val="29568838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you have already seen this meme about public GitHub repos, and this is mostly about junior job-seekers trying to prove that they are the best for the job. I'm sure even I have repos like this.</a:t>
            </a:r>
          </a:p>
          <a:p>
            <a:endParaRPr lang="en-US" dirty="0"/>
          </a:p>
          <a:p>
            <a:r>
              <a:rPr lang="en-US" dirty="0"/>
              <a:t>I've seen several cases not just in industry where the paper or method itself was great, but the code to supplement was just useless. </a:t>
            </a:r>
          </a:p>
          <a:p>
            <a:endParaRPr lang="en-US" dirty="0"/>
          </a:p>
          <a:p>
            <a:r>
              <a:rPr lang="en-US" dirty="0"/>
              <a:t>It's pretty hard to start using a method if the code provided is useless and you have to implement it from scratch.</a:t>
            </a:r>
          </a:p>
        </p:txBody>
      </p:sp>
      <p:sp>
        <p:nvSpPr>
          <p:cNvPr id="4" name="Slide Number Placeholder 3"/>
          <p:cNvSpPr>
            <a:spLocks noGrp="1"/>
          </p:cNvSpPr>
          <p:nvPr>
            <p:ph type="sldNum" sz="quarter" idx="5"/>
          </p:nvPr>
        </p:nvSpPr>
        <p:spPr/>
        <p:txBody>
          <a:bodyPr/>
          <a:lstStyle/>
          <a:p>
            <a:fld id="{3A4E81F6-4C3C-2A4F-8633-33E49D293464}" type="slidenum">
              <a:rPr lang="en-US" smtClean="0"/>
              <a:t>7</a:t>
            </a:fld>
            <a:endParaRPr lang="en-US"/>
          </a:p>
        </p:txBody>
      </p:sp>
    </p:spTree>
    <p:extLst>
      <p:ext uri="{BB962C8B-B14F-4D97-AF65-F5344CB8AC3E}">
        <p14:creationId xmlns:p14="http://schemas.microsoft.com/office/powerpoint/2010/main" val="12760806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by some keywords and bullet points. </a:t>
            </a:r>
          </a:p>
          <a:p>
            <a:endParaRPr lang="en-US" dirty="0"/>
          </a:p>
          <a:p>
            <a:r>
              <a:rPr lang="en-US" dirty="0"/>
              <a:t>Testing itself is not an exam, but a feedback system. It gives you confidence on what you are doing.</a:t>
            </a:r>
          </a:p>
          <a:p>
            <a:endParaRPr lang="en-US" dirty="0"/>
          </a:p>
          <a:p>
            <a:r>
              <a:rPr lang="en-US" dirty="0"/>
              <a:t>For this you need to write small and deterministic functions that are easier to test. This is also a general programming principle: make a function for each well-defined task. Example incoming.</a:t>
            </a:r>
          </a:p>
          <a:p>
            <a:endParaRPr lang="en-US" dirty="0"/>
          </a:p>
          <a:p>
            <a:r>
              <a:rPr lang="en-US" dirty="0"/>
              <a:t>Check failures close to the change. This means that test the function itself and test against the change you made. Make it run as fast as possible, but the previous step already gave you some sort of this. Small functions are faster to test.</a:t>
            </a:r>
          </a:p>
          <a:p>
            <a:endParaRPr lang="en-US" dirty="0"/>
          </a:p>
          <a:p>
            <a:r>
              <a:rPr lang="en-US" dirty="0"/>
              <a:t>Make test for the fixes and against the previous error: this will prevent the bugs coming back in a later change/fix.</a:t>
            </a:r>
          </a:p>
        </p:txBody>
      </p:sp>
      <p:sp>
        <p:nvSpPr>
          <p:cNvPr id="4" name="Slide Number Placeholder 3"/>
          <p:cNvSpPr>
            <a:spLocks noGrp="1"/>
          </p:cNvSpPr>
          <p:nvPr>
            <p:ph type="sldNum" sz="quarter" idx="5"/>
          </p:nvPr>
        </p:nvSpPr>
        <p:spPr/>
        <p:txBody>
          <a:bodyPr/>
          <a:lstStyle/>
          <a:p>
            <a:fld id="{3A4E81F6-4C3C-2A4F-8633-33E49D293464}" type="slidenum">
              <a:rPr lang="en-US" smtClean="0"/>
              <a:t>8</a:t>
            </a:fld>
            <a:endParaRPr lang="en-US"/>
          </a:p>
        </p:txBody>
      </p:sp>
    </p:spTree>
    <p:extLst>
      <p:ext uri="{BB962C8B-B14F-4D97-AF65-F5344CB8AC3E}">
        <p14:creationId xmlns:p14="http://schemas.microsoft.com/office/powerpoint/2010/main" val="4227878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integration and continuous development are commonly used software processes in industrial software development.</a:t>
            </a:r>
          </a:p>
          <a:p>
            <a:endParaRPr lang="en-US" dirty="0"/>
          </a:p>
          <a:p>
            <a:r>
              <a:rPr lang="en-US" dirty="0"/>
              <a:t>They have several steps and components in industrial software engineering that we are not showing you today. However, we will introduce those that we think are important for your research code.</a:t>
            </a:r>
          </a:p>
          <a:p>
            <a:endParaRPr lang="en-US" dirty="0"/>
          </a:p>
          <a:p>
            <a:r>
              <a:rPr lang="en-US" dirty="0"/>
              <a:t>The basic flow is this: whenever you make a change in your code, you commit and push it into your repository. This will trigger a CI event on the repository that will execute a series of tasks.</a:t>
            </a:r>
          </a:p>
          <a:p>
            <a:endParaRPr lang="en-US" dirty="0"/>
          </a:p>
          <a:p>
            <a:r>
              <a:rPr lang="en-US" dirty="0"/>
              <a:t>One if them is to verify your changes. It will build you software (if needed), run the tests and other checks to verify.</a:t>
            </a:r>
          </a:p>
          <a:p>
            <a:endParaRPr lang="en-US" dirty="0"/>
          </a:p>
          <a:p>
            <a:r>
              <a:rPr lang="en-US" dirty="0"/>
              <a:t>The results of the tests can be then evaluated.</a:t>
            </a:r>
          </a:p>
        </p:txBody>
      </p:sp>
      <p:sp>
        <p:nvSpPr>
          <p:cNvPr id="4" name="Slide Number Placeholder 3"/>
          <p:cNvSpPr>
            <a:spLocks noGrp="1"/>
          </p:cNvSpPr>
          <p:nvPr>
            <p:ph type="sldNum" sz="quarter" idx="5"/>
          </p:nvPr>
        </p:nvSpPr>
        <p:spPr/>
        <p:txBody>
          <a:bodyPr/>
          <a:lstStyle/>
          <a:p>
            <a:fld id="{3A4E81F6-4C3C-2A4F-8633-33E49D293464}" type="slidenum">
              <a:rPr lang="en-US" smtClean="0"/>
              <a:t>9</a:t>
            </a:fld>
            <a:endParaRPr lang="en-US"/>
          </a:p>
        </p:txBody>
      </p:sp>
    </p:spTree>
    <p:extLst>
      <p:ext uri="{BB962C8B-B14F-4D97-AF65-F5344CB8AC3E}">
        <p14:creationId xmlns:p14="http://schemas.microsoft.com/office/powerpoint/2010/main" val="17142538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96779-7AC0-6910-9BC3-C7DFFE26D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6081D8-E2C6-7427-48A4-8B39AD80E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259D2-D4EA-910A-C6AA-2DEB669FBC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8FB17E-B611-D0CE-FE9B-EED9524662CB}"/>
              </a:ext>
            </a:extLst>
          </p:cNvPr>
          <p:cNvSpPr>
            <a:spLocks noGrp="1"/>
          </p:cNvSpPr>
          <p:nvPr>
            <p:ph type="sldNum" sz="quarter" idx="5"/>
          </p:nvPr>
        </p:nvSpPr>
        <p:spPr/>
        <p:txBody>
          <a:bodyPr/>
          <a:lstStyle/>
          <a:p>
            <a:fld id="{3A4E81F6-4C3C-2A4F-8633-33E49D293464}" type="slidenum">
              <a:rPr lang="en-US" smtClean="0"/>
              <a:t>10</a:t>
            </a:fld>
            <a:endParaRPr lang="en-US"/>
          </a:p>
        </p:txBody>
      </p:sp>
    </p:spTree>
    <p:extLst>
      <p:ext uri="{BB962C8B-B14F-4D97-AF65-F5344CB8AC3E}">
        <p14:creationId xmlns:p14="http://schemas.microsoft.com/office/powerpoint/2010/main" val="26594674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always check that the results make sense!</a:t>
            </a:r>
          </a:p>
          <a:p>
            <a:endParaRPr lang="en-US" dirty="0"/>
          </a:p>
          <a:p>
            <a:r>
              <a:rPr lang="en-US" dirty="0"/>
              <a:t>It is easy to believe that you or your favorite coding agents came up with a great piece of code, and I firmly believe that this is the case usually with this audience, but...</a:t>
            </a:r>
          </a:p>
          <a:p>
            <a:endParaRPr lang="en-US" dirty="0"/>
          </a:p>
          <a:p>
            <a:r>
              <a:rPr lang="en-US" dirty="0"/>
              <a:t>Always check your results! Does it make sense?</a:t>
            </a:r>
          </a:p>
        </p:txBody>
      </p:sp>
      <p:sp>
        <p:nvSpPr>
          <p:cNvPr id="4" name="Slide Number Placeholder 3"/>
          <p:cNvSpPr>
            <a:spLocks noGrp="1"/>
          </p:cNvSpPr>
          <p:nvPr>
            <p:ph type="sldNum" sz="quarter" idx="5"/>
          </p:nvPr>
        </p:nvSpPr>
        <p:spPr/>
        <p:txBody>
          <a:bodyPr/>
          <a:lstStyle/>
          <a:p>
            <a:fld id="{3A4E81F6-4C3C-2A4F-8633-33E49D293464}" type="slidenum">
              <a:rPr lang="en-US" smtClean="0"/>
              <a:t>11</a:t>
            </a:fld>
            <a:endParaRPr lang="en-US"/>
          </a:p>
        </p:txBody>
      </p:sp>
    </p:spTree>
    <p:extLst>
      <p:ext uri="{BB962C8B-B14F-4D97-AF65-F5344CB8AC3E}">
        <p14:creationId xmlns:p14="http://schemas.microsoft.com/office/powerpoint/2010/main" val="17327624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dig a bit deeper, because you can do more!</a:t>
            </a:r>
          </a:p>
          <a:p>
            <a:endParaRPr lang="en-US" dirty="0"/>
          </a:p>
          <a:p>
            <a:r>
              <a:rPr lang="en-US" dirty="0"/>
              <a:t>Let's take a look at this code. We are about to write a small GLM script with ordinary least squares estimation. The script itself is pretty straightforward and I'm not going to get into the method itself.</a:t>
            </a:r>
          </a:p>
          <a:p>
            <a:endParaRPr lang="en-US" dirty="0"/>
          </a:p>
          <a:p>
            <a:r>
              <a:rPr lang="en-US" dirty="0"/>
              <a:t>SHOW WITH POINTER: In this script we open a couple of files, one for the data and one for the GLM model. Then, we do the math. Finally, we save the output into another files.</a:t>
            </a:r>
          </a:p>
          <a:p>
            <a:endParaRPr lang="en-US" dirty="0"/>
          </a:p>
          <a:p>
            <a:r>
              <a:rPr lang="en-US" dirty="0"/>
              <a:t>What's the problem here? This piece of code is quite cumbersome to test. First, we would need to open two files. Then run the math and inspect the output from the newly created files.</a:t>
            </a:r>
          </a:p>
          <a:p>
            <a:endParaRPr lang="en-US" dirty="0"/>
          </a:p>
          <a:p>
            <a:r>
              <a:rPr lang="en-US" dirty="0"/>
              <a:t>Also, if we want to test it for more cases (which will be the case later) we would need to create several input files and investigate several output files...</a:t>
            </a:r>
          </a:p>
          <a:p>
            <a:endParaRPr lang="en-US" dirty="0"/>
          </a:p>
          <a:p>
            <a:r>
              <a:rPr lang="en-US" dirty="0"/>
              <a:t>What are we testing here? The file opening, the math or the file saving? Each of these could have its own errors. So what can we do?</a:t>
            </a:r>
          </a:p>
        </p:txBody>
      </p:sp>
      <p:sp>
        <p:nvSpPr>
          <p:cNvPr id="4" name="Slide Number Placeholder 3"/>
          <p:cNvSpPr>
            <a:spLocks noGrp="1"/>
          </p:cNvSpPr>
          <p:nvPr>
            <p:ph type="sldNum" sz="quarter" idx="5"/>
          </p:nvPr>
        </p:nvSpPr>
        <p:spPr/>
        <p:txBody>
          <a:bodyPr/>
          <a:lstStyle/>
          <a:p>
            <a:fld id="{3A4E81F6-4C3C-2A4F-8633-33E49D293464}" type="slidenum">
              <a:rPr lang="en-US" smtClean="0"/>
              <a:t>12</a:t>
            </a:fld>
            <a:endParaRPr lang="en-US"/>
          </a:p>
        </p:txBody>
      </p:sp>
    </p:spTree>
    <p:extLst>
      <p:ext uri="{BB962C8B-B14F-4D97-AF65-F5344CB8AC3E}">
        <p14:creationId xmlns:p14="http://schemas.microsoft.com/office/powerpoint/2010/main" val="2843924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Refactor your code into more manageable pieces. This is a general software engineering process, or really, a basic, 101 programming principle. When you use a piece of code multiple times in your program and it is more than 2-3 lines, write a function! It makes testing, debugging, managing and reusing the code much easier.</a:t>
            </a:r>
          </a:p>
          <a:p>
            <a:endParaRPr lang="en-US" dirty="0"/>
          </a:p>
          <a:p>
            <a:r>
              <a:rPr lang="en-US" dirty="0"/>
              <a:t>So, what we do here:</a:t>
            </a:r>
          </a:p>
          <a:p>
            <a:r>
              <a:rPr lang="en-US" dirty="0"/>
              <a:t>SHOW WITH POINTER: Elevate the core logic, in this case the GLM code, into a separate function with input arguments and proper return statements. The math itself is the same as before, but now inputs are given as arguments and results are returned to the caller.</a:t>
            </a:r>
          </a:p>
          <a:p>
            <a:endParaRPr lang="en-US" dirty="0"/>
          </a:p>
          <a:p>
            <a:r>
              <a:rPr lang="en-US" dirty="0"/>
              <a:t>SHOW WITH POINTER: Call this function wherever you need it and build to I/O logic (or any other boilerplate) around it. Here, we open file and save file as before.</a:t>
            </a:r>
          </a:p>
          <a:p>
            <a:endParaRPr lang="en-US" dirty="0"/>
          </a:p>
          <a:p>
            <a:r>
              <a:rPr lang="en-US" dirty="0"/>
              <a:t>Now, you can write two separate tests for both layers.</a:t>
            </a:r>
          </a:p>
          <a:p>
            <a:endParaRPr lang="en-US" dirty="0"/>
          </a:p>
        </p:txBody>
      </p:sp>
      <p:sp>
        <p:nvSpPr>
          <p:cNvPr id="4" name="Slide Number Placeholder 3"/>
          <p:cNvSpPr>
            <a:spLocks noGrp="1"/>
          </p:cNvSpPr>
          <p:nvPr>
            <p:ph type="sldNum" sz="quarter" idx="5"/>
          </p:nvPr>
        </p:nvSpPr>
        <p:spPr/>
        <p:txBody>
          <a:bodyPr/>
          <a:lstStyle/>
          <a:p>
            <a:fld id="{3A4E81F6-4C3C-2A4F-8633-33E49D293464}" type="slidenum">
              <a:rPr lang="en-US" smtClean="0"/>
              <a:t>13</a:t>
            </a:fld>
            <a:endParaRPr lang="en-US"/>
          </a:p>
        </p:txBody>
      </p:sp>
    </p:spTree>
    <p:extLst>
      <p:ext uri="{BB962C8B-B14F-4D97-AF65-F5344CB8AC3E}">
        <p14:creationId xmlns:p14="http://schemas.microsoft.com/office/powerpoint/2010/main" val="28322074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codes are in the tutorial! </a:t>
            </a:r>
          </a:p>
        </p:txBody>
      </p:sp>
      <p:sp>
        <p:nvSpPr>
          <p:cNvPr id="4" name="Slide Number Placeholder 3"/>
          <p:cNvSpPr>
            <a:spLocks noGrp="1"/>
          </p:cNvSpPr>
          <p:nvPr>
            <p:ph type="sldNum" sz="quarter" idx="5"/>
          </p:nvPr>
        </p:nvSpPr>
        <p:spPr/>
        <p:txBody>
          <a:bodyPr/>
          <a:lstStyle/>
          <a:p>
            <a:fld id="{3A4E81F6-4C3C-2A4F-8633-33E49D293464}" type="slidenum">
              <a:rPr lang="en-US" smtClean="0"/>
              <a:t>14</a:t>
            </a:fld>
            <a:endParaRPr lang="en-US"/>
          </a:p>
        </p:txBody>
      </p:sp>
    </p:spTree>
    <p:extLst>
      <p:ext uri="{BB962C8B-B14F-4D97-AF65-F5344CB8AC3E}">
        <p14:creationId xmlns:p14="http://schemas.microsoft.com/office/powerpoint/2010/main" val="35646653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key takeaways here are:</a:t>
            </a:r>
          </a:p>
          <a:p>
            <a:endParaRPr lang="en-US" dirty="0"/>
          </a:p>
          <a:p>
            <a:r>
              <a:rPr lang="en-US" dirty="0"/>
              <a:t>Write small functions that are doing one job. This is usually not trivial, and it usually comes from the method you are implementing. Try to reason why you need something to remain within one unit and if you can't, just elevate. </a:t>
            </a:r>
          </a:p>
          <a:p>
            <a:endParaRPr lang="en-US" dirty="0"/>
          </a:p>
          <a:p>
            <a:r>
              <a:rPr lang="en-US" dirty="0"/>
              <a:t>Few moving parts: if you cannot test it with one type of input, you probably need to think about it. Remember that initially we needed files, and some values, and then check the output files. </a:t>
            </a:r>
          </a:p>
          <a:p>
            <a:endParaRPr lang="en-US" dirty="0"/>
          </a:p>
          <a:p>
            <a:r>
              <a:rPr lang="en-US" dirty="0"/>
              <a:t>Self-contained: related, you only need on clear input to test.</a:t>
            </a:r>
          </a:p>
          <a:p>
            <a:endParaRPr lang="en-US" dirty="0"/>
          </a:p>
          <a:p>
            <a:r>
              <a:rPr lang="en-US" dirty="0"/>
              <a:t>No side-effects: we are not relying on file opening or saving, etc...</a:t>
            </a:r>
          </a:p>
          <a:p>
            <a:endParaRPr lang="en-US" dirty="0"/>
          </a:p>
          <a:p>
            <a:r>
              <a:rPr lang="en-US" dirty="0"/>
              <a:t>How to write a test?</a:t>
            </a:r>
          </a:p>
        </p:txBody>
      </p:sp>
      <p:sp>
        <p:nvSpPr>
          <p:cNvPr id="4" name="Slide Number Placeholder 3"/>
          <p:cNvSpPr>
            <a:spLocks noGrp="1"/>
          </p:cNvSpPr>
          <p:nvPr>
            <p:ph type="sldNum" sz="quarter" idx="5"/>
          </p:nvPr>
        </p:nvSpPr>
        <p:spPr/>
        <p:txBody>
          <a:bodyPr/>
          <a:lstStyle/>
          <a:p>
            <a:fld id="{3A4E81F6-4C3C-2A4F-8633-33E49D293464}" type="slidenum">
              <a:rPr lang="en-US" smtClean="0"/>
              <a:t>15</a:t>
            </a:fld>
            <a:endParaRPr lang="en-US"/>
          </a:p>
        </p:txBody>
      </p:sp>
    </p:spTree>
    <p:extLst>
      <p:ext uri="{BB962C8B-B14F-4D97-AF65-F5344CB8AC3E}">
        <p14:creationId xmlns:p14="http://schemas.microsoft.com/office/powerpoint/2010/main" val="2213701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a separate code that will test you code with actual inputs. Practically, you should prepare some input (data and model here) and calculate the results. </a:t>
            </a:r>
          </a:p>
          <a:p>
            <a:endParaRPr lang="en-US" dirty="0"/>
          </a:p>
          <a:p>
            <a:r>
              <a:rPr lang="en-US" dirty="0"/>
              <a:t>SHOW ALL WITH POINTER: </a:t>
            </a:r>
          </a:p>
          <a:p>
            <a:endParaRPr lang="en-US" dirty="0"/>
          </a:p>
          <a:p>
            <a:r>
              <a:rPr lang="en-US" dirty="0"/>
              <a:t>Here, we prepare a model for the GLM called </a:t>
            </a:r>
            <a:r>
              <a:rPr lang="en-US" dirty="0" err="1"/>
              <a:t>test_model</a:t>
            </a:r>
            <a:r>
              <a:rPr lang="en-US" dirty="0"/>
              <a:t> and a set of data called </a:t>
            </a:r>
            <a:r>
              <a:rPr lang="en-US" dirty="0" err="1"/>
              <a:t>test_data</a:t>
            </a:r>
            <a:r>
              <a:rPr lang="en-US" dirty="0"/>
              <a:t>. This can be arbitrary, but something that you know the results of.</a:t>
            </a:r>
          </a:p>
          <a:p>
            <a:endParaRPr lang="en-US" dirty="0"/>
          </a:p>
          <a:p>
            <a:r>
              <a:rPr lang="en-US" dirty="0"/>
              <a:t>Then, we write the test function, called </a:t>
            </a:r>
            <a:r>
              <a:rPr lang="en-US" dirty="0" err="1"/>
              <a:t>test_ols</a:t>
            </a:r>
            <a:r>
              <a:rPr lang="en-US" dirty="0"/>
              <a:t> here, and call the </a:t>
            </a:r>
            <a:r>
              <a:rPr lang="en-US" dirty="0" err="1"/>
              <a:t>ols</a:t>
            </a:r>
            <a:r>
              <a:rPr lang="en-US" dirty="0"/>
              <a:t> method itself for this test data and model.</a:t>
            </a:r>
          </a:p>
          <a:p>
            <a:endParaRPr lang="en-US" dirty="0"/>
          </a:p>
          <a:p>
            <a:r>
              <a:rPr lang="en-US" dirty="0"/>
              <a:t>Then we compare if the results of the function against the results we expect. Remember, these results are precomputed somewhere else, and it is certain that are correct.</a:t>
            </a:r>
          </a:p>
        </p:txBody>
      </p:sp>
      <p:sp>
        <p:nvSpPr>
          <p:cNvPr id="4" name="Slide Number Placeholder 3"/>
          <p:cNvSpPr>
            <a:spLocks noGrp="1"/>
          </p:cNvSpPr>
          <p:nvPr>
            <p:ph type="sldNum" sz="quarter" idx="5"/>
          </p:nvPr>
        </p:nvSpPr>
        <p:spPr/>
        <p:txBody>
          <a:bodyPr/>
          <a:lstStyle/>
          <a:p>
            <a:fld id="{3A4E81F6-4C3C-2A4F-8633-33E49D293464}" type="slidenum">
              <a:rPr lang="en-US" smtClean="0"/>
              <a:t>16</a:t>
            </a:fld>
            <a:endParaRPr lang="en-US"/>
          </a:p>
        </p:txBody>
      </p:sp>
    </p:spTree>
    <p:extLst>
      <p:ext uri="{BB962C8B-B14F-4D97-AF65-F5344CB8AC3E}">
        <p14:creationId xmlns:p14="http://schemas.microsoft.com/office/powerpoint/2010/main" val="1836210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for the </a:t>
            </a:r>
            <a:r>
              <a:rPr lang="en-US" dirty="0" err="1"/>
              <a:t>ols</a:t>
            </a:r>
            <a:r>
              <a:rPr lang="en-US" dirty="0"/>
              <a:t> function is a unit test where we check the function in isolation.</a:t>
            </a:r>
          </a:p>
          <a:p>
            <a:endParaRPr lang="en-US" dirty="0"/>
          </a:p>
          <a:p>
            <a:r>
              <a:rPr lang="en-US" dirty="0"/>
              <a:t>We can then write a test for the main function as well. This is called integration test where we can check the file I/O and others and whether the </a:t>
            </a:r>
            <a:r>
              <a:rPr lang="en-US" dirty="0" err="1"/>
              <a:t>ols</a:t>
            </a:r>
            <a:r>
              <a:rPr lang="en-US" dirty="0"/>
              <a:t> function integrates well into the whole flow.</a:t>
            </a:r>
          </a:p>
        </p:txBody>
      </p:sp>
      <p:sp>
        <p:nvSpPr>
          <p:cNvPr id="4" name="Slide Number Placeholder 3"/>
          <p:cNvSpPr>
            <a:spLocks noGrp="1"/>
          </p:cNvSpPr>
          <p:nvPr>
            <p:ph type="sldNum" sz="quarter" idx="5"/>
          </p:nvPr>
        </p:nvSpPr>
        <p:spPr/>
        <p:txBody>
          <a:bodyPr/>
          <a:lstStyle/>
          <a:p>
            <a:fld id="{3A4E81F6-4C3C-2A4F-8633-33E49D293464}" type="slidenum">
              <a:rPr lang="en-US" smtClean="0"/>
              <a:t>18</a:t>
            </a:fld>
            <a:endParaRPr lang="en-US"/>
          </a:p>
        </p:txBody>
      </p:sp>
    </p:spTree>
    <p:extLst>
      <p:ext uri="{BB962C8B-B14F-4D97-AF65-F5344CB8AC3E}">
        <p14:creationId xmlns:p14="http://schemas.microsoft.com/office/powerpoint/2010/main" val="19084748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run this tests? One common tool is </a:t>
            </a:r>
            <a:r>
              <a:rPr lang="en-US" dirty="0" err="1"/>
              <a:t>pytest</a:t>
            </a:r>
            <a:r>
              <a:rPr lang="en-US" dirty="0"/>
              <a:t>, which is a basic Python code testing tool. I should note that there are plenty of other tools to test Python code as well as other codes like Rust, C++, </a:t>
            </a:r>
            <a:r>
              <a:rPr lang="en-US" dirty="0" err="1"/>
              <a:t>Javascript</a:t>
            </a:r>
            <a:r>
              <a:rPr lang="en-US" dirty="0"/>
              <a:t>, etc. I provided some links in the tutorial.</a:t>
            </a:r>
          </a:p>
          <a:p>
            <a:endParaRPr lang="en-US" dirty="0"/>
          </a:p>
          <a:p>
            <a:r>
              <a:rPr lang="en-US" dirty="0"/>
              <a:t>What </a:t>
            </a:r>
            <a:r>
              <a:rPr lang="en-US" dirty="0" err="1"/>
              <a:t>Pytest</a:t>
            </a:r>
            <a:r>
              <a:rPr lang="en-US" dirty="0"/>
              <a:t> does is it discovers automatically all functions within the folder/project which name starts with TEST and runs them consistently. It can also run separately using the -k option.</a:t>
            </a:r>
          </a:p>
          <a:p>
            <a:endParaRPr lang="en-US" dirty="0"/>
          </a:p>
          <a:p>
            <a:r>
              <a:rPr lang="en-US" dirty="0"/>
              <a:t>SHOW WITH POINTER: what you can see here is the output of </a:t>
            </a:r>
            <a:r>
              <a:rPr lang="en-US" dirty="0" err="1"/>
              <a:t>pytest</a:t>
            </a:r>
            <a:r>
              <a:rPr lang="en-US" dirty="0"/>
              <a:t>. Just type </a:t>
            </a:r>
            <a:r>
              <a:rPr lang="en-US" dirty="0" err="1"/>
              <a:t>pytest</a:t>
            </a:r>
            <a:r>
              <a:rPr lang="en-US" dirty="0"/>
              <a:t> in your terminal. We run all tests here (</a:t>
            </a:r>
            <a:r>
              <a:rPr lang="en-US" dirty="0" err="1"/>
              <a:t>ols</a:t>
            </a:r>
            <a:r>
              <a:rPr lang="en-US" dirty="0"/>
              <a:t> and main) and as you can see, we pass both here. </a:t>
            </a:r>
          </a:p>
        </p:txBody>
      </p:sp>
      <p:sp>
        <p:nvSpPr>
          <p:cNvPr id="4" name="Slide Number Placeholder 3"/>
          <p:cNvSpPr>
            <a:spLocks noGrp="1"/>
          </p:cNvSpPr>
          <p:nvPr>
            <p:ph type="sldNum" sz="quarter" idx="5"/>
          </p:nvPr>
        </p:nvSpPr>
        <p:spPr/>
        <p:txBody>
          <a:bodyPr/>
          <a:lstStyle/>
          <a:p>
            <a:fld id="{3A4E81F6-4C3C-2A4F-8633-33E49D293464}" type="slidenum">
              <a:rPr lang="en-US" smtClean="0"/>
              <a:t>19</a:t>
            </a:fld>
            <a:endParaRPr lang="en-US"/>
          </a:p>
        </p:txBody>
      </p:sp>
    </p:spTree>
    <p:extLst>
      <p:ext uri="{BB962C8B-B14F-4D97-AF65-F5344CB8AC3E}">
        <p14:creationId xmlns:p14="http://schemas.microsoft.com/office/powerpoint/2010/main" val="18672291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useful tool is coverage, which tells you how much of your code is tested. You can use it to find gaps. Important that coverage won't tell you if your code is correct or not. Pair this with your tests and you will see both correctness and possible untested pieces of code.</a:t>
            </a:r>
          </a:p>
          <a:p>
            <a:endParaRPr lang="en-US" dirty="0"/>
          </a:p>
          <a:p>
            <a:r>
              <a:rPr lang="en-US" dirty="0"/>
              <a:t>SHOW WITH POINTER: what you can see here is the output of coverage. It show how much of this file is covered with tests, in this case the </a:t>
            </a:r>
            <a:r>
              <a:rPr lang="en-US" dirty="0" err="1"/>
              <a:t>main.py</a:t>
            </a:r>
            <a:r>
              <a:rPr lang="en-US" dirty="0"/>
              <a:t> contains both the I/O logic (main function) and the </a:t>
            </a:r>
            <a:r>
              <a:rPr lang="en-US" dirty="0" err="1"/>
              <a:t>ols</a:t>
            </a:r>
            <a:r>
              <a:rPr lang="en-US" dirty="0"/>
              <a:t> function.</a:t>
            </a:r>
          </a:p>
          <a:p>
            <a:endParaRPr lang="en-US" dirty="0"/>
          </a:p>
          <a:p>
            <a:r>
              <a:rPr lang="en-US" dirty="0"/>
              <a:t>You can also generate a report in html if you need one. But coverage has plenty of other options too.</a:t>
            </a:r>
          </a:p>
        </p:txBody>
      </p:sp>
      <p:sp>
        <p:nvSpPr>
          <p:cNvPr id="4" name="Slide Number Placeholder 3"/>
          <p:cNvSpPr>
            <a:spLocks noGrp="1"/>
          </p:cNvSpPr>
          <p:nvPr>
            <p:ph type="sldNum" sz="quarter" idx="5"/>
          </p:nvPr>
        </p:nvSpPr>
        <p:spPr/>
        <p:txBody>
          <a:bodyPr/>
          <a:lstStyle/>
          <a:p>
            <a:fld id="{3A4E81F6-4C3C-2A4F-8633-33E49D293464}" type="slidenum">
              <a:rPr lang="en-US" smtClean="0"/>
              <a:t>20</a:t>
            </a:fld>
            <a:endParaRPr lang="en-US"/>
          </a:p>
        </p:txBody>
      </p:sp>
    </p:spTree>
    <p:extLst>
      <p:ext uri="{BB962C8B-B14F-4D97-AF65-F5344CB8AC3E}">
        <p14:creationId xmlns:p14="http://schemas.microsoft.com/office/powerpoint/2010/main" val="17831230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have no control over the code you are about to test. What's going on here?</a:t>
            </a:r>
          </a:p>
          <a:p>
            <a:endParaRPr lang="en-US" dirty="0"/>
          </a:p>
          <a:p>
            <a:r>
              <a:rPr lang="en-US" dirty="0"/>
              <a:t>SHOW WITH POINTER: in this code we are trying to download some parameters from a remote location with this </a:t>
            </a:r>
            <a:r>
              <a:rPr lang="en-US" dirty="0" err="1"/>
              <a:t>load_parameters</a:t>
            </a:r>
            <a:r>
              <a:rPr lang="en-US" dirty="0"/>
              <a:t> function. The response is then split into pieces and returned to the caller where we do some calculations. </a:t>
            </a:r>
          </a:p>
          <a:p>
            <a:endParaRPr lang="en-US" dirty="0"/>
          </a:p>
          <a:p>
            <a:r>
              <a:rPr lang="en-US" dirty="0"/>
              <a:t>The problem here is that we have no control over the request. So what can we do?</a:t>
            </a:r>
          </a:p>
        </p:txBody>
      </p:sp>
      <p:sp>
        <p:nvSpPr>
          <p:cNvPr id="4" name="Slide Number Placeholder 3"/>
          <p:cNvSpPr>
            <a:spLocks noGrp="1"/>
          </p:cNvSpPr>
          <p:nvPr>
            <p:ph type="sldNum" sz="quarter" idx="5"/>
          </p:nvPr>
        </p:nvSpPr>
        <p:spPr/>
        <p:txBody>
          <a:bodyPr/>
          <a:lstStyle/>
          <a:p>
            <a:fld id="{3A4E81F6-4C3C-2A4F-8633-33E49D293464}" type="slidenum">
              <a:rPr lang="en-US" smtClean="0"/>
              <a:t>22</a:t>
            </a:fld>
            <a:endParaRPr lang="en-US"/>
          </a:p>
        </p:txBody>
      </p:sp>
    </p:spTree>
    <p:extLst>
      <p:ext uri="{BB962C8B-B14F-4D97-AF65-F5344CB8AC3E}">
        <p14:creationId xmlns:p14="http://schemas.microsoft.com/office/powerpoint/2010/main" val="10698138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mock the response by replacing the </a:t>
            </a:r>
            <a:r>
              <a:rPr lang="en-US" dirty="0" err="1"/>
              <a:t>load_parameters</a:t>
            </a:r>
            <a:r>
              <a:rPr lang="en-US" dirty="0"/>
              <a:t> function with known values. Luckily in Python there are facilities for this called mock patch.</a:t>
            </a:r>
          </a:p>
          <a:p>
            <a:endParaRPr lang="en-US" dirty="0"/>
          </a:p>
          <a:p>
            <a:r>
              <a:rPr lang="en-US" dirty="0"/>
              <a:t>SHOW WITH POINTER:</a:t>
            </a:r>
          </a:p>
          <a:p>
            <a:endParaRPr lang="en-US" dirty="0"/>
          </a:p>
          <a:p>
            <a:r>
              <a:rPr lang="en-US" dirty="0"/>
              <a:t>What we do here is telling the mock lib to essentially "replace" the </a:t>
            </a:r>
            <a:r>
              <a:rPr lang="en-US" dirty="0" err="1"/>
              <a:t>load_parameters</a:t>
            </a:r>
            <a:r>
              <a:rPr lang="en-US" dirty="0"/>
              <a:t> function with its expected return values. And then we can just test the expected results for correctness.</a:t>
            </a:r>
          </a:p>
          <a:p>
            <a:endParaRPr lang="en-US" dirty="0"/>
          </a:p>
          <a:p>
            <a:r>
              <a:rPr lang="en-US" dirty="0"/>
              <a:t>This is also called dependency injection, and this turns some unknown external state into known inputs.</a:t>
            </a:r>
          </a:p>
        </p:txBody>
      </p:sp>
      <p:sp>
        <p:nvSpPr>
          <p:cNvPr id="4" name="Slide Number Placeholder 3"/>
          <p:cNvSpPr>
            <a:spLocks noGrp="1"/>
          </p:cNvSpPr>
          <p:nvPr>
            <p:ph type="sldNum" sz="quarter" idx="5"/>
          </p:nvPr>
        </p:nvSpPr>
        <p:spPr/>
        <p:txBody>
          <a:bodyPr/>
          <a:lstStyle/>
          <a:p>
            <a:fld id="{3A4E81F6-4C3C-2A4F-8633-33E49D293464}" type="slidenum">
              <a:rPr lang="en-US" smtClean="0"/>
              <a:t>23</a:t>
            </a:fld>
            <a:endParaRPr lang="en-US"/>
          </a:p>
        </p:txBody>
      </p:sp>
    </p:spTree>
    <p:extLst>
      <p:ext uri="{BB962C8B-B14F-4D97-AF65-F5344CB8AC3E}">
        <p14:creationId xmlns:p14="http://schemas.microsoft.com/office/powerpoint/2010/main" val="22258980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important approach is to make your tests data driven. On the previous slide we wrote multiple test calls for the same thing. This approach however lets us run multiple tests without writing multiple pieces of code for the same thing. </a:t>
            </a:r>
          </a:p>
          <a:p>
            <a:endParaRPr lang="en-US" dirty="0"/>
          </a:p>
          <a:p>
            <a:r>
              <a:rPr lang="en-US" dirty="0"/>
              <a:t>SHOW WITH POINTER: as you can see here, we provide a list of test cases and expected results. The first element of this list is the data parameter for the function, the second is the expected response from the remote data source, the third is the expected result of the function itself. Be aware that here, we are now testing the </a:t>
            </a:r>
            <a:r>
              <a:rPr lang="en-US" dirty="0" err="1"/>
              <a:t>run_preprocessing</a:t>
            </a:r>
            <a:r>
              <a:rPr lang="en-US" dirty="0"/>
              <a:t> function, not the </a:t>
            </a:r>
            <a:r>
              <a:rPr lang="en-US" dirty="0" err="1"/>
              <a:t>load_parameters</a:t>
            </a:r>
            <a:r>
              <a:rPr lang="en-US" dirty="0"/>
              <a:t>. We only mock the </a:t>
            </a:r>
            <a:r>
              <a:rPr lang="en-US" dirty="0" err="1"/>
              <a:t>load_parameters</a:t>
            </a:r>
            <a:r>
              <a:rPr lang="en-US" dirty="0"/>
              <a:t> function.</a:t>
            </a:r>
          </a:p>
          <a:p>
            <a:endParaRPr lang="en-US" dirty="0"/>
          </a:p>
          <a:p>
            <a:r>
              <a:rPr lang="en-US" dirty="0"/>
              <a:t>In general, this is a very useful approach to write several test case for the same function/unit.</a:t>
            </a:r>
          </a:p>
        </p:txBody>
      </p:sp>
      <p:sp>
        <p:nvSpPr>
          <p:cNvPr id="4" name="Slide Number Placeholder 3"/>
          <p:cNvSpPr>
            <a:spLocks noGrp="1"/>
          </p:cNvSpPr>
          <p:nvPr>
            <p:ph type="sldNum" sz="quarter" idx="5"/>
          </p:nvPr>
        </p:nvSpPr>
        <p:spPr/>
        <p:txBody>
          <a:bodyPr/>
          <a:lstStyle/>
          <a:p>
            <a:fld id="{3A4E81F6-4C3C-2A4F-8633-33E49D293464}" type="slidenum">
              <a:rPr lang="en-US" smtClean="0"/>
              <a:t>24</a:t>
            </a:fld>
            <a:endParaRPr lang="en-US"/>
          </a:p>
        </p:txBody>
      </p:sp>
    </p:spTree>
    <p:extLst>
      <p:ext uri="{BB962C8B-B14F-4D97-AF65-F5344CB8AC3E}">
        <p14:creationId xmlns:p14="http://schemas.microsoft.com/office/powerpoint/2010/main" val="1708346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takeaways!</a:t>
            </a:r>
          </a:p>
          <a:p>
            <a:endParaRPr lang="en-US" dirty="0"/>
          </a:p>
          <a:p>
            <a:r>
              <a:rPr lang="en-US" dirty="0"/>
              <a:t>Always write test alongside your code. This essentially protects you to leave errors in your code. At least for some reasonable level.</a:t>
            </a:r>
          </a:p>
          <a:p>
            <a:endParaRPr lang="en-US" dirty="0"/>
          </a:p>
          <a:p>
            <a:r>
              <a:rPr lang="en-US" dirty="0"/>
              <a:t>Keep your tests fast. At some point, your program will grow and probably will have lots of tests to run. If one of your components needs more attention you can always choose to just test only that particular function. This makes testing individual components fast, but only if the function itself is small.</a:t>
            </a:r>
          </a:p>
          <a:p>
            <a:endParaRPr lang="en-US" dirty="0"/>
          </a:p>
          <a:p>
            <a:r>
              <a:rPr lang="en-US" dirty="0"/>
              <a:t>Always test individual functions and add a regression test for all bugfix. </a:t>
            </a:r>
          </a:p>
          <a:p>
            <a:endParaRPr lang="en-US" dirty="0"/>
          </a:p>
          <a:p>
            <a:r>
              <a:rPr lang="en-US" dirty="0"/>
              <a:t>If you want to release your code to some public repository add smoke tests. This essentially tests if the --help runs properly. This will protect you against silly mistakes, like missing imports or linking, etc.</a:t>
            </a:r>
          </a:p>
        </p:txBody>
      </p:sp>
      <p:sp>
        <p:nvSpPr>
          <p:cNvPr id="4" name="Slide Number Placeholder 3"/>
          <p:cNvSpPr>
            <a:spLocks noGrp="1"/>
          </p:cNvSpPr>
          <p:nvPr>
            <p:ph type="sldNum" sz="quarter" idx="5"/>
          </p:nvPr>
        </p:nvSpPr>
        <p:spPr/>
        <p:txBody>
          <a:bodyPr/>
          <a:lstStyle/>
          <a:p>
            <a:fld id="{3A4E81F6-4C3C-2A4F-8633-33E49D293464}" type="slidenum">
              <a:rPr lang="en-US" smtClean="0"/>
              <a:t>25</a:t>
            </a:fld>
            <a:endParaRPr lang="en-US"/>
          </a:p>
        </p:txBody>
      </p:sp>
    </p:spTree>
    <p:extLst>
      <p:ext uri="{BB962C8B-B14F-4D97-AF65-F5344CB8AC3E}">
        <p14:creationId xmlns:p14="http://schemas.microsoft.com/office/powerpoint/2010/main" val="36468264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automate this?</a:t>
            </a:r>
          </a:p>
          <a:p>
            <a:endParaRPr lang="en-US" dirty="0"/>
          </a:p>
          <a:p>
            <a:r>
              <a:rPr lang="en-US" dirty="0"/>
              <a:t>All of these steps are in the tutorial provided in the repository.</a:t>
            </a:r>
          </a:p>
          <a:p>
            <a:endParaRPr lang="en-US" dirty="0"/>
          </a:p>
          <a:p>
            <a:r>
              <a:rPr lang="en-US" dirty="0"/>
              <a:t>First, install a Python environment with the required tools, </a:t>
            </a:r>
            <a:r>
              <a:rPr lang="en-US" dirty="0" err="1"/>
              <a:t>pytest</a:t>
            </a:r>
            <a:r>
              <a:rPr lang="en-US" dirty="0"/>
              <a:t>, coverage, and </a:t>
            </a:r>
            <a:r>
              <a:rPr lang="en-US" dirty="0" err="1"/>
              <a:t>uv</a:t>
            </a:r>
            <a:r>
              <a:rPr lang="en-US" dirty="0"/>
              <a:t>.</a:t>
            </a:r>
          </a:p>
          <a:p>
            <a:endParaRPr lang="en-US" dirty="0"/>
          </a:p>
          <a:p>
            <a:r>
              <a:rPr lang="en-US" dirty="0"/>
              <a:t>UV is a package and project manager tool for Python. It makes installing dependencies and environments easier, faster and more manageable.</a:t>
            </a:r>
          </a:p>
          <a:p>
            <a:endParaRPr lang="en-US" dirty="0"/>
          </a:p>
          <a:p>
            <a:r>
              <a:rPr lang="en-US" dirty="0"/>
              <a:t>Optionally create a fork from my </a:t>
            </a:r>
            <a:r>
              <a:rPr lang="en-US" dirty="0" err="1"/>
              <a:t>my_ols</a:t>
            </a:r>
            <a:r>
              <a:rPr lang="en-US" dirty="0"/>
              <a:t> repository, but you can just clone and upload to yours later.</a:t>
            </a:r>
          </a:p>
          <a:p>
            <a:endParaRPr lang="en-US" dirty="0"/>
          </a:p>
          <a:p>
            <a:r>
              <a:rPr lang="en-US" dirty="0"/>
              <a:t>Install dependencies with this command and run these commands.</a:t>
            </a:r>
          </a:p>
          <a:p>
            <a:endParaRPr lang="en-US" dirty="0"/>
          </a:p>
          <a:p>
            <a:r>
              <a:rPr lang="en-US" dirty="0"/>
              <a:t>Detailed instructions in the tutorial.</a:t>
            </a:r>
          </a:p>
        </p:txBody>
      </p:sp>
      <p:sp>
        <p:nvSpPr>
          <p:cNvPr id="4" name="Slide Number Placeholder 3"/>
          <p:cNvSpPr>
            <a:spLocks noGrp="1"/>
          </p:cNvSpPr>
          <p:nvPr>
            <p:ph type="sldNum" sz="quarter" idx="5"/>
          </p:nvPr>
        </p:nvSpPr>
        <p:spPr/>
        <p:txBody>
          <a:bodyPr/>
          <a:lstStyle/>
          <a:p>
            <a:fld id="{3A4E81F6-4C3C-2A4F-8633-33E49D293464}" type="slidenum">
              <a:rPr lang="en-US" smtClean="0"/>
              <a:t>26</a:t>
            </a:fld>
            <a:endParaRPr lang="en-US"/>
          </a:p>
        </p:txBody>
      </p:sp>
    </p:spTree>
    <p:extLst>
      <p:ext uri="{BB962C8B-B14F-4D97-AF65-F5344CB8AC3E}">
        <p14:creationId xmlns:p14="http://schemas.microsoft.com/office/powerpoint/2010/main" val="29828677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automate the whole thing. The steps are roughly the following:</a:t>
            </a:r>
          </a:p>
          <a:p>
            <a:endParaRPr lang="en-US" dirty="0"/>
          </a:p>
          <a:p>
            <a:r>
              <a:rPr lang="en-US" dirty="0"/>
              <a:t>You commit and push some changes into your repository. We define this for the main branch for simplicity, but usually we test in earlier phases to make sure that we won't break the main branch.</a:t>
            </a:r>
          </a:p>
          <a:p>
            <a:endParaRPr lang="en-US" dirty="0"/>
          </a:p>
          <a:p>
            <a:r>
              <a:rPr lang="en-US" dirty="0"/>
              <a:t>This will trigger the GitHub Actions CI infrastructure. It will run somewhere in the cloud, but we can define this to run on our in-house servers, PCs too. It is especially useful if you want to test for some sensitive data.</a:t>
            </a:r>
          </a:p>
          <a:p>
            <a:endParaRPr lang="en-US" dirty="0"/>
          </a:p>
          <a:p>
            <a:r>
              <a:rPr lang="en-US" dirty="0"/>
              <a:t>The scripts will run the tests and all other bits that we define.</a:t>
            </a:r>
          </a:p>
          <a:p>
            <a:endParaRPr lang="en-US" dirty="0"/>
          </a:p>
          <a:p>
            <a:r>
              <a:rPr lang="en-US" dirty="0"/>
              <a:t>Note that GitHub Action is GitHub's built-in infra for this. There are several other CI/CD platform that you can use, I mentioned a few in the tutorial.</a:t>
            </a:r>
          </a:p>
        </p:txBody>
      </p:sp>
      <p:sp>
        <p:nvSpPr>
          <p:cNvPr id="4" name="Slide Number Placeholder 3"/>
          <p:cNvSpPr>
            <a:spLocks noGrp="1"/>
          </p:cNvSpPr>
          <p:nvPr>
            <p:ph type="sldNum" sz="quarter" idx="5"/>
          </p:nvPr>
        </p:nvSpPr>
        <p:spPr/>
        <p:txBody>
          <a:bodyPr/>
          <a:lstStyle/>
          <a:p>
            <a:fld id="{3A4E81F6-4C3C-2A4F-8633-33E49D293464}" type="slidenum">
              <a:rPr lang="en-US" smtClean="0"/>
              <a:t>27</a:t>
            </a:fld>
            <a:endParaRPr lang="en-US"/>
          </a:p>
        </p:txBody>
      </p:sp>
    </p:spTree>
    <p:extLst>
      <p:ext uri="{BB962C8B-B14F-4D97-AF65-F5344CB8AC3E}">
        <p14:creationId xmlns:p14="http://schemas.microsoft.com/office/powerpoint/2010/main" val="15467153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create a GitHub Actions workflow.</a:t>
            </a:r>
          </a:p>
          <a:p>
            <a:endParaRPr lang="en-US" dirty="0"/>
          </a:p>
          <a:p>
            <a:r>
              <a:rPr lang="en-US" dirty="0"/>
              <a:t>First, we need to define when to run. In this case pushing into the main branch will trigger the CI infrastructure to run this script.</a:t>
            </a:r>
          </a:p>
        </p:txBody>
      </p:sp>
      <p:sp>
        <p:nvSpPr>
          <p:cNvPr id="4" name="Slide Number Placeholder 3"/>
          <p:cNvSpPr>
            <a:spLocks noGrp="1"/>
          </p:cNvSpPr>
          <p:nvPr>
            <p:ph type="sldNum" sz="quarter" idx="5"/>
          </p:nvPr>
        </p:nvSpPr>
        <p:spPr/>
        <p:txBody>
          <a:bodyPr/>
          <a:lstStyle/>
          <a:p>
            <a:fld id="{3A4E81F6-4C3C-2A4F-8633-33E49D293464}" type="slidenum">
              <a:rPr lang="en-US" smtClean="0"/>
              <a:t>28</a:t>
            </a:fld>
            <a:endParaRPr lang="en-US"/>
          </a:p>
        </p:txBody>
      </p:sp>
    </p:spTree>
    <p:extLst>
      <p:ext uri="{BB962C8B-B14F-4D97-AF65-F5344CB8AC3E}">
        <p14:creationId xmlns:p14="http://schemas.microsoft.com/office/powerpoint/2010/main" val="2988425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p:txBody>
      </p:sp>
      <p:sp>
        <p:nvSpPr>
          <p:cNvPr id="4" name="Slide Number Placeholder 3"/>
          <p:cNvSpPr>
            <a:spLocks noGrp="1"/>
          </p:cNvSpPr>
          <p:nvPr>
            <p:ph type="sldNum" sz="quarter" idx="5"/>
          </p:nvPr>
        </p:nvSpPr>
        <p:spPr/>
        <p:txBody>
          <a:bodyPr/>
          <a:lstStyle/>
          <a:p>
            <a:fld id="{3A4E81F6-4C3C-2A4F-8633-33E49D293464}" type="slidenum">
              <a:rPr lang="en-US" smtClean="0"/>
              <a:t>29</a:t>
            </a:fld>
            <a:endParaRPr lang="en-US"/>
          </a:p>
        </p:txBody>
      </p:sp>
    </p:spTree>
    <p:extLst>
      <p:ext uri="{BB962C8B-B14F-4D97-AF65-F5344CB8AC3E}">
        <p14:creationId xmlns:p14="http://schemas.microsoft.com/office/powerpoint/2010/main" val="22549204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F24AD-EC47-3989-2B8A-9B4EE275D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704032-18CA-11F5-9F9B-76C4005900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83722-4728-D928-75B6-1C8AB286592E}"/>
              </a:ext>
            </a:extLst>
          </p:cNvPr>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a:p>
            <a:r>
              <a:rPr lang="en-US" dirty="0"/>
              <a:t>What are the steps?</a:t>
            </a:r>
          </a:p>
          <a:p>
            <a:endParaRPr lang="en-US" dirty="0"/>
          </a:p>
        </p:txBody>
      </p:sp>
      <p:sp>
        <p:nvSpPr>
          <p:cNvPr id="4" name="Slide Number Placeholder 3">
            <a:extLst>
              <a:ext uri="{FF2B5EF4-FFF2-40B4-BE49-F238E27FC236}">
                <a16:creationId xmlns:a16="http://schemas.microsoft.com/office/drawing/2014/main" id="{114772E4-FDB9-335B-042A-769D1BCE1491}"/>
              </a:ext>
            </a:extLst>
          </p:cNvPr>
          <p:cNvSpPr>
            <a:spLocks noGrp="1"/>
          </p:cNvSpPr>
          <p:nvPr>
            <p:ph type="sldNum" sz="quarter" idx="5"/>
          </p:nvPr>
        </p:nvSpPr>
        <p:spPr/>
        <p:txBody>
          <a:bodyPr/>
          <a:lstStyle/>
          <a:p>
            <a:fld id="{3A4E81F6-4C3C-2A4F-8633-33E49D293464}" type="slidenum">
              <a:rPr lang="en-US" smtClean="0"/>
              <a:t>30</a:t>
            </a:fld>
            <a:endParaRPr lang="en-US"/>
          </a:p>
        </p:txBody>
      </p:sp>
    </p:spTree>
    <p:extLst>
      <p:ext uri="{BB962C8B-B14F-4D97-AF65-F5344CB8AC3E}">
        <p14:creationId xmlns:p14="http://schemas.microsoft.com/office/powerpoint/2010/main" val="38052588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06681-10B7-8217-A215-E3160AE4FC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07EDA-6763-94C2-1FFE-96426A87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2EDE49-619F-05B0-A75D-6120170E1134}"/>
              </a:ext>
            </a:extLst>
          </p:cNvPr>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a:p>
            <a:r>
              <a:rPr lang="en-US" dirty="0"/>
              <a:t>What are the steps?</a:t>
            </a:r>
          </a:p>
          <a:p>
            <a:r>
              <a:rPr lang="en-US" dirty="0"/>
              <a:t>1. Check out the repository (</a:t>
            </a:r>
            <a:r>
              <a:rPr lang="en-US" dirty="0" err="1"/>
              <a:t>ie</a:t>
            </a:r>
            <a:r>
              <a:rPr lang="en-US" dirty="0"/>
              <a:t> clone to VM or local infra)</a:t>
            </a:r>
          </a:p>
          <a:p>
            <a:endParaRPr lang="en-US" dirty="0"/>
          </a:p>
        </p:txBody>
      </p:sp>
      <p:sp>
        <p:nvSpPr>
          <p:cNvPr id="4" name="Slide Number Placeholder 3">
            <a:extLst>
              <a:ext uri="{FF2B5EF4-FFF2-40B4-BE49-F238E27FC236}">
                <a16:creationId xmlns:a16="http://schemas.microsoft.com/office/drawing/2014/main" id="{1649F884-8CF2-E4D9-817B-000C506A60A5}"/>
              </a:ext>
            </a:extLst>
          </p:cNvPr>
          <p:cNvSpPr>
            <a:spLocks noGrp="1"/>
          </p:cNvSpPr>
          <p:nvPr>
            <p:ph type="sldNum" sz="quarter" idx="5"/>
          </p:nvPr>
        </p:nvSpPr>
        <p:spPr/>
        <p:txBody>
          <a:bodyPr/>
          <a:lstStyle/>
          <a:p>
            <a:fld id="{3A4E81F6-4C3C-2A4F-8633-33E49D293464}" type="slidenum">
              <a:rPr lang="en-US" smtClean="0"/>
              <a:t>31</a:t>
            </a:fld>
            <a:endParaRPr lang="en-US"/>
          </a:p>
        </p:txBody>
      </p:sp>
    </p:spTree>
    <p:extLst>
      <p:ext uri="{BB962C8B-B14F-4D97-AF65-F5344CB8AC3E}">
        <p14:creationId xmlns:p14="http://schemas.microsoft.com/office/powerpoint/2010/main" val="31615393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8B72B-F3D0-68AA-6D5E-C808FE43D8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068E9-4692-397C-13CE-DCD08AEED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BADA4F-5C96-068F-95F0-4928948F1D47}"/>
              </a:ext>
            </a:extLst>
          </p:cNvPr>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a:p>
            <a:r>
              <a:rPr lang="en-US" dirty="0"/>
              <a:t>What are the steps?</a:t>
            </a:r>
          </a:p>
          <a:p>
            <a:r>
              <a:rPr lang="en-US" dirty="0"/>
              <a:t>1. Check out the repository (</a:t>
            </a:r>
            <a:r>
              <a:rPr lang="en-US" dirty="0" err="1"/>
              <a:t>ie</a:t>
            </a:r>
            <a:r>
              <a:rPr lang="en-US" dirty="0"/>
              <a:t> clone)</a:t>
            </a:r>
          </a:p>
          <a:p>
            <a:r>
              <a:rPr lang="en-US" dirty="0"/>
              <a:t>2. Set up the environment, in this case a Python 3.14 env</a:t>
            </a:r>
          </a:p>
          <a:p>
            <a:endParaRPr lang="en-US" dirty="0"/>
          </a:p>
        </p:txBody>
      </p:sp>
      <p:sp>
        <p:nvSpPr>
          <p:cNvPr id="4" name="Slide Number Placeholder 3">
            <a:extLst>
              <a:ext uri="{FF2B5EF4-FFF2-40B4-BE49-F238E27FC236}">
                <a16:creationId xmlns:a16="http://schemas.microsoft.com/office/drawing/2014/main" id="{2B4A2FB5-79CA-6C6D-9EA4-6481F6EF726B}"/>
              </a:ext>
            </a:extLst>
          </p:cNvPr>
          <p:cNvSpPr>
            <a:spLocks noGrp="1"/>
          </p:cNvSpPr>
          <p:nvPr>
            <p:ph type="sldNum" sz="quarter" idx="5"/>
          </p:nvPr>
        </p:nvSpPr>
        <p:spPr/>
        <p:txBody>
          <a:bodyPr/>
          <a:lstStyle/>
          <a:p>
            <a:fld id="{3A4E81F6-4C3C-2A4F-8633-33E49D293464}" type="slidenum">
              <a:rPr lang="en-US" smtClean="0"/>
              <a:t>32</a:t>
            </a:fld>
            <a:endParaRPr lang="en-US"/>
          </a:p>
        </p:txBody>
      </p:sp>
    </p:spTree>
    <p:extLst>
      <p:ext uri="{BB962C8B-B14F-4D97-AF65-F5344CB8AC3E}">
        <p14:creationId xmlns:p14="http://schemas.microsoft.com/office/powerpoint/2010/main" val="5443596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BAAD2-C075-C8D8-3001-FDA0874D6B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72022-382F-E19B-12F9-FE3CB81F1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CD83AA-2637-A4EE-EAFE-7E47FD81F4AF}"/>
              </a:ext>
            </a:extLst>
          </p:cNvPr>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a:p>
            <a:r>
              <a:rPr lang="en-US" dirty="0"/>
              <a:t>What are the steps?</a:t>
            </a:r>
          </a:p>
          <a:p>
            <a:r>
              <a:rPr lang="en-US" dirty="0"/>
              <a:t>1. Check out the repository (</a:t>
            </a:r>
            <a:r>
              <a:rPr lang="en-US" dirty="0" err="1"/>
              <a:t>ie</a:t>
            </a:r>
            <a:r>
              <a:rPr lang="en-US" dirty="0"/>
              <a:t> clone)</a:t>
            </a:r>
          </a:p>
          <a:p>
            <a:r>
              <a:rPr lang="en-US" dirty="0"/>
              <a:t>2. Set up the environment, in this case a Python 3.14 env</a:t>
            </a:r>
          </a:p>
          <a:p>
            <a:r>
              <a:rPr lang="en-US" dirty="0"/>
              <a:t>3. Build and install dependencies, </a:t>
            </a:r>
            <a:r>
              <a:rPr lang="en-US" dirty="0" err="1"/>
              <a:t>ie</a:t>
            </a:r>
            <a:r>
              <a:rPr lang="en-US" dirty="0"/>
              <a:t> our codes imports, </a:t>
            </a:r>
            <a:r>
              <a:rPr lang="en-US" dirty="0" err="1"/>
              <a:t>etc</a:t>
            </a:r>
            <a:endParaRPr lang="en-US" dirty="0"/>
          </a:p>
        </p:txBody>
      </p:sp>
      <p:sp>
        <p:nvSpPr>
          <p:cNvPr id="4" name="Slide Number Placeholder 3">
            <a:extLst>
              <a:ext uri="{FF2B5EF4-FFF2-40B4-BE49-F238E27FC236}">
                <a16:creationId xmlns:a16="http://schemas.microsoft.com/office/drawing/2014/main" id="{F47F5EE9-3461-2315-3C96-C46210EA8322}"/>
              </a:ext>
            </a:extLst>
          </p:cNvPr>
          <p:cNvSpPr>
            <a:spLocks noGrp="1"/>
          </p:cNvSpPr>
          <p:nvPr>
            <p:ph type="sldNum" sz="quarter" idx="5"/>
          </p:nvPr>
        </p:nvSpPr>
        <p:spPr/>
        <p:txBody>
          <a:bodyPr/>
          <a:lstStyle/>
          <a:p>
            <a:fld id="{3A4E81F6-4C3C-2A4F-8633-33E49D293464}" type="slidenum">
              <a:rPr lang="en-US" smtClean="0"/>
              <a:t>33</a:t>
            </a:fld>
            <a:endParaRPr lang="en-US"/>
          </a:p>
        </p:txBody>
      </p:sp>
    </p:spTree>
    <p:extLst>
      <p:ext uri="{BB962C8B-B14F-4D97-AF65-F5344CB8AC3E}">
        <p14:creationId xmlns:p14="http://schemas.microsoft.com/office/powerpoint/2010/main" val="15495160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530A7-8029-B2A5-2D45-28C85EFF6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E192C-5356-9C87-AC41-3E1B91286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7E1AB5-EB49-2A75-118D-C322415F9D14}"/>
              </a:ext>
            </a:extLst>
          </p:cNvPr>
          <p:cNvSpPr>
            <a:spLocks noGrp="1"/>
          </p:cNvSpPr>
          <p:nvPr>
            <p:ph type="body" idx="1"/>
          </p:nvPr>
        </p:nvSpPr>
        <p:spPr/>
        <p:txBody>
          <a:bodyPr/>
          <a:lstStyle/>
          <a:p>
            <a:r>
              <a:rPr lang="en-US" dirty="0"/>
              <a:t>And the script itself is:</a:t>
            </a:r>
          </a:p>
          <a:p>
            <a:endParaRPr lang="en-US" dirty="0"/>
          </a:p>
          <a:p>
            <a:r>
              <a:rPr lang="en-US" dirty="0"/>
              <a:t>SHOW WITH POINTER:</a:t>
            </a:r>
          </a:p>
          <a:p>
            <a:endParaRPr lang="en-US" dirty="0"/>
          </a:p>
          <a:p>
            <a:r>
              <a:rPr lang="en-US" dirty="0"/>
              <a:t>Create a job called test which will run on a latest ubuntu server.</a:t>
            </a:r>
          </a:p>
          <a:p>
            <a:endParaRPr lang="en-US" dirty="0"/>
          </a:p>
          <a:p>
            <a:r>
              <a:rPr lang="en-US" dirty="0"/>
              <a:t>What are the steps?</a:t>
            </a:r>
          </a:p>
          <a:p>
            <a:r>
              <a:rPr lang="en-US" dirty="0"/>
              <a:t>1. Check out the repository (</a:t>
            </a:r>
            <a:r>
              <a:rPr lang="en-US" dirty="0" err="1"/>
              <a:t>ie</a:t>
            </a:r>
            <a:r>
              <a:rPr lang="en-US" dirty="0"/>
              <a:t> clone)</a:t>
            </a:r>
          </a:p>
          <a:p>
            <a:r>
              <a:rPr lang="en-US" dirty="0"/>
              <a:t>2. Set up the environment, in this case a Python 3.14 env</a:t>
            </a:r>
          </a:p>
          <a:p>
            <a:r>
              <a:rPr lang="en-US" dirty="0"/>
              <a:t>3. Build and install dependencies, </a:t>
            </a:r>
            <a:r>
              <a:rPr lang="en-US" dirty="0" err="1"/>
              <a:t>ie</a:t>
            </a:r>
            <a:r>
              <a:rPr lang="en-US" dirty="0"/>
              <a:t> our codes imports, </a:t>
            </a:r>
            <a:r>
              <a:rPr lang="en-US" dirty="0" err="1"/>
              <a:t>etc</a:t>
            </a:r>
            <a:endParaRPr lang="en-US" dirty="0"/>
          </a:p>
          <a:p>
            <a:r>
              <a:rPr lang="en-US" dirty="0"/>
              <a:t>4. Run the tests</a:t>
            </a:r>
          </a:p>
          <a:p>
            <a:endParaRPr lang="en-US" dirty="0"/>
          </a:p>
          <a:p>
            <a:r>
              <a:rPr lang="en-US" dirty="0"/>
              <a:t>And now we have a fully functioning automation for GitHub Actions. You just need to include it into your repository. See the details in the tutorial.</a:t>
            </a:r>
          </a:p>
          <a:p>
            <a:endParaRPr lang="en-US" dirty="0"/>
          </a:p>
          <a:p>
            <a:r>
              <a:rPr lang="en-US" dirty="0"/>
              <a:t>What happens next? How does it look like?</a:t>
            </a:r>
          </a:p>
        </p:txBody>
      </p:sp>
      <p:sp>
        <p:nvSpPr>
          <p:cNvPr id="4" name="Slide Number Placeholder 3">
            <a:extLst>
              <a:ext uri="{FF2B5EF4-FFF2-40B4-BE49-F238E27FC236}">
                <a16:creationId xmlns:a16="http://schemas.microsoft.com/office/drawing/2014/main" id="{E2013634-FE09-02EE-4549-F8D7971D2530}"/>
              </a:ext>
            </a:extLst>
          </p:cNvPr>
          <p:cNvSpPr>
            <a:spLocks noGrp="1"/>
          </p:cNvSpPr>
          <p:nvPr>
            <p:ph type="sldNum" sz="quarter" idx="5"/>
          </p:nvPr>
        </p:nvSpPr>
        <p:spPr/>
        <p:txBody>
          <a:bodyPr/>
          <a:lstStyle/>
          <a:p>
            <a:fld id="{3A4E81F6-4C3C-2A4F-8633-33E49D293464}" type="slidenum">
              <a:rPr lang="en-US" smtClean="0"/>
              <a:t>34</a:t>
            </a:fld>
            <a:endParaRPr lang="en-US"/>
          </a:p>
        </p:txBody>
      </p:sp>
    </p:spTree>
    <p:extLst>
      <p:ext uri="{BB962C8B-B14F-4D97-AF65-F5344CB8AC3E}">
        <p14:creationId xmlns:p14="http://schemas.microsoft.com/office/powerpoint/2010/main" val="4213008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832A-BC59-B868-0AD4-00C3AFFD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E300D-AC06-ED69-825E-E515DFA2E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BF4CBE-C8AA-0602-A602-C8D57A248EE2}"/>
              </a:ext>
            </a:extLst>
          </p:cNvPr>
          <p:cNvSpPr>
            <a:spLocks noGrp="1"/>
          </p:cNvSpPr>
          <p:nvPr>
            <p:ph type="body" idx="1"/>
          </p:nvPr>
        </p:nvSpPr>
        <p:spPr/>
        <p:txBody>
          <a:bodyPr/>
          <a:lstStyle/>
          <a:p>
            <a:r>
              <a:rPr lang="en-US" dirty="0"/>
              <a:t>Here you can see a few test runs for this repository. You can see the name of the commit, the script that run, the branch and some other information. You can check this for yourself following the QR code and clicking "Actions".</a:t>
            </a:r>
          </a:p>
        </p:txBody>
      </p:sp>
      <p:sp>
        <p:nvSpPr>
          <p:cNvPr id="4" name="Slide Number Placeholder 3">
            <a:extLst>
              <a:ext uri="{FF2B5EF4-FFF2-40B4-BE49-F238E27FC236}">
                <a16:creationId xmlns:a16="http://schemas.microsoft.com/office/drawing/2014/main" id="{D2809673-FEDB-9D6A-0DB9-6B654178579D}"/>
              </a:ext>
            </a:extLst>
          </p:cNvPr>
          <p:cNvSpPr>
            <a:spLocks noGrp="1"/>
          </p:cNvSpPr>
          <p:nvPr>
            <p:ph type="sldNum" sz="quarter" idx="5"/>
          </p:nvPr>
        </p:nvSpPr>
        <p:spPr/>
        <p:txBody>
          <a:bodyPr/>
          <a:lstStyle/>
          <a:p>
            <a:fld id="{3A4E81F6-4C3C-2A4F-8633-33E49D293464}" type="slidenum">
              <a:rPr lang="en-US" smtClean="0"/>
              <a:t>35</a:t>
            </a:fld>
            <a:endParaRPr lang="en-US"/>
          </a:p>
        </p:txBody>
      </p:sp>
    </p:spTree>
    <p:extLst>
      <p:ext uri="{BB962C8B-B14F-4D97-AF65-F5344CB8AC3E}">
        <p14:creationId xmlns:p14="http://schemas.microsoft.com/office/powerpoint/2010/main" val="6693423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70537-F8E6-E03F-F87F-3A00379B77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A77E6-E3F2-EF33-489C-AAE99D1A0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11C56C-DC28-9A87-4D42-B9F619B19FE2}"/>
              </a:ext>
            </a:extLst>
          </p:cNvPr>
          <p:cNvSpPr>
            <a:spLocks noGrp="1"/>
          </p:cNvSpPr>
          <p:nvPr>
            <p:ph type="body" idx="1"/>
          </p:nvPr>
        </p:nvSpPr>
        <p:spPr/>
        <p:txBody>
          <a:bodyPr/>
          <a:lstStyle/>
          <a:p>
            <a:r>
              <a:rPr lang="en-US" dirty="0"/>
              <a:t>If we open one run, you can see the steps we defined, the checkout, the environment setup, the installation, etc.</a:t>
            </a:r>
          </a:p>
        </p:txBody>
      </p:sp>
      <p:sp>
        <p:nvSpPr>
          <p:cNvPr id="4" name="Slide Number Placeholder 3">
            <a:extLst>
              <a:ext uri="{FF2B5EF4-FFF2-40B4-BE49-F238E27FC236}">
                <a16:creationId xmlns:a16="http://schemas.microsoft.com/office/drawing/2014/main" id="{EE928B4C-AE01-A229-1411-F545EE9B1098}"/>
              </a:ext>
            </a:extLst>
          </p:cNvPr>
          <p:cNvSpPr>
            <a:spLocks noGrp="1"/>
          </p:cNvSpPr>
          <p:nvPr>
            <p:ph type="sldNum" sz="quarter" idx="5"/>
          </p:nvPr>
        </p:nvSpPr>
        <p:spPr/>
        <p:txBody>
          <a:bodyPr/>
          <a:lstStyle/>
          <a:p>
            <a:fld id="{3A4E81F6-4C3C-2A4F-8633-33E49D293464}" type="slidenum">
              <a:rPr lang="en-US" smtClean="0"/>
              <a:t>36</a:t>
            </a:fld>
            <a:endParaRPr lang="en-US"/>
          </a:p>
        </p:txBody>
      </p:sp>
    </p:spTree>
    <p:extLst>
      <p:ext uri="{BB962C8B-B14F-4D97-AF65-F5344CB8AC3E}">
        <p14:creationId xmlns:p14="http://schemas.microsoft.com/office/powerpoint/2010/main" val="38140880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31D4F-F245-08BD-719C-C81B506A8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C8D92C-E65C-6B5A-C1F4-C4C422AE1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9E43E-58BE-3BF6-978D-2919D094778F}"/>
              </a:ext>
            </a:extLst>
          </p:cNvPr>
          <p:cNvSpPr>
            <a:spLocks noGrp="1"/>
          </p:cNvSpPr>
          <p:nvPr>
            <p:ph type="body" idx="1"/>
          </p:nvPr>
        </p:nvSpPr>
        <p:spPr/>
        <p:txBody>
          <a:bodyPr/>
          <a:lstStyle/>
          <a:p>
            <a:r>
              <a:rPr lang="en-US" dirty="0"/>
              <a:t>If we open the tests step, you can see the output of </a:t>
            </a:r>
            <a:r>
              <a:rPr lang="en-US" dirty="0" err="1"/>
              <a:t>pytest</a:t>
            </a:r>
            <a:r>
              <a:rPr lang="en-US" dirty="0"/>
              <a:t>. This is a bit more than I told in this presentation, because the tutorial has some more steps.</a:t>
            </a:r>
          </a:p>
          <a:p>
            <a:endParaRPr lang="en-US" dirty="0"/>
          </a:p>
          <a:p>
            <a:r>
              <a:rPr lang="en-US" dirty="0"/>
              <a:t>You can see that all the tests have passed. In case you have some errors, you will see here. Also, other steps could fail, but you can always expect a detailed error massage.</a:t>
            </a:r>
          </a:p>
        </p:txBody>
      </p:sp>
      <p:sp>
        <p:nvSpPr>
          <p:cNvPr id="4" name="Slide Number Placeholder 3">
            <a:extLst>
              <a:ext uri="{FF2B5EF4-FFF2-40B4-BE49-F238E27FC236}">
                <a16:creationId xmlns:a16="http://schemas.microsoft.com/office/drawing/2014/main" id="{33B17A1C-595F-CADE-D074-861DFB0F4E2A}"/>
              </a:ext>
            </a:extLst>
          </p:cNvPr>
          <p:cNvSpPr>
            <a:spLocks noGrp="1"/>
          </p:cNvSpPr>
          <p:nvPr>
            <p:ph type="sldNum" sz="quarter" idx="5"/>
          </p:nvPr>
        </p:nvSpPr>
        <p:spPr/>
        <p:txBody>
          <a:bodyPr/>
          <a:lstStyle/>
          <a:p>
            <a:fld id="{3A4E81F6-4C3C-2A4F-8633-33E49D293464}" type="slidenum">
              <a:rPr lang="en-US" smtClean="0"/>
              <a:t>37</a:t>
            </a:fld>
            <a:endParaRPr lang="en-US"/>
          </a:p>
        </p:txBody>
      </p:sp>
    </p:spTree>
    <p:extLst>
      <p:ext uri="{BB962C8B-B14F-4D97-AF65-F5344CB8AC3E}">
        <p14:creationId xmlns:p14="http://schemas.microsoft.com/office/powerpoint/2010/main" val="14221481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A4E81F6-4C3C-2A4F-8633-33E49D293464}" type="slidenum">
              <a:rPr lang="en-US" smtClean="0"/>
              <a:t>42</a:t>
            </a:fld>
            <a:endParaRPr lang="en-US"/>
          </a:p>
        </p:txBody>
      </p:sp>
    </p:spTree>
    <p:extLst>
      <p:ext uri="{BB962C8B-B14F-4D97-AF65-F5344CB8AC3E}">
        <p14:creationId xmlns:p14="http://schemas.microsoft.com/office/powerpoint/2010/main" val="2357302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0DDAB-2384-1195-AC54-C25C27EA65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03A503-F555-4E27-1829-7F2E031A4A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2D33DE-5667-C6DF-BA27-7CC3C1F0B484}"/>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78DE32D8-2ED7-6798-F1FB-5D727A5A3B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71C4F5-0A9E-C804-8B80-C9179F7EF6E5}"/>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5393547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FDA4-8ECE-2A8F-F24D-FCEBCE9968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A7F8235-58C0-D809-DA59-693ED42D35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D0A344-1EF1-2E89-C991-18CC42148DBC}"/>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2D680BD9-83F9-4283-490B-897BEB5DAE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118760-5D9B-1AD1-3F9D-6412AE6EF8A0}"/>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4181150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6BBCA-8505-3287-55A6-F74EBEB234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3889DE3-3002-5B8C-9930-D5735529E7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4486ACC-77E1-445B-3F4B-C52079883846}"/>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F2015918-8FD8-8FC8-33A9-53205BCBD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2F2BE0-D26A-9ED8-8EF8-9036333D0D81}"/>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2844452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44546-70A6-6CBC-A06D-B2D089DDA4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3835AF-6101-A551-6B78-262D515F09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851829-8946-639C-3F68-3C87C5642B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1A316C4-40F1-187B-6CD1-330A9ED036DD}"/>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6" name="Footer Placeholder 5">
            <a:extLst>
              <a:ext uri="{FF2B5EF4-FFF2-40B4-BE49-F238E27FC236}">
                <a16:creationId xmlns:a16="http://schemas.microsoft.com/office/drawing/2014/main" id="{F924EC74-F15C-4E1D-3310-6B027C5108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C0A327-F0F1-9A8D-77B5-BA50AA369871}"/>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933929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7028E-1069-68D8-F619-C06490AF07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07F4B67-E12D-53D1-C4D2-B1C2CADCE3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01750A-A2B4-265B-A590-30CFE79033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6FCA155-CEC5-15D5-7C70-313E9551EDC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5B4B-31F0-FAA0-2603-44E8E65808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7D9DBF-5F03-D784-45B5-A2EEB389457F}"/>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8" name="Footer Placeholder 7">
            <a:extLst>
              <a:ext uri="{FF2B5EF4-FFF2-40B4-BE49-F238E27FC236}">
                <a16:creationId xmlns:a16="http://schemas.microsoft.com/office/drawing/2014/main" id="{FEC53DCB-88E7-45B3-63E0-D46234A4DA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EF9C5C-08E3-F832-09CB-7F2C6C2036FC}"/>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347936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7BEA4-8C47-C98F-3522-8AF561F5D05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017CD76-6CE1-1F14-7571-B4BD178ECBE8}"/>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4" name="Footer Placeholder 3">
            <a:extLst>
              <a:ext uri="{FF2B5EF4-FFF2-40B4-BE49-F238E27FC236}">
                <a16:creationId xmlns:a16="http://schemas.microsoft.com/office/drawing/2014/main" id="{6A797FDD-BA24-8151-BC1C-4D75C92EFA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E6197C-FAC8-96D2-6C86-5DEE6ABC0275}"/>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3211403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1B1BF6-A47E-A7BD-931F-4883FCF4D2F5}"/>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3" name="Footer Placeholder 2">
            <a:extLst>
              <a:ext uri="{FF2B5EF4-FFF2-40B4-BE49-F238E27FC236}">
                <a16:creationId xmlns:a16="http://schemas.microsoft.com/office/drawing/2014/main" id="{F4863D35-A529-ABD4-4BF5-8BA87E99CA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DB0C966-7AE0-F86C-D819-989A8FB34085}"/>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4121344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638F2-0F71-BF9A-B96C-4C98FCD318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C7A3504-CAAE-D23C-FA1E-E66415D9A4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3079BB1-95B1-70DD-8B25-7D86B67391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32A8A4A-1C09-27B2-F0DA-1E5CB7E76A4F}"/>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6" name="Footer Placeholder 5">
            <a:extLst>
              <a:ext uri="{FF2B5EF4-FFF2-40B4-BE49-F238E27FC236}">
                <a16:creationId xmlns:a16="http://schemas.microsoft.com/office/drawing/2014/main" id="{095EC71A-CB2E-0093-D82A-97D7F87EC9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CDB3B0-00BB-BB88-D8F8-F671709BFE6E}"/>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27243129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FDB4-4D4D-A36B-42F8-10F8E7559C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6B2D8E-5C8F-9293-B590-433267F68E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5CCD1D-115E-626E-DF16-79CD51A08F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2E0AB6-ACEE-A399-99AE-D6A1C6FAED90}"/>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6" name="Footer Placeholder 5">
            <a:extLst>
              <a:ext uri="{FF2B5EF4-FFF2-40B4-BE49-F238E27FC236}">
                <a16:creationId xmlns:a16="http://schemas.microsoft.com/office/drawing/2014/main" id="{9B9B6732-4520-08A7-64C5-C3A99BE595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668E5E-F9A7-A198-ACB0-18E55A4F860B}"/>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33340959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4C5AB-10C0-F4A8-4F96-A805647BAB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39CEAF5-0177-540B-BA83-ABB59DDB32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93B00-DAF3-5545-FC40-4A6DA2FE3702}"/>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18E84822-A1C5-4A54-471A-3A513E5602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B77E66-FA37-6739-A028-D0085C86D213}"/>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3310669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12E320-CCC2-7AA0-7EE3-E8CA22EEE88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1FF549-C187-38BF-8D28-69086F05AAD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01AC5F-2A51-4E53-BD5C-4B6DEA86DD1A}"/>
              </a:ext>
            </a:extLst>
          </p:cNvPr>
          <p:cNvSpPr>
            <a:spLocks noGrp="1"/>
          </p:cNvSpPr>
          <p:nvPr>
            <p:ph type="dt" sz="half" idx="10"/>
          </p:nvPr>
        </p:nvSpPr>
        <p:spPr/>
        <p:txBody>
          <a:body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E1B647E7-EFAB-CF23-0506-1F3AED39B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F94CF8-C56C-AA72-A898-0F73ADFADB66}"/>
              </a:ext>
            </a:extLst>
          </p:cNvPr>
          <p:cNvSpPr>
            <a:spLocks noGrp="1"/>
          </p:cNvSpPr>
          <p:nvPr>
            <p:ph type="sldNum" sz="quarter" idx="12"/>
          </p:nvPr>
        </p:nvSpPr>
        <p:spPr/>
        <p:txBody>
          <a:bodyPr/>
          <a:lstStyle/>
          <a:p>
            <a:fld id="{71BBEDBF-05B2-E645-95DB-0D580CE8F392}" type="slidenum">
              <a:rPr lang="en-US" smtClean="0"/>
              <a:t>‹#›</a:t>
            </a:fld>
            <a:endParaRPr lang="en-US"/>
          </a:p>
        </p:txBody>
      </p:sp>
    </p:spTree>
    <p:extLst>
      <p:ext uri="{BB962C8B-B14F-4D97-AF65-F5344CB8AC3E}">
        <p14:creationId xmlns:p14="http://schemas.microsoft.com/office/powerpoint/2010/main" val="15937124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17CDF94-67C9-70A2-E7C9-8BA158B194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A94500-ADD0-3E90-0439-A6B6F54F67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CF1763-4159-5AEB-F74A-4DD0633A31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CA6FE47-71D2-8C4F-A2E7-0757E18BE1F0}" type="datetimeFigureOut">
              <a:rPr lang="en-US" smtClean="0"/>
              <a:t>10/10/26</a:t>
            </a:fld>
            <a:endParaRPr lang="en-US"/>
          </a:p>
        </p:txBody>
      </p:sp>
      <p:sp>
        <p:nvSpPr>
          <p:cNvPr id="5" name="Footer Placeholder 4">
            <a:extLst>
              <a:ext uri="{FF2B5EF4-FFF2-40B4-BE49-F238E27FC236}">
                <a16:creationId xmlns:a16="http://schemas.microsoft.com/office/drawing/2014/main" id="{32DF7181-1A84-1C89-4836-53D776CC21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D261790-00DA-0E58-0E1C-59604B87AAD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1BBEDBF-05B2-E645-95DB-0D580CE8F392}" type="slidenum">
              <a:rPr lang="en-US" smtClean="0"/>
              <a:t>‹#›</a:t>
            </a:fld>
            <a:endParaRPr lang="en-US"/>
          </a:p>
        </p:txBody>
      </p:sp>
    </p:spTree>
    <p:extLst>
      <p:ext uri="{BB962C8B-B14F-4D97-AF65-F5344CB8AC3E}">
        <p14:creationId xmlns:p14="http://schemas.microsoft.com/office/powerpoint/2010/main" val="36170989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hyperlink" Target="https://youtu.be/MHYjtfg_hfM?si=VNw9Y6-M_4tcy6dc" TargetMode="External"/><Relationship Id="rId3" Type="http://schemas.openxmlformats.org/officeDocument/2006/relationships/hyperlink" Target="https://youtu.be/MHYjtfg_hfM?si=kDnm72f2ftLCL5M5" TargetMode="External"/><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hyperlink" Target="https://github.com/Project-MONAI/MONAI/issues/9068"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4" name="TextBox 3"/>
          <p:cNvSpPr/>
          <p:nvPr/>
        </p:nvSpPr>
        <p:spPr>
          <a:xfrm>
            <a:off x="914400" y="651391"/>
            <a:ext cx="10241280" cy="1051560"/>
          </a:xfrm>
          <a:noFill/>
          <a:ln>
            <a:noFill/>
          </a:ln>
        </p:spPr>
        <p:txBody>
          <a:bodyPr lIns="73152" tIns="73152" rIns="73152" bIns="73152" anchor="ctr"/>
          <a:lstStyle/>
          <a:p>
            <a:pPr marL="0" lvl="0" indent="0" algn="l"/>
            <a:r>
              <a:rPr lang="en-US" sz="3520" b="1" i="0" dirty="0">
                <a:solidFill>
                  <a:srgbClr val="172033"/>
                </a:solidFill>
                <a:latin typeface="Aptos"/>
              </a:rPr>
              <a:t>How to test your code</a:t>
            </a:r>
          </a:p>
        </p:txBody>
      </p:sp>
      <p:sp>
        <p:nvSpPr>
          <p:cNvPr id="5" name="TextBox 4"/>
          <p:cNvSpPr/>
          <p:nvPr/>
        </p:nvSpPr>
        <p:spPr>
          <a:xfrm>
            <a:off x="914400" y="1405772"/>
            <a:ext cx="9966960" cy="594360"/>
          </a:xfrm>
          <a:noFill/>
          <a:ln>
            <a:noFill/>
          </a:ln>
        </p:spPr>
        <p:txBody>
          <a:bodyPr lIns="73152" tIns="73152" rIns="73152" bIns="73152" anchor="ctr"/>
          <a:lstStyle/>
          <a:p>
            <a:pPr marL="0" lvl="0" indent="0" algn="l"/>
            <a:r>
              <a:rPr lang="en-US" sz="1870" b="0" i="0" dirty="0">
                <a:solidFill>
                  <a:srgbClr val="172033"/>
                </a:solidFill>
                <a:latin typeface="Aptos"/>
              </a:rPr>
              <a:t>From testable Python functions to automated checks with GitHub Actions</a:t>
            </a:r>
          </a:p>
        </p:txBody>
      </p:sp>
      <p:pic>
        <p:nvPicPr>
          <p:cNvPr id="7" name="Picture 6">
            <a:extLst>
              <a:ext uri="{FF2B5EF4-FFF2-40B4-BE49-F238E27FC236}">
                <a16:creationId xmlns:a16="http://schemas.microsoft.com/office/drawing/2014/main" id="{2FF5D575-0051-52FE-B63C-BDB8E4464A30}"/>
              </a:ext>
            </a:extLst>
          </p:cNvPr>
          <p:cNvPicPr>
            <a:picLocks noChangeAspect="1"/>
          </p:cNvPicPr>
          <p:nvPr/>
        </p:nvPicPr>
        <p:blipFill>
          <a:blip r:embed="rId3"/>
          <a:stretch>
            <a:fillRect/>
          </a:stretch>
        </p:blipFill>
        <p:spPr>
          <a:xfrm>
            <a:off x="10327595" y="5452228"/>
            <a:ext cx="1864405" cy="1421609"/>
          </a:xfrm>
          <a:prstGeom prst="rect">
            <a:avLst/>
          </a:prstGeom>
        </p:spPr>
      </p:pic>
      <p:sp>
        <p:nvSpPr>
          <p:cNvPr id="8" name="TextBox 7">
            <a:extLst>
              <a:ext uri="{FF2B5EF4-FFF2-40B4-BE49-F238E27FC236}">
                <a16:creationId xmlns:a16="http://schemas.microsoft.com/office/drawing/2014/main" id="{94C8B18C-191C-8CA3-42B5-954733C456E6}"/>
              </a:ext>
            </a:extLst>
          </p:cNvPr>
          <p:cNvSpPr txBox="1"/>
          <p:nvPr/>
        </p:nvSpPr>
        <p:spPr>
          <a:xfrm>
            <a:off x="914400" y="4039198"/>
            <a:ext cx="3374642" cy="2523768"/>
          </a:xfrm>
          <a:prstGeom prst="rect">
            <a:avLst/>
          </a:prstGeom>
          <a:noFill/>
        </p:spPr>
        <p:txBody>
          <a:bodyPr wrap="none" rtlCol="0">
            <a:spAutoFit/>
          </a:bodyPr>
          <a:lstStyle/>
          <a:p>
            <a:r>
              <a:rPr lang="en-US" sz="2400" dirty="0">
                <a:latin typeface="+mn-lt"/>
              </a:rPr>
              <a:t>Besenczi Renátó</a:t>
            </a:r>
          </a:p>
          <a:p>
            <a:endParaRPr lang="en-US" sz="2400" dirty="0">
              <a:latin typeface="+mn-lt"/>
            </a:endParaRPr>
          </a:p>
          <a:p>
            <a:r>
              <a:rPr lang="en-US" sz="1600" dirty="0">
                <a:latin typeface="+mn-lt"/>
              </a:rPr>
              <a:t>Research Software Engineer</a:t>
            </a:r>
          </a:p>
          <a:p>
            <a:endParaRPr lang="en-US" sz="1600" dirty="0">
              <a:latin typeface="+mn-lt"/>
            </a:endParaRPr>
          </a:p>
          <a:p>
            <a:r>
              <a:rPr lang="en-US" sz="1200" dirty="0">
                <a:latin typeface="+mn-lt"/>
              </a:rPr>
              <a:t>Research Department of Biomedical Computing</a:t>
            </a:r>
          </a:p>
          <a:p>
            <a:r>
              <a:rPr lang="en-US" sz="1200" dirty="0">
                <a:latin typeface="+mn-lt"/>
              </a:rPr>
              <a:t>King’s College London</a:t>
            </a:r>
          </a:p>
          <a:p>
            <a:endParaRPr lang="en-US" sz="1200" dirty="0">
              <a:latin typeface="+mn-lt"/>
            </a:endParaRPr>
          </a:p>
          <a:p>
            <a:r>
              <a:rPr lang="en-US" sz="1200" dirty="0">
                <a:latin typeface="+mn-lt"/>
              </a:rPr>
              <a:t>Oxford Centre for Integrative Neuroimaging</a:t>
            </a:r>
          </a:p>
          <a:p>
            <a:r>
              <a:rPr lang="en-US" sz="1200" dirty="0">
                <a:latin typeface="+mn-lt"/>
              </a:rPr>
              <a:t>University of Oxford</a:t>
            </a:r>
            <a:endParaRPr lang="en-US" sz="1600" dirty="0">
              <a:latin typeface="+mn-lt"/>
            </a:endParaRPr>
          </a:p>
          <a:p>
            <a:endParaRPr lang="en-US" dirty="0">
              <a:latin typeface="+mn-lt"/>
            </a:endParaRPr>
          </a:p>
        </p:txBody>
      </p:sp>
      <p:pic>
        <p:nvPicPr>
          <p:cNvPr id="10" name="Picture 9">
            <a:extLst>
              <a:ext uri="{FF2B5EF4-FFF2-40B4-BE49-F238E27FC236}">
                <a16:creationId xmlns:a16="http://schemas.microsoft.com/office/drawing/2014/main" id="{DE003C38-CFF7-5BE1-3C0B-D5EF35391442}"/>
              </a:ext>
            </a:extLst>
          </p:cNvPr>
          <p:cNvPicPr>
            <a:picLocks noChangeAspect="1"/>
          </p:cNvPicPr>
          <p:nvPr/>
        </p:nvPicPr>
        <p:blipFill>
          <a:blip r:embed="rId4"/>
          <a:srcRect/>
          <a:stretch>
            <a:fillRect/>
          </a:stretch>
        </p:blipFill>
        <p:spPr>
          <a:xfrm>
            <a:off x="8524164" y="5452228"/>
            <a:ext cx="1803431" cy="1421608"/>
          </a:xfrm>
          <a:prstGeom prst="rect">
            <a:avLst/>
          </a:prstGeom>
        </p:spPr>
      </p:pic>
      <p:pic>
        <p:nvPicPr>
          <p:cNvPr id="12" name="Picture 11">
            <a:extLst>
              <a:ext uri="{FF2B5EF4-FFF2-40B4-BE49-F238E27FC236}">
                <a16:creationId xmlns:a16="http://schemas.microsoft.com/office/drawing/2014/main" id="{6154DD45-EDC7-A37F-7C4F-C87FA55E7331}"/>
              </a:ext>
            </a:extLst>
          </p:cNvPr>
          <p:cNvPicPr>
            <a:picLocks noChangeAspect="1"/>
          </p:cNvPicPr>
          <p:nvPr/>
        </p:nvPicPr>
        <p:blipFill>
          <a:blip r:embed="rId5"/>
          <a:stretch>
            <a:fillRect/>
          </a:stretch>
        </p:blipFill>
        <p:spPr>
          <a:xfrm>
            <a:off x="5352927" y="5460146"/>
            <a:ext cx="3171237" cy="14057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6FA7518B-5C10-AA6C-8315-005FF5A2E2F3}"/>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96CC9042-2956-0656-5447-124A641D0FFA}"/>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Before you start making photos</a:t>
            </a:r>
          </a:p>
        </p:txBody>
      </p:sp>
      <p:pic>
        <p:nvPicPr>
          <p:cNvPr id="4" name="Picture 3">
            <a:extLst>
              <a:ext uri="{FF2B5EF4-FFF2-40B4-BE49-F238E27FC236}">
                <a16:creationId xmlns:a16="http://schemas.microsoft.com/office/drawing/2014/main" id="{7F364ED3-2466-1062-EBA6-770A13387E32}"/>
              </a:ext>
            </a:extLst>
          </p:cNvPr>
          <p:cNvPicPr>
            <a:picLocks noChangeAspect="1"/>
          </p:cNvPicPr>
          <p:nvPr/>
        </p:nvPicPr>
        <p:blipFill>
          <a:blip r:embed="rId3"/>
          <a:stretch>
            <a:fillRect/>
          </a:stretch>
        </p:blipFill>
        <p:spPr>
          <a:xfrm>
            <a:off x="594359" y="2239353"/>
            <a:ext cx="3989997" cy="3989997"/>
          </a:xfrm>
          <a:prstGeom prst="rect">
            <a:avLst/>
          </a:prstGeom>
        </p:spPr>
      </p:pic>
      <p:sp>
        <p:nvSpPr>
          <p:cNvPr id="5" name="TextBox 4">
            <a:extLst>
              <a:ext uri="{FF2B5EF4-FFF2-40B4-BE49-F238E27FC236}">
                <a16:creationId xmlns:a16="http://schemas.microsoft.com/office/drawing/2014/main" id="{F0A02689-0057-125B-700B-16FD14FB8BD5}"/>
              </a:ext>
            </a:extLst>
          </p:cNvPr>
          <p:cNvSpPr txBox="1"/>
          <p:nvPr/>
        </p:nvSpPr>
        <p:spPr>
          <a:xfrm>
            <a:off x="5680711" y="3291840"/>
            <a:ext cx="4943130" cy="1477328"/>
          </a:xfrm>
          <a:prstGeom prst="rect">
            <a:avLst/>
          </a:prstGeom>
          <a:noFill/>
        </p:spPr>
        <p:txBody>
          <a:bodyPr wrap="square" rtlCol="0">
            <a:spAutoFit/>
          </a:bodyPr>
          <a:lstStyle/>
          <a:p>
            <a:r>
              <a:rPr lang="en-US" dirty="0"/>
              <a:t>Tutorial, code and this presentation</a:t>
            </a:r>
          </a:p>
          <a:p>
            <a:endParaRPr lang="en-US" dirty="0"/>
          </a:p>
          <a:p>
            <a:r>
              <a:rPr lang="en-US" dirty="0"/>
              <a:t>    https://github.com/rbesenczi/my_ols</a:t>
            </a:r>
          </a:p>
          <a:p>
            <a:endParaRPr lang="en-US" dirty="0"/>
          </a:p>
          <a:p>
            <a:r>
              <a:rPr lang="en-US" dirty="0"/>
              <a:t>Also shown at the end of the presentation</a:t>
            </a:r>
          </a:p>
        </p:txBody>
      </p:sp>
      <p:pic>
        <p:nvPicPr>
          <p:cNvPr id="2" name="Picture 1">
            <a:extLst>
              <a:ext uri="{FF2B5EF4-FFF2-40B4-BE49-F238E27FC236}">
                <a16:creationId xmlns:a16="http://schemas.microsoft.com/office/drawing/2014/main" id="{CF3A6E1F-4BC0-247E-9F48-E6835035255F}"/>
              </a:ext>
            </a:extLst>
          </p:cNvPr>
          <p:cNvPicPr>
            <a:picLocks noChangeAspect="1"/>
          </p:cNvPicPr>
          <p:nvPr/>
        </p:nvPicPr>
        <p:blipFill>
          <a:blip r:embed="rId4"/>
          <a:stretch>
            <a:fillRect/>
          </a:stretch>
        </p:blipFill>
        <p:spPr>
          <a:xfrm>
            <a:off x="10623841" y="0"/>
            <a:ext cx="1568159" cy="1195721"/>
          </a:xfrm>
          <a:prstGeom prst="rect">
            <a:avLst/>
          </a:prstGeom>
        </p:spPr>
      </p:pic>
      <p:pic>
        <p:nvPicPr>
          <p:cNvPr id="6" name="Picture 5">
            <a:extLst>
              <a:ext uri="{FF2B5EF4-FFF2-40B4-BE49-F238E27FC236}">
                <a16:creationId xmlns:a16="http://schemas.microsoft.com/office/drawing/2014/main" id="{B7FF195C-E160-F02C-301F-177F9C662015}"/>
              </a:ext>
            </a:extLst>
          </p:cNvPr>
          <p:cNvPicPr>
            <a:picLocks noChangeAspect="1"/>
          </p:cNvPicPr>
          <p:nvPr/>
        </p:nvPicPr>
        <p:blipFill>
          <a:blip r:embed="rId5"/>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1379164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What we will cover</a:t>
            </a:r>
          </a:p>
        </p:txBody>
      </p:sp>
      <p:sp>
        <p:nvSpPr>
          <p:cNvPr id="4" name="Rect 20"/>
          <p:cNvSpPr/>
          <p:nvPr/>
        </p:nvSpPr>
        <p:spPr>
          <a:xfrm>
            <a:off x="594360"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6" name="TextBox 40"/>
          <p:cNvSpPr/>
          <p:nvPr/>
        </p:nvSpPr>
        <p:spPr>
          <a:xfrm>
            <a:off x="795528"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Design your </a:t>
            </a:r>
            <a:r>
              <a:rPr lang="en-US" sz="2000" b="1" dirty="0">
                <a:solidFill>
                  <a:srgbClr val="172033"/>
                </a:solidFill>
                <a:latin typeface="Aptos"/>
              </a:rPr>
              <a:t>code </a:t>
            </a:r>
            <a:r>
              <a:rPr lang="en-US" sz="2000" b="1" i="0" dirty="0">
                <a:solidFill>
                  <a:srgbClr val="172033"/>
                </a:solidFill>
                <a:latin typeface="Aptos"/>
              </a:rPr>
              <a:t>for testing</a:t>
            </a:r>
          </a:p>
        </p:txBody>
      </p:sp>
      <p:sp>
        <p:nvSpPr>
          <p:cNvPr id="7" name="TextBox 50"/>
          <p:cNvSpPr/>
          <p:nvPr/>
        </p:nvSpPr>
        <p:spPr>
          <a:xfrm>
            <a:off x="795528"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Separate logic from I/O</a:t>
            </a:r>
          </a:p>
        </p:txBody>
      </p:sp>
      <p:sp>
        <p:nvSpPr>
          <p:cNvPr id="8" name="Rect 21"/>
          <p:cNvSpPr/>
          <p:nvPr/>
        </p:nvSpPr>
        <p:spPr>
          <a:xfrm>
            <a:off x="3410712"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0" name="TextBox 41"/>
          <p:cNvSpPr/>
          <p:nvPr/>
        </p:nvSpPr>
        <p:spPr>
          <a:xfrm>
            <a:off x="3611880"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Test locally</a:t>
            </a:r>
          </a:p>
        </p:txBody>
      </p:sp>
      <p:sp>
        <p:nvSpPr>
          <p:cNvPr id="11" name="TextBox 51"/>
          <p:cNvSpPr/>
          <p:nvPr/>
        </p:nvSpPr>
        <p:spPr>
          <a:xfrm>
            <a:off x="3611880"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Unit + integration + regression</a:t>
            </a:r>
          </a:p>
        </p:txBody>
      </p:sp>
      <p:sp>
        <p:nvSpPr>
          <p:cNvPr id="12" name="Rect 22"/>
          <p:cNvSpPr/>
          <p:nvPr/>
        </p:nvSpPr>
        <p:spPr>
          <a:xfrm>
            <a:off x="6227064"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4" name="TextBox 42"/>
          <p:cNvSpPr/>
          <p:nvPr/>
        </p:nvSpPr>
        <p:spPr>
          <a:xfrm>
            <a:off x="6428232"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Handle awkward code</a:t>
            </a:r>
          </a:p>
        </p:txBody>
      </p:sp>
      <p:sp>
        <p:nvSpPr>
          <p:cNvPr id="15" name="TextBox 52"/>
          <p:cNvSpPr/>
          <p:nvPr/>
        </p:nvSpPr>
        <p:spPr>
          <a:xfrm>
            <a:off x="6428232"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Dependency injection + mocking</a:t>
            </a:r>
          </a:p>
        </p:txBody>
      </p:sp>
      <p:sp>
        <p:nvSpPr>
          <p:cNvPr id="16" name="Rect 23"/>
          <p:cNvSpPr/>
          <p:nvPr/>
        </p:nvSpPr>
        <p:spPr>
          <a:xfrm>
            <a:off x="9043416"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8" name="TextBox 43"/>
          <p:cNvSpPr/>
          <p:nvPr/>
        </p:nvSpPr>
        <p:spPr>
          <a:xfrm>
            <a:off x="9244584"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Automate</a:t>
            </a:r>
          </a:p>
        </p:txBody>
      </p:sp>
      <p:sp>
        <p:nvSpPr>
          <p:cNvPr id="19" name="TextBox 53"/>
          <p:cNvSpPr/>
          <p:nvPr/>
        </p:nvSpPr>
        <p:spPr>
          <a:xfrm>
            <a:off x="9244584"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CI/CD with GitHub Actions</a:t>
            </a:r>
          </a:p>
        </p:txBody>
      </p:sp>
      <p:sp>
        <p:nvSpPr>
          <p:cNvPr id="21" name="Line 902"/>
          <p:cNvSpPr/>
          <p:nvPr/>
        </p:nvSpPr>
        <p:spPr>
          <a:xfrm>
            <a:off x="594360" y="6446520"/>
            <a:ext cx="10972800" cy="9144"/>
          </a:xfrm>
          <a:ln w="12700">
            <a:solidFill>
              <a:srgbClr val="D5DDE7"/>
            </a:solidFill>
          </a:ln>
        </p:spPr>
        <p:txBody>
          <a:bodyPr/>
          <a:lstStyle/>
          <a:p>
            <a:endParaRPr lang="en-US" dirty="0"/>
          </a:p>
        </p:txBody>
      </p:sp>
      <p:sp>
        <p:nvSpPr>
          <p:cNvPr id="22" name="TextBox 903"/>
          <p:cNvSpPr/>
          <p:nvPr/>
        </p:nvSpPr>
        <p:spPr>
          <a:xfrm>
            <a:off x="594360" y="6492240"/>
            <a:ext cx="8961120" cy="182880"/>
          </a:xfrm>
          <a:noFill/>
          <a:ln>
            <a:noFill/>
          </a:ln>
        </p:spPr>
        <p:txBody>
          <a:bodyPr lIns="73152" tIns="73152" rIns="73152" bIns="73152" anchor="ctr"/>
          <a:lstStyle/>
          <a:p>
            <a:pPr marL="0" lvl="0" indent="0" algn="l"/>
            <a:r>
              <a:rPr lang="en-US" sz="892" b="0" i="0" dirty="0">
                <a:solidFill>
                  <a:srgbClr val="172033"/>
                </a:solidFill>
                <a:latin typeface="Aptos"/>
              </a:rPr>
              <a:t>HOW TO TEST YOUR CODE ON GITHUB</a:t>
            </a:r>
          </a:p>
        </p:txBody>
      </p:sp>
      <p:sp>
        <p:nvSpPr>
          <p:cNvPr id="23" name="TextBox 904"/>
          <p:cNvSpPr/>
          <p:nvPr/>
        </p:nvSpPr>
        <p:spPr>
          <a:xfrm>
            <a:off x="10058400" y="6492240"/>
            <a:ext cx="1508760" cy="182880"/>
          </a:xfrm>
          <a:noFill/>
          <a:ln>
            <a:noFill/>
          </a:ln>
        </p:spPr>
        <p:txBody>
          <a:bodyPr lIns="73152" tIns="73152" rIns="73152" bIns="73152" anchor="ctr"/>
          <a:lstStyle/>
          <a:p>
            <a:pPr marL="0" lvl="0" indent="0" algn="r"/>
            <a:endParaRPr lang="en-US" sz="892" b="0" i="0" dirty="0">
              <a:solidFill>
                <a:srgbClr val="172033"/>
              </a:solidFill>
              <a:latin typeface="Aptos"/>
            </a:endParaRPr>
          </a:p>
        </p:txBody>
      </p:sp>
      <p:pic>
        <p:nvPicPr>
          <p:cNvPr id="2" name="Picture 1">
            <a:extLst>
              <a:ext uri="{FF2B5EF4-FFF2-40B4-BE49-F238E27FC236}">
                <a16:creationId xmlns:a16="http://schemas.microsoft.com/office/drawing/2014/main" id="{43C4E915-CEA1-E3B4-1ADB-247816815953}"/>
              </a:ext>
            </a:extLst>
          </p:cNvPr>
          <p:cNvPicPr>
            <a:picLocks noChangeAspect="1"/>
          </p:cNvPicPr>
          <p:nvPr/>
        </p:nvPicPr>
        <p:blipFill>
          <a:blip r:embed="rId3"/>
          <a:stretch>
            <a:fillRect/>
          </a:stretch>
        </p:blipFill>
        <p:spPr>
          <a:xfrm>
            <a:off x="10623841" y="0"/>
            <a:ext cx="1568159" cy="1195721"/>
          </a:xfrm>
          <a:prstGeom prst="rect">
            <a:avLst/>
          </a:prstGeom>
        </p:spPr>
      </p:pic>
      <p:pic>
        <p:nvPicPr>
          <p:cNvPr id="9" name="Picture 8">
            <a:extLst>
              <a:ext uri="{FF2B5EF4-FFF2-40B4-BE49-F238E27FC236}">
                <a16:creationId xmlns:a16="http://schemas.microsoft.com/office/drawing/2014/main" id="{3E5B7F3F-83F7-066D-3236-046C2748C52B}"/>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A94B60DD-551C-01FC-237E-E2CA57F19A70}"/>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07895C63-AEF4-F2A4-90CE-3DECF5C37280}"/>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What we will cover</a:t>
            </a:r>
          </a:p>
        </p:txBody>
      </p:sp>
      <p:sp>
        <p:nvSpPr>
          <p:cNvPr id="4" name="Rect 20">
            <a:extLst>
              <a:ext uri="{FF2B5EF4-FFF2-40B4-BE49-F238E27FC236}">
                <a16:creationId xmlns:a16="http://schemas.microsoft.com/office/drawing/2014/main" id="{9381C25F-67A1-CE15-B41C-1BC7CE2FEB5A}"/>
              </a:ext>
            </a:extLst>
          </p:cNvPr>
          <p:cNvSpPr/>
          <p:nvPr/>
        </p:nvSpPr>
        <p:spPr>
          <a:xfrm>
            <a:off x="594360"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6" name="TextBox 40">
            <a:extLst>
              <a:ext uri="{FF2B5EF4-FFF2-40B4-BE49-F238E27FC236}">
                <a16:creationId xmlns:a16="http://schemas.microsoft.com/office/drawing/2014/main" id="{E8E31262-4197-076B-AFAE-089EEA854125}"/>
              </a:ext>
            </a:extLst>
          </p:cNvPr>
          <p:cNvSpPr/>
          <p:nvPr/>
        </p:nvSpPr>
        <p:spPr>
          <a:xfrm>
            <a:off x="795528"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Design your </a:t>
            </a:r>
            <a:r>
              <a:rPr lang="en-US" sz="2000" b="1" dirty="0">
                <a:solidFill>
                  <a:srgbClr val="172033"/>
                </a:solidFill>
                <a:latin typeface="Aptos"/>
              </a:rPr>
              <a:t>code </a:t>
            </a:r>
            <a:r>
              <a:rPr lang="en-US" sz="2000" b="1" i="0" dirty="0">
                <a:solidFill>
                  <a:srgbClr val="172033"/>
                </a:solidFill>
                <a:latin typeface="Aptos"/>
              </a:rPr>
              <a:t>for testing</a:t>
            </a:r>
          </a:p>
        </p:txBody>
      </p:sp>
      <p:sp>
        <p:nvSpPr>
          <p:cNvPr id="7" name="TextBox 50">
            <a:extLst>
              <a:ext uri="{FF2B5EF4-FFF2-40B4-BE49-F238E27FC236}">
                <a16:creationId xmlns:a16="http://schemas.microsoft.com/office/drawing/2014/main" id="{4FE464D2-9B24-530E-CE0D-2C19F1783CBF}"/>
              </a:ext>
            </a:extLst>
          </p:cNvPr>
          <p:cNvSpPr/>
          <p:nvPr/>
        </p:nvSpPr>
        <p:spPr>
          <a:xfrm>
            <a:off x="795528"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Separate logic from I/O</a:t>
            </a:r>
          </a:p>
        </p:txBody>
      </p:sp>
      <p:sp>
        <p:nvSpPr>
          <p:cNvPr id="8" name="Rect 21">
            <a:extLst>
              <a:ext uri="{FF2B5EF4-FFF2-40B4-BE49-F238E27FC236}">
                <a16:creationId xmlns:a16="http://schemas.microsoft.com/office/drawing/2014/main" id="{FB4825ED-E276-FD1C-AF68-D33E5C596176}"/>
              </a:ext>
            </a:extLst>
          </p:cNvPr>
          <p:cNvSpPr/>
          <p:nvPr/>
        </p:nvSpPr>
        <p:spPr>
          <a:xfrm>
            <a:off x="3410712"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0" name="TextBox 41">
            <a:extLst>
              <a:ext uri="{FF2B5EF4-FFF2-40B4-BE49-F238E27FC236}">
                <a16:creationId xmlns:a16="http://schemas.microsoft.com/office/drawing/2014/main" id="{FE6AB0A4-FBE5-4DC4-50C8-451FC89C44CA}"/>
              </a:ext>
            </a:extLst>
          </p:cNvPr>
          <p:cNvSpPr/>
          <p:nvPr/>
        </p:nvSpPr>
        <p:spPr>
          <a:xfrm>
            <a:off x="3611880"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Test locally</a:t>
            </a:r>
          </a:p>
        </p:txBody>
      </p:sp>
      <p:sp>
        <p:nvSpPr>
          <p:cNvPr id="11" name="TextBox 51">
            <a:extLst>
              <a:ext uri="{FF2B5EF4-FFF2-40B4-BE49-F238E27FC236}">
                <a16:creationId xmlns:a16="http://schemas.microsoft.com/office/drawing/2014/main" id="{F983DEB3-5B3A-EEA3-C4B7-561E9DA83F8A}"/>
              </a:ext>
            </a:extLst>
          </p:cNvPr>
          <p:cNvSpPr/>
          <p:nvPr/>
        </p:nvSpPr>
        <p:spPr>
          <a:xfrm>
            <a:off x="3611880"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Unit + integration + regression</a:t>
            </a:r>
          </a:p>
        </p:txBody>
      </p:sp>
      <p:sp>
        <p:nvSpPr>
          <p:cNvPr id="12" name="Rect 22">
            <a:extLst>
              <a:ext uri="{FF2B5EF4-FFF2-40B4-BE49-F238E27FC236}">
                <a16:creationId xmlns:a16="http://schemas.microsoft.com/office/drawing/2014/main" id="{4AB2FEEB-DD7E-4FEE-9626-4A336FEE7E61}"/>
              </a:ext>
            </a:extLst>
          </p:cNvPr>
          <p:cNvSpPr/>
          <p:nvPr/>
        </p:nvSpPr>
        <p:spPr>
          <a:xfrm>
            <a:off x="6227064"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4" name="TextBox 42">
            <a:extLst>
              <a:ext uri="{FF2B5EF4-FFF2-40B4-BE49-F238E27FC236}">
                <a16:creationId xmlns:a16="http://schemas.microsoft.com/office/drawing/2014/main" id="{F192E102-EFED-DBDD-B8F0-1B44512118BE}"/>
              </a:ext>
            </a:extLst>
          </p:cNvPr>
          <p:cNvSpPr/>
          <p:nvPr/>
        </p:nvSpPr>
        <p:spPr>
          <a:xfrm>
            <a:off x="6428232"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Handle awkward code</a:t>
            </a:r>
          </a:p>
        </p:txBody>
      </p:sp>
      <p:sp>
        <p:nvSpPr>
          <p:cNvPr id="15" name="TextBox 52">
            <a:extLst>
              <a:ext uri="{FF2B5EF4-FFF2-40B4-BE49-F238E27FC236}">
                <a16:creationId xmlns:a16="http://schemas.microsoft.com/office/drawing/2014/main" id="{9E9116AC-5969-151F-F4F0-05F7B38C3065}"/>
              </a:ext>
            </a:extLst>
          </p:cNvPr>
          <p:cNvSpPr/>
          <p:nvPr/>
        </p:nvSpPr>
        <p:spPr>
          <a:xfrm>
            <a:off x="6428232"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Dependency injection + mocking</a:t>
            </a:r>
          </a:p>
        </p:txBody>
      </p:sp>
      <p:sp>
        <p:nvSpPr>
          <p:cNvPr id="16" name="Rect 23">
            <a:extLst>
              <a:ext uri="{FF2B5EF4-FFF2-40B4-BE49-F238E27FC236}">
                <a16:creationId xmlns:a16="http://schemas.microsoft.com/office/drawing/2014/main" id="{BF70E657-7E87-50D7-6A07-4EC8BD9FA85D}"/>
              </a:ext>
            </a:extLst>
          </p:cNvPr>
          <p:cNvSpPr/>
          <p:nvPr/>
        </p:nvSpPr>
        <p:spPr>
          <a:xfrm>
            <a:off x="9043416" y="1691640"/>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18" name="TextBox 43">
            <a:extLst>
              <a:ext uri="{FF2B5EF4-FFF2-40B4-BE49-F238E27FC236}">
                <a16:creationId xmlns:a16="http://schemas.microsoft.com/office/drawing/2014/main" id="{E84494DB-AE18-A423-29F9-647EC584439C}"/>
              </a:ext>
            </a:extLst>
          </p:cNvPr>
          <p:cNvSpPr/>
          <p:nvPr/>
        </p:nvSpPr>
        <p:spPr>
          <a:xfrm>
            <a:off x="9244584" y="2395728"/>
            <a:ext cx="2084831" cy="640080"/>
          </a:xfrm>
          <a:noFill/>
          <a:ln>
            <a:noFill/>
          </a:ln>
        </p:spPr>
        <p:txBody>
          <a:bodyPr lIns="73152" tIns="73152" rIns="73152" bIns="73152" anchor="ctr"/>
          <a:lstStyle/>
          <a:p>
            <a:pPr marL="0" lvl="0" indent="0" algn="l"/>
            <a:r>
              <a:rPr lang="en-US" sz="2000" b="1" i="0" dirty="0">
                <a:solidFill>
                  <a:srgbClr val="172033"/>
                </a:solidFill>
                <a:latin typeface="Aptos"/>
              </a:rPr>
              <a:t>Automate</a:t>
            </a:r>
          </a:p>
        </p:txBody>
      </p:sp>
      <p:sp>
        <p:nvSpPr>
          <p:cNvPr id="19" name="TextBox 53">
            <a:extLst>
              <a:ext uri="{FF2B5EF4-FFF2-40B4-BE49-F238E27FC236}">
                <a16:creationId xmlns:a16="http://schemas.microsoft.com/office/drawing/2014/main" id="{6BE7C6FE-A3C8-B97D-D170-1F5C81EDAEC8}"/>
              </a:ext>
            </a:extLst>
          </p:cNvPr>
          <p:cNvSpPr/>
          <p:nvPr/>
        </p:nvSpPr>
        <p:spPr>
          <a:xfrm>
            <a:off x="9244584" y="3182112"/>
            <a:ext cx="2029968" cy="1051560"/>
          </a:xfrm>
          <a:noFill/>
          <a:ln>
            <a:noFill/>
          </a:ln>
        </p:spPr>
        <p:txBody>
          <a:bodyPr lIns="73152" tIns="73152" rIns="73152" bIns="73152" anchor="ctr"/>
          <a:lstStyle/>
          <a:p>
            <a:pPr marL="0" lvl="0" indent="0" algn="l"/>
            <a:r>
              <a:rPr lang="en-US" sz="2000" b="0" i="0" dirty="0">
                <a:solidFill>
                  <a:srgbClr val="172033"/>
                </a:solidFill>
                <a:latin typeface="Aptos"/>
              </a:rPr>
              <a:t>CI/CD with GitHub Actions</a:t>
            </a:r>
          </a:p>
        </p:txBody>
      </p:sp>
      <p:sp>
        <p:nvSpPr>
          <p:cNvPr id="21" name="Line 902">
            <a:extLst>
              <a:ext uri="{FF2B5EF4-FFF2-40B4-BE49-F238E27FC236}">
                <a16:creationId xmlns:a16="http://schemas.microsoft.com/office/drawing/2014/main" id="{B0376894-A363-38FD-FFE4-366D964333DB}"/>
              </a:ext>
            </a:extLst>
          </p:cNvPr>
          <p:cNvSpPr/>
          <p:nvPr/>
        </p:nvSpPr>
        <p:spPr>
          <a:xfrm>
            <a:off x="594360" y="6446520"/>
            <a:ext cx="10972800" cy="9144"/>
          </a:xfrm>
          <a:ln w="12700">
            <a:solidFill>
              <a:srgbClr val="D5DDE7"/>
            </a:solidFill>
          </a:ln>
        </p:spPr>
        <p:txBody>
          <a:bodyPr/>
          <a:lstStyle/>
          <a:p>
            <a:endParaRPr lang="en-US" dirty="0"/>
          </a:p>
        </p:txBody>
      </p:sp>
      <p:sp>
        <p:nvSpPr>
          <p:cNvPr id="22" name="TextBox 903">
            <a:extLst>
              <a:ext uri="{FF2B5EF4-FFF2-40B4-BE49-F238E27FC236}">
                <a16:creationId xmlns:a16="http://schemas.microsoft.com/office/drawing/2014/main" id="{813B067F-9B50-CED4-3B79-FBE666E008DB}"/>
              </a:ext>
            </a:extLst>
          </p:cNvPr>
          <p:cNvSpPr/>
          <p:nvPr/>
        </p:nvSpPr>
        <p:spPr>
          <a:xfrm>
            <a:off x="594360" y="6492240"/>
            <a:ext cx="8961120" cy="182880"/>
          </a:xfrm>
          <a:noFill/>
          <a:ln>
            <a:noFill/>
          </a:ln>
        </p:spPr>
        <p:txBody>
          <a:bodyPr lIns="73152" tIns="73152" rIns="73152" bIns="73152" anchor="ctr"/>
          <a:lstStyle/>
          <a:p>
            <a:pPr marL="0" lvl="0" indent="0" algn="l"/>
            <a:r>
              <a:rPr lang="en-US" sz="892" b="0" i="0" dirty="0">
                <a:solidFill>
                  <a:srgbClr val="172033"/>
                </a:solidFill>
                <a:latin typeface="Aptos"/>
              </a:rPr>
              <a:t>HOW TO TEST YOUR CODE ON GITHUB</a:t>
            </a:r>
          </a:p>
        </p:txBody>
      </p:sp>
      <p:sp>
        <p:nvSpPr>
          <p:cNvPr id="23" name="TextBox 904">
            <a:extLst>
              <a:ext uri="{FF2B5EF4-FFF2-40B4-BE49-F238E27FC236}">
                <a16:creationId xmlns:a16="http://schemas.microsoft.com/office/drawing/2014/main" id="{C7FE62BC-5ED2-793A-4C63-0C9150C8C428}"/>
              </a:ext>
            </a:extLst>
          </p:cNvPr>
          <p:cNvSpPr/>
          <p:nvPr/>
        </p:nvSpPr>
        <p:spPr>
          <a:xfrm>
            <a:off x="10058400" y="6492240"/>
            <a:ext cx="1508760" cy="182880"/>
          </a:xfrm>
          <a:noFill/>
          <a:ln>
            <a:noFill/>
          </a:ln>
        </p:spPr>
        <p:txBody>
          <a:bodyPr lIns="73152" tIns="73152" rIns="73152" bIns="73152" anchor="ctr"/>
          <a:lstStyle/>
          <a:p>
            <a:pPr marL="0" lvl="0" indent="0" algn="r"/>
            <a:endParaRPr lang="en-US" sz="892" b="0" i="0" dirty="0">
              <a:solidFill>
                <a:srgbClr val="172033"/>
              </a:solidFill>
              <a:latin typeface="Aptos"/>
            </a:endParaRPr>
          </a:p>
        </p:txBody>
      </p:sp>
      <p:sp>
        <p:nvSpPr>
          <p:cNvPr id="24" name="Rect 23">
            <a:extLst>
              <a:ext uri="{FF2B5EF4-FFF2-40B4-BE49-F238E27FC236}">
                <a16:creationId xmlns:a16="http://schemas.microsoft.com/office/drawing/2014/main" id="{595C50C8-2658-C87E-4A3E-CCFEBEBC83CB}"/>
              </a:ext>
            </a:extLst>
          </p:cNvPr>
          <p:cNvSpPr/>
          <p:nvPr/>
        </p:nvSpPr>
        <p:spPr>
          <a:xfrm>
            <a:off x="9426928" y="3346704"/>
            <a:ext cx="2523744" cy="2926080"/>
          </a:xfrm>
          <a:prstGeom prst="roundRect">
            <a:avLst/>
          </a:prstGeom>
          <a:solidFill>
            <a:srgbClr val="FFFFFF"/>
          </a:solidFill>
          <a:ln>
            <a:solidFill>
              <a:srgbClr val="D5DDE7"/>
            </a:solidFill>
            <a:prstDash val="solid"/>
          </a:ln>
        </p:spPr>
        <p:txBody>
          <a:bodyPr/>
          <a:lstStyle/>
          <a:p>
            <a:endParaRPr lang="en-US" dirty="0"/>
          </a:p>
        </p:txBody>
      </p:sp>
      <p:sp>
        <p:nvSpPr>
          <p:cNvPr id="26" name="TextBox 43">
            <a:extLst>
              <a:ext uri="{FF2B5EF4-FFF2-40B4-BE49-F238E27FC236}">
                <a16:creationId xmlns:a16="http://schemas.microsoft.com/office/drawing/2014/main" id="{C10125A6-4511-F270-D31F-B06E5760144C}"/>
              </a:ext>
            </a:extLst>
          </p:cNvPr>
          <p:cNvSpPr/>
          <p:nvPr/>
        </p:nvSpPr>
        <p:spPr>
          <a:xfrm>
            <a:off x="9628096" y="4050792"/>
            <a:ext cx="2084831" cy="640080"/>
          </a:xfrm>
          <a:noFill/>
          <a:ln>
            <a:noFill/>
          </a:ln>
        </p:spPr>
        <p:txBody>
          <a:bodyPr lIns="73152" tIns="73152" rIns="73152" bIns="73152" anchor="ctr"/>
          <a:lstStyle/>
          <a:p>
            <a:pPr marL="0" lvl="0" indent="0" algn="l"/>
            <a:r>
              <a:rPr lang="en-US" sz="2000" b="1" i="0" dirty="0">
                <a:solidFill>
                  <a:srgbClr val="172033"/>
                </a:solidFill>
                <a:latin typeface="Aptos"/>
              </a:rPr>
              <a:t>GitHub Issues</a:t>
            </a:r>
          </a:p>
        </p:txBody>
      </p:sp>
      <p:sp>
        <p:nvSpPr>
          <p:cNvPr id="27" name="TextBox 53">
            <a:extLst>
              <a:ext uri="{FF2B5EF4-FFF2-40B4-BE49-F238E27FC236}">
                <a16:creationId xmlns:a16="http://schemas.microsoft.com/office/drawing/2014/main" id="{B7109EDF-1C51-1891-677B-432021067A02}"/>
              </a:ext>
            </a:extLst>
          </p:cNvPr>
          <p:cNvSpPr/>
          <p:nvPr/>
        </p:nvSpPr>
        <p:spPr>
          <a:xfrm>
            <a:off x="9628096" y="4837176"/>
            <a:ext cx="2029968" cy="1051560"/>
          </a:xfrm>
          <a:noFill/>
          <a:ln>
            <a:noFill/>
          </a:ln>
        </p:spPr>
        <p:txBody>
          <a:bodyPr lIns="73152" tIns="73152" rIns="73152" bIns="73152" anchor="ctr"/>
          <a:lstStyle/>
          <a:p>
            <a:pPr marL="0" lvl="0" indent="0" algn="l"/>
            <a:r>
              <a:rPr lang="en-US" sz="2000" b="0" i="0" dirty="0">
                <a:solidFill>
                  <a:srgbClr val="172033"/>
                </a:solidFill>
                <a:latin typeface="Aptos"/>
              </a:rPr>
              <a:t>Towards more robustness</a:t>
            </a:r>
          </a:p>
        </p:txBody>
      </p:sp>
      <p:pic>
        <p:nvPicPr>
          <p:cNvPr id="2" name="Picture 1">
            <a:extLst>
              <a:ext uri="{FF2B5EF4-FFF2-40B4-BE49-F238E27FC236}">
                <a16:creationId xmlns:a16="http://schemas.microsoft.com/office/drawing/2014/main" id="{6F7E6771-61A9-C99A-DB96-C46F03ADD04A}"/>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A0C58194-5638-63E3-88D3-C7EB3C906F2D}"/>
              </a:ext>
            </a:extLst>
          </p:cNvPr>
          <p:cNvPicPr>
            <a:picLocks noChangeAspect="1"/>
          </p:cNvPicPr>
          <p:nvPr/>
        </p:nvPicPr>
        <p:blipFill>
          <a:blip r:embed="rId4"/>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19312783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D466728D-7211-BA57-9CBB-7AD840C4C739}"/>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3CBBC2DE-AB93-7037-E674-43FA7A86C4F0}"/>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Basics on version control with git</a:t>
            </a:r>
          </a:p>
        </p:txBody>
      </p:sp>
      <p:sp>
        <p:nvSpPr>
          <p:cNvPr id="21" name="Line 902">
            <a:extLst>
              <a:ext uri="{FF2B5EF4-FFF2-40B4-BE49-F238E27FC236}">
                <a16:creationId xmlns:a16="http://schemas.microsoft.com/office/drawing/2014/main" id="{E9ABE289-B66E-4CDC-6BB1-45F7C5053AF1}"/>
              </a:ext>
            </a:extLst>
          </p:cNvPr>
          <p:cNvSpPr/>
          <p:nvPr/>
        </p:nvSpPr>
        <p:spPr>
          <a:xfrm>
            <a:off x="594360" y="6446520"/>
            <a:ext cx="10972800" cy="9144"/>
          </a:xfrm>
          <a:ln w="12700">
            <a:solidFill>
              <a:srgbClr val="D5DDE7"/>
            </a:solidFill>
          </a:ln>
        </p:spPr>
        <p:txBody>
          <a:bodyPr/>
          <a:lstStyle/>
          <a:p>
            <a:endParaRPr lang="en-US" dirty="0"/>
          </a:p>
        </p:txBody>
      </p:sp>
      <p:sp>
        <p:nvSpPr>
          <p:cNvPr id="22" name="TextBox 903">
            <a:extLst>
              <a:ext uri="{FF2B5EF4-FFF2-40B4-BE49-F238E27FC236}">
                <a16:creationId xmlns:a16="http://schemas.microsoft.com/office/drawing/2014/main" id="{ABFC96C0-FA83-B6BA-1B6B-89AB42F263D8}"/>
              </a:ext>
            </a:extLst>
          </p:cNvPr>
          <p:cNvSpPr/>
          <p:nvPr/>
        </p:nvSpPr>
        <p:spPr>
          <a:xfrm>
            <a:off x="594360" y="6492240"/>
            <a:ext cx="8961120" cy="182880"/>
          </a:xfrm>
          <a:noFill/>
          <a:ln>
            <a:noFill/>
          </a:ln>
        </p:spPr>
        <p:txBody>
          <a:bodyPr lIns="73152" tIns="73152" rIns="73152" bIns="73152" anchor="ctr"/>
          <a:lstStyle/>
          <a:p>
            <a:pPr marL="0" lvl="0" indent="0" algn="l"/>
            <a:r>
              <a:rPr lang="en-US" sz="892" b="0" i="0" dirty="0">
                <a:solidFill>
                  <a:srgbClr val="172033"/>
                </a:solidFill>
                <a:latin typeface="Aptos"/>
              </a:rPr>
              <a:t>HOW TO TEST YOUR CODE ON GITHUB</a:t>
            </a:r>
          </a:p>
        </p:txBody>
      </p:sp>
      <p:sp>
        <p:nvSpPr>
          <p:cNvPr id="23" name="TextBox 904">
            <a:extLst>
              <a:ext uri="{FF2B5EF4-FFF2-40B4-BE49-F238E27FC236}">
                <a16:creationId xmlns:a16="http://schemas.microsoft.com/office/drawing/2014/main" id="{2EF16E0F-E7B7-A8A6-6E60-AB0D7FFCA00A}"/>
              </a:ext>
            </a:extLst>
          </p:cNvPr>
          <p:cNvSpPr/>
          <p:nvPr/>
        </p:nvSpPr>
        <p:spPr>
          <a:xfrm>
            <a:off x="10058400" y="6492240"/>
            <a:ext cx="1508760" cy="182880"/>
          </a:xfrm>
          <a:noFill/>
          <a:ln>
            <a:noFill/>
          </a:ln>
        </p:spPr>
        <p:txBody>
          <a:bodyPr lIns="73152" tIns="73152" rIns="73152" bIns="73152" anchor="ctr"/>
          <a:lstStyle/>
          <a:p>
            <a:pPr marL="0" lvl="0" indent="0" algn="r"/>
            <a:endParaRPr lang="en-US" sz="892" b="0" i="0" dirty="0">
              <a:solidFill>
                <a:srgbClr val="172033"/>
              </a:solidFill>
              <a:latin typeface="Aptos"/>
            </a:endParaRPr>
          </a:p>
        </p:txBody>
      </p:sp>
      <p:pic>
        <p:nvPicPr>
          <p:cNvPr id="5" name="Picture 4">
            <a:hlinkClick r:id="rId3"/>
            <a:extLst>
              <a:ext uri="{FF2B5EF4-FFF2-40B4-BE49-F238E27FC236}">
                <a16:creationId xmlns:a16="http://schemas.microsoft.com/office/drawing/2014/main" id="{541FF02F-0D91-8D03-D214-DC65E3F2A444}"/>
              </a:ext>
            </a:extLst>
          </p:cNvPr>
          <p:cNvPicPr>
            <a:picLocks noChangeAspect="1"/>
          </p:cNvPicPr>
          <p:nvPr/>
        </p:nvPicPr>
        <p:blipFill>
          <a:blip r:embed="rId4"/>
          <a:srcRect/>
          <a:stretch/>
        </p:blipFill>
        <p:spPr>
          <a:xfrm>
            <a:off x="594361" y="2049181"/>
            <a:ext cx="7772398" cy="1379819"/>
          </a:xfrm>
          <a:prstGeom prst="rect">
            <a:avLst/>
          </a:prstGeom>
        </p:spPr>
      </p:pic>
      <p:pic>
        <p:nvPicPr>
          <p:cNvPr id="20" name="Picture 19">
            <a:extLst>
              <a:ext uri="{FF2B5EF4-FFF2-40B4-BE49-F238E27FC236}">
                <a16:creationId xmlns:a16="http://schemas.microsoft.com/office/drawing/2014/main" id="{7BC6E342-C0CF-207E-0EEA-2BD4AB952C53}"/>
              </a:ext>
            </a:extLst>
          </p:cNvPr>
          <p:cNvPicPr>
            <a:picLocks noChangeAspect="1"/>
          </p:cNvPicPr>
          <p:nvPr/>
        </p:nvPicPr>
        <p:blipFill>
          <a:blip r:embed="rId5"/>
          <a:stretch>
            <a:fillRect/>
          </a:stretch>
        </p:blipFill>
        <p:spPr>
          <a:xfrm>
            <a:off x="8643620" y="3317240"/>
            <a:ext cx="3175000" cy="3175000"/>
          </a:xfrm>
          <a:prstGeom prst="rect">
            <a:avLst/>
          </a:prstGeom>
        </p:spPr>
      </p:pic>
      <p:pic>
        <p:nvPicPr>
          <p:cNvPr id="2" name="Picture 1">
            <a:extLst>
              <a:ext uri="{FF2B5EF4-FFF2-40B4-BE49-F238E27FC236}">
                <a16:creationId xmlns:a16="http://schemas.microsoft.com/office/drawing/2014/main" id="{7ED7D028-751C-36D5-E309-2D46BB3DDDC4}"/>
              </a:ext>
            </a:extLst>
          </p:cNvPr>
          <p:cNvPicPr>
            <a:picLocks noChangeAspect="1"/>
          </p:cNvPicPr>
          <p:nvPr/>
        </p:nvPicPr>
        <p:blipFill>
          <a:blip r:embed="rId6"/>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A2CAE944-BB08-61B4-9F0D-3F182D0D88C3}"/>
              </a:ext>
            </a:extLst>
          </p:cNvPr>
          <p:cNvPicPr>
            <a:picLocks noChangeAspect="1"/>
          </p:cNvPicPr>
          <p:nvPr/>
        </p:nvPicPr>
        <p:blipFill>
          <a:blip r:embed="rId7"/>
          <a:srcRect/>
          <a:stretch>
            <a:fillRect/>
          </a:stretch>
        </p:blipFill>
        <p:spPr>
          <a:xfrm>
            <a:off x="9106967" y="0"/>
            <a:ext cx="1516874" cy="1195721"/>
          </a:xfrm>
          <a:prstGeom prst="rect">
            <a:avLst/>
          </a:prstGeom>
        </p:spPr>
      </p:pic>
      <p:sp>
        <p:nvSpPr>
          <p:cNvPr id="6" name="TextBox 5">
            <a:extLst>
              <a:ext uri="{FF2B5EF4-FFF2-40B4-BE49-F238E27FC236}">
                <a16:creationId xmlns:a16="http://schemas.microsoft.com/office/drawing/2014/main" id="{18ACC08D-59F4-9436-DB3D-54D5A932E49D}"/>
              </a:ext>
            </a:extLst>
          </p:cNvPr>
          <p:cNvSpPr txBox="1"/>
          <p:nvPr/>
        </p:nvSpPr>
        <p:spPr>
          <a:xfrm>
            <a:off x="811530" y="4926330"/>
            <a:ext cx="5743880" cy="369332"/>
          </a:xfrm>
          <a:prstGeom prst="rect">
            <a:avLst/>
          </a:prstGeom>
          <a:noFill/>
        </p:spPr>
        <p:txBody>
          <a:bodyPr wrap="none" rtlCol="0">
            <a:spAutoFit/>
          </a:bodyPr>
          <a:lstStyle/>
          <a:p>
            <a:r>
              <a:rPr lang="en-US" dirty="0">
                <a:hlinkClick r:id="rId8"/>
              </a:rPr>
              <a:t>https://youtu.be/MHYjtfg_hfM?si=VNw9Y6-M_4tcy6dc</a:t>
            </a:r>
            <a:r>
              <a:rPr lang="en-US" dirty="0"/>
              <a:t> </a:t>
            </a:r>
          </a:p>
        </p:txBody>
      </p:sp>
    </p:spTree>
    <p:extLst>
      <p:ext uri="{BB962C8B-B14F-4D97-AF65-F5344CB8AC3E}">
        <p14:creationId xmlns:p14="http://schemas.microsoft.com/office/powerpoint/2010/main" val="1865427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CC3989DF-BA9B-4A3C-98F8-B47768A3F13A}"/>
            </a:ext>
          </a:extLst>
        </p:cNvPr>
        <p:cNvGrpSpPr/>
        <p:nvPr/>
      </p:nvGrpSpPr>
      <p:grpSpPr>
        <a:xfrm>
          <a:off x="0" y="0"/>
          <a:ext cx="0" cy="0"/>
          <a:chOff x="0" y="0"/>
          <a:chExt cx="0" cy="0"/>
        </a:xfrm>
      </p:grpSpPr>
      <p:sp>
        <p:nvSpPr>
          <p:cNvPr id="2" name="TextBox 10">
            <a:extLst>
              <a:ext uri="{FF2B5EF4-FFF2-40B4-BE49-F238E27FC236}">
                <a16:creationId xmlns:a16="http://schemas.microsoft.com/office/drawing/2014/main" id="{8B681956-FB05-421E-E8F1-84EE37879E55}"/>
              </a:ext>
            </a:extLst>
          </p:cNvPr>
          <p:cNvSpPr/>
          <p:nvPr/>
        </p:nvSpPr>
        <p:spPr>
          <a:xfrm>
            <a:off x="594360" y="320040"/>
            <a:ext cx="10972800" cy="256032"/>
          </a:xfrm>
          <a:noFill/>
          <a:ln>
            <a:noFill/>
          </a:ln>
        </p:spPr>
        <p:txBody>
          <a:bodyPr lIns="73152" tIns="73152" rIns="73152" bIns="73152" anchor="ctr"/>
          <a:lstStyle/>
          <a:p>
            <a:pPr marL="0" lvl="0" indent="0" algn="l"/>
            <a:endParaRPr lang="en-US" sz="1050" b="1" i="0" dirty="0">
              <a:solidFill>
                <a:srgbClr val="172033"/>
              </a:solidFill>
              <a:latin typeface="Aptos"/>
            </a:endParaRPr>
          </a:p>
        </p:txBody>
      </p:sp>
      <p:sp>
        <p:nvSpPr>
          <p:cNvPr id="3" name="TextBox 11">
            <a:extLst>
              <a:ext uri="{FF2B5EF4-FFF2-40B4-BE49-F238E27FC236}">
                <a16:creationId xmlns:a16="http://schemas.microsoft.com/office/drawing/2014/main" id="{9D8810E5-1C91-3CE2-1D31-0EF5BE79A843}"/>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Why testing matters?</a:t>
            </a:r>
          </a:p>
        </p:txBody>
      </p:sp>
      <p:pic>
        <p:nvPicPr>
          <p:cNvPr id="4" name="Picture 3">
            <a:extLst>
              <a:ext uri="{FF2B5EF4-FFF2-40B4-BE49-F238E27FC236}">
                <a16:creationId xmlns:a16="http://schemas.microsoft.com/office/drawing/2014/main" id="{08D50EE1-74E1-5C1B-BD12-6596C009E143}"/>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AFC120C0-11F2-B76D-999D-6252F64B8F55}"/>
              </a:ext>
            </a:extLst>
          </p:cNvPr>
          <p:cNvPicPr>
            <a:picLocks noChangeAspect="1"/>
          </p:cNvPicPr>
          <p:nvPr/>
        </p:nvPicPr>
        <p:blipFill>
          <a:blip r:embed="rId4"/>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29064660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050D0E79-D3FF-4999-6A8D-C875092FCC3A}"/>
            </a:ext>
          </a:extLst>
        </p:cNvPr>
        <p:cNvGrpSpPr/>
        <p:nvPr/>
      </p:nvGrpSpPr>
      <p:grpSpPr>
        <a:xfrm>
          <a:off x="0" y="0"/>
          <a:ext cx="0" cy="0"/>
          <a:chOff x="0" y="0"/>
          <a:chExt cx="0" cy="0"/>
        </a:xfrm>
      </p:grpSpPr>
      <p:sp>
        <p:nvSpPr>
          <p:cNvPr id="2" name="TextBox 10">
            <a:extLst>
              <a:ext uri="{FF2B5EF4-FFF2-40B4-BE49-F238E27FC236}">
                <a16:creationId xmlns:a16="http://schemas.microsoft.com/office/drawing/2014/main" id="{A2C3441C-4F75-ECF0-B0B2-04C0A7D3F91F}"/>
              </a:ext>
            </a:extLst>
          </p:cNvPr>
          <p:cNvSpPr/>
          <p:nvPr/>
        </p:nvSpPr>
        <p:spPr>
          <a:xfrm>
            <a:off x="594360" y="320040"/>
            <a:ext cx="10972800" cy="256032"/>
          </a:xfrm>
          <a:noFill/>
          <a:ln>
            <a:noFill/>
          </a:ln>
        </p:spPr>
        <p:txBody>
          <a:bodyPr lIns="73152" tIns="73152" rIns="73152" bIns="73152" anchor="ctr"/>
          <a:lstStyle/>
          <a:p>
            <a:pPr marL="0" lvl="0" indent="0" algn="l"/>
            <a:endParaRPr lang="en-US" sz="1050" b="1" i="0" dirty="0">
              <a:solidFill>
                <a:srgbClr val="172033"/>
              </a:solidFill>
              <a:latin typeface="Aptos"/>
            </a:endParaRPr>
          </a:p>
        </p:txBody>
      </p:sp>
      <p:sp>
        <p:nvSpPr>
          <p:cNvPr id="3" name="TextBox 11">
            <a:extLst>
              <a:ext uri="{FF2B5EF4-FFF2-40B4-BE49-F238E27FC236}">
                <a16:creationId xmlns:a16="http://schemas.microsoft.com/office/drawing/2014/main" id="{39FC76A8-4252-4E58-52AD-AA2196F899D0}"/>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Why testing matters?</a:t>
            </a:r>
          </a:p>
        </p:txBody>
      </p:sp>
      <p:pic>
        <p:nvPicPr>
          <p:cNvPr id="32" name="Picture 31">
            <a:extLst>
              <a:ext uri="{FF2B5EF4-FFF2-40B4-BE49-F238E27FC236}">
                <a16:creationId xmlns:a16="http://schemas.microsoft.com/office/drawing/2014/main" id="{40D90E7A-8EED-C27B-8D48-32884B186211}"/>
              </a:ext>
            </a:extLst>
          </p:cNvPr>
          <p:cNvPicPr>
            <a:picLocks noChangeAspect="1"/>
          </p:cNvPicPr>
          <p:nvPr/>
        </p:nvPicPr>
        <p:blipFill>
          <a:blip r:embed="rId3"/>
          <a:stretch>
            <a:fillRect/>
          </a:stretch>
        </p:blipFill>
        <p:spPr>
          <a:xfrm>
            <a:off x="3233803" y="1280160"/>
            <a:ext cx="5724394" cy="5239720"/>
          </a:xfrm>
          <a:prstGeom prst="rect">
            <a:avLst/>
          </a:prstGeom>
        </p:spPr>
      </p:pic>
      <p:pic>
        <p:nvPicPr>
          <p:cNvPr id="4" name="Picture 3">
            <a:extLst>
              <a:ext uri="{FF2B5EF4-FFF2-40B4-BE49-F238E27FC236}">
                <a16:creationId xmlns:a16="http://schemas.microsoft.com/office/drawing/2014/main" id="{02FAC24D-54D7-E5F6-34F9-A964EEB90679}"/>
              </a:ext>
            </a:extLst>
          </p:cNvPr>
          <p:cNvPicPr>
            <a:picLocks noChangeAspect="1"/>
          </p:cNvPicPr>
          <p:nvPr/>
        </p:nvPicPr>
        <p:blipFill>
          <a:blip r:embed="rId4"/>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8921130A-BCD4-ED79-6FF1-B8158D3FF5BD}"/>
              </a:ext>
            </a:extLst>
          </p:cNvPr>
          <p:cNvPicPr>
            <a:picLocks noChangeAspect="1"/>
          </p:cNvPicPr>
          <p:nvPr/>
        </p:nvPicPr>
        <p:blipFill>
          <a:blip r:embed="rId5"/>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246781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Testing is a feedback system, not a final exam</a:t>
            </a:r>
          </a:p>
        </p:txBody>
      </p:sp>
      <p:sp>
        <p:nvSpPr>
          <p:cNvPr id="5" name="Rect 30"/>
          <p:cNvSpPr/>
          <p:nvPr/>
        </p:nvSpPr>
        <p:spPr>
          <a:xfrm>
            <a:off x="868680" y="1874519"/>
            <a:ext cx="3246120" cy="3246120"/>
          </a:xfrm>
          <a:prstGeom prst="roundRect">
            <a:avLst/>
          </a:prstGeom>
          <a:solidFill>
            <a:srgbClr val="FFFFFF"/>
          </a:solidFill>
          <a:ln>
            <a:solidFill>
              <a:srgbClr val="D5DDE7"/>
            </a:solidFill>
            <a:prstDash val="solid"/>
          </a:ln>
        </p:spPr>
        <p:txBody>
          <a:bodyPr/>
          <a:lstStyle/>
          <a:p>
            <a:endParaRPr lang="en-US" dirty="0"/>
          </a:p>
        </p:txBody>
      </p:sp>
      <p:sp>
        <p:nvSpPr>
          <p:cNvPr id="6" name="TextBox 40"/>
          <p:cNvSpPr/>
          <p:nvPr/>
        </p:nvSpPr>
        <p:spPr>
          <a:xfrm>
            <a:off x="1097280" y="2139696"/>
            <a:ext cx="2743200" cy="320040"/>
          </a:xfrm>
          <a:noFill/>
          <a:ln>
            <a:noFill/>
          </a:ln>
        </p:spPr>
        <p:txBody>
          <a:bodyPr lIns="73152" tIns="73152" rIns="73152" bIns="73152" anchor="ctr"/>
          <a:lstStyle/>
          <a:p>
            <a:pPr marL="0" lvl="0" indent="0" algn="l"/>
            <a:r>
              <a:rPr lang="en-US" sz="2000" b="1" i="0" dirty="0">
                <a:solidFill>
                  <a:srgbClr val="172033"/>
                </a:solidFill>
                <a:latin typeface="Aptos"/>
              </a:rPr>
              <a:t>WRITE</a:t>
            </a:r>
          </a:p>
        </p:txBody>
      </p:sp>
      <p:sp>
        <p:nvSpPr>
          <p:cNvPr id="7" name="TextBox 50"/>
          <p:cNvSpPr/>
          <p:nvPr/>
        </p:nvSpPr>
        <p:spPr>
          <a:xfrm>
            <a:off x="1097280" y="2697480"/>
            <a:ext cx="2697480" cy="749808"/>
          </a:xfrm>
          <a:noFill/>
          <a:ln>
            <a:noFill/>
          </a:ln>
        </p:spPr>
        <p:txBody>
          <a:bodyPr lIns="73152" tIns="73152" rIns="73152" bIns="73152" anchor="ctr"/>
          <a:lstStyle/>
          <a:p>
            <a:pPr marL="0" lvl="0" indent="0" algn="l"/>
            <a:r>
              <a:rPr lang="en-US" sz="2000" b="1" i="0" dirty="0">
                <a:solidFill>
                  <a:srgbClr val="172033"/>
                </a:solidFill>
                <a:latin typeface="Aptos"/>
              </a:rPr>
              <a:t>Make </a:t>
            </a:r>
            <a:r>
              <a:rPr lang="en-US" sz="2000" b="1" i="0" dirty="0" err="1">
                <a:solidFill>
                  <a:srgbClr val="172033"/>
                </a:solidFill>
                <a:latin typeface="Aptos"/>
              </a:rPr>
              <a:t>behaviour</a:t>
            </a:r>
            <a:r>
              <a:rPr lang="en-US" sz="2000" b="1" i="0">
                <a:solidFill>
                  <a:srgbClr val="172033"/>
                </a:solidFill>
                <a:latin typeface="Aptos"/>
              </a:rPr>
              <a:t> explicit</a:t>
            </a:r>
          </a:p>
        </p:txBody>
      </p:sp>
      <p:sp>
        <p:nvSpPr>
          <p:cNvPr id="8" name="TextBox 60"/>
          <p:cNvSpPr/>
          <p:nvPr/>
        </p:nvSpPr>
        <p:spPr>
          <a:xfrm>
            <a:off x="1097280" y="3657600"/>
            <a:ext cx="2697480" cy="960120"/>
          </a:xfrm>
          <a:noFill/>
          <a:ln>
            <a:noFill/>
          </a:ln>
        </p:spPr>
        <p:txBody>
          <a:bodyPr lIns="73152" tIns="73152" rIns="73152" bIns="73152" anchor="ctr"/>
          <a:lstStyle/>
          <a:p>
            <a:pPr marL="0" lvl="0" indent="0" algn="l"/>
            <a:r>
              <a:rPr lang="en-US" sz="2000" b="0" i="0">
                <a:solidFill>
                  <a:srgbClr val="172033"/>
                </a:solidFill>
                <a:latin typeface="Aptos"/>
              </a:rPr>
              <a:t>Small, deterministic functions are easier to test.</a:t>
            </a:r>
          </a:p>
        </p:txBody>
      </p:sp>
      <p:sp>
        <p:nvSpPr>
          <p:cNvPr id="9" name="Rect 31"/>
          <p:cNvSpPr/>
          <p:nvPr/>
        </p:nvSpPr>
        <p:spPr>
          <a:xfrm>
            <a:off x="4462272" y="1874519"/>
            <a:ext cx="3246120" cy="3246120"/>
          </a:xfrm>
          <a:prstGeom prst="roundRect">
            <a:avLst/>
          </a:prstGeom>
          <a:solidFill>
            <a:srgbClr val="FFFFFF"/>
          </a:solidFill>
          <a:ln>
            <a:solidFill>
              <a:srgbClr val="D5DDE7"/>
            </a:solidFill>
            <a:prstDash val="solid"/>
          </a:ln>
        </p:spPr>
        <p:txBody>
          <a:bodyPr/>
          <a:lstStyle/>
          <a:p>
            <a:endParaRPr lang="en-US"/>
          </a:p>
        </p:txBody>
      </p:sp>
      <p:sp>
        <p:nvSpPr>
          <p:cNvPr id="10" name="TextBox 41"/>
          <p:cNvSpPr/>
          <p:nvPr/>
        </p:nvSpPr>
        <p:spPr>
          <a:xfrm>
            <a:off x="4690872" y="2139696"/>
            <a:ext cx="2743200" cy="320040"/>
          </a:xfrm>
          <a:noFill/>
          <a:ln>
            <a:noFill/>
          </a:ln>
        </p:spPr>
        <p:txBody>
          <a:bodyPr lIns="73152" tIns="73152" rIns="73152" bIns="73152" anchor="ctr"/>
          <a:lstStyle/>
          <a:p>
            <a:pPr marL="0" lvl="0" indent="0" algn="l"/>
            <a:r>
              <a:rPr lang="en-US" sz="2000" b="1" i="0">
                <a:solidFill>
                  <a:srgbClr val="172033"/>
                </a:solidFill>
                <a:latin typeface="Aptos"/>
              </a:rPr>
              <a:t>CHECK</a:t>
            </a:r>
          </a:p>
        </p:txBody>
      </p:sp>
      <p:sp>
        <p:nvSpPr>
          <p:cNvPr id="11" name="TextBox 51"/>
          <p:cNvSpPr/>
          <p:nvPr/>
        </p:nvSpPr>
        <p:spPr>
          <a:xfrm>
            <a:off x="4690872" y="2697480"/>
            <a:ext cx="2697480" cy="749808"/>
          </a:xfrm>
          <a:noFill/>
          <a:ln>
            <a:noFill/>
          </a:ln>
        </p:spPr>
        <p:txBody>
          <a:bodyPr lIns="73152" tIns="73152" rIns="73152" bIns="73152" anchor="ctr"/>
          <a:lstStyle/>
          <a:p>
            <a:pPr marL="0" lvl="0" indent="0" algn="l"/>
            <a:r>
              <a:rPr lang="en-US" sz="2000" b="1" i="0">
                <a:solidFill>
                  <a:srgbClr val="172033"/>
                </a:solidFill>
                <a:latin typeface="Aptos"/>
              </a:rPr>
              <a:t>Catch failures close to the change</a:t>
            </a:r>
          </a:p>
        </p:txBody>
      </p:sp>
      <p:sp>
        <p:nvSpPr>
          <p:cNvPr id="12" name="TextBox 61"/>
          <p:cNvSpPr/>
          <p:nvPr/>
        </p:nvSpPr>
        <p:spPr>
          <a:xfrm>
            <a:off x="4690872" y="3657600"/>
            <a:ext cx="2697480" cy="960120"/>
          </a:xfrm>
          <a:noFill/>
          <a:ln>
            <a:noFill/>
          </a:ln>
        </p:spPr>
        <p:txBody>
          <a:bodyPr lIns="73152" tIns="73152" rIns="73152" bIns="73152" anchor="ctr"/>
          <a:lstStyle/>
          <a:p>
            <a:pPr marL="0" lvl="0" indent="0" algn="l"/>
            <a:r>
              <a:rPr lang="en-US" sz="2000" b="0" i="0" dirty="0">
                <a:solidFill>
                  <a:srgbClr val="172033"/>
                </a:solidFill>
                <a:latin typeface="Aptos"/>
              </a:rPr>
              <a:t>Fast tests reduce the amount of code you have to go through.</a:t>
            </a:r>
          </a:p>
        </p:txBody>
      </p:sp>
      <p:sp>
        <p:nvSpPr>
          <p:cNvPr id="13" name="Rect 32"/>
          <p:cNvSpPr/>
          <p:nvPr/>
        </p:nvSpPr>
        <p:spPr>
          <a:xfrm>
            <a:off x="8055864" y="1874519"/>
            <a:ext cx="3246120" cy="3246120"/>
          </a:xfrm>
          <a:prstGeom prst="roundRect">
            <a:avLst/>
          </a:prstGeom>
          <a:solidFill>
            <a:srgbClr val="FFFFFF"/>
          </a:solidFill>
          <a:ln>
            <a:solidFill>
              <a:srgbClr val="D5DDE7"/>
            </a:solidFill>
            <a:prstDash val="solid"/>
          </a:ln>
        </p:spPr>
        <p:txBody>
          <a:bodyPr/>
          <a:lstStyle/>
          <a:p>
            <a:endParaRPr lang="en-US"/>
          </a:p>
        </p:txBody>
      </p:sp>
      <p:sp>
        <p:nvSpPr>
          <p:cNvPr id="14" name="TextBox 42"/>
          <p:cNvSpPr/>
          <p:nvPr/>
        </p:nvSpPr>
        <p:spPr>
          <a:xfrm>
            <a:off x="8284464" y="2139696"/>
            <a:ext cx="2743200" cy="320040"/>
          </a:xfrm>
          <a:noFill/>
          <a:ln>
            <a:noFill/>
          </a:ln>
        </p:spPr>
        <p:txBody>
          <a:bodyPr lIns="73152" tIns="73152" rIns="73152" bIns="73152" anchor="ctr"/>
          <a:lstStyle/>
          <a:p>
            <a:pPr marL="0" lvl="0" indent="0" algn="l"/>
            <a:r>
              <a:rPr lang="en-US" sz="2000" b="1" i="0">
                <a:solidFill>
                  <a:srgbClr val="172033"/>
                </a:solidFill>
                <a:latin typeface="Aptos"/>
              </a:rPr>
              <a:t>LEARN</a:t>
            </a:r>
          </a:p>
        </p:txBody>
      </p:sp>
      <p:sp>
        <p:nvSpPr>
          <p:cNvPr id="15" name="TextBox 52"/>
          <p:cNvSpPr/>
          <p:nvPr/>
        </p:nvSpPr>
        <p:spPr>
          <a:xfrm>
            <a:off x="8284464" y="2697480"/>
            <a:ext cx="2697480" cy="749808"/>
          </a:xfrm>
          <a:noFill/>
          <a:ln>
            <a:noFill/>
          </a:ln>
        </p:spPr>
        <p:txBody>
          <a:bodyPr lIns="73152" tIns="73152" rIns="73152" bIns="73152" anchor="ctr"/>
          <a:lstStyle/>
          <a:p>
            <a:pPr marL="0" lvl="0" indent="0" algn="l"/>
            <a:r>
              <a:rPr lang="en-US" sz="2000" b="1" i="0">
                <a:solidFill>
                  <a:srgbClr val="172033"/>
                </a:solidFill>
                <a:latin typeface="Aptos"/>
              </a:rPr>
              <a:t>Turn failures into durable knowledge</a:t>
            </a:r>
          </a:p>
        </p:txBody>
      </p:sp>
      <p:sp>
        <p:nvSpPr>
          <p:cNvPr id="16" name="TextBox 62"/>
          <p:cNvSpPr/>
          <p:nvPr/>
        </p:nvSpPr>
        <p:spPr>
          <a:xfrm>
            <a:off x="8284464" y="3657600"/>
            <a:ext cx="2697480" cy="960120"/>
          </a:xfrm>
          <a:noFill/>
          <a:ln>
            <a:noFill/>
          </a:ln>
        </p:spPr>
        <p:txBody>
          <a:bodyPr lIns="73152" tIns="73152" rIns="73152" bIns="73152" anchor="ctr"/>
          <a:lstStyle/>
          <a:p>
            <a:pPr marL="0" lvl="0" indent="0" algn="l"/>
            <a:r>
              <a:rPr lang="en-US" sz="2000" b="0" i="0">
                <a:solidFill>
                  <a:srgbClr val="172033"/>
                </a:solidFill>
                <a:latin typeface="Aptos"/>
              </a:rPr>
              <a:t>A regression test preserves the bug fix.</a:t>
            </a:r>
          </a:p>
        </p:txBody>
      </p:sp>
      <p:sp>
        <p:nvSpPr>
          <p:cNvPr id="17" name="TextBox 70"/>
          <p:cNvSpPr/>
          <p:nvPr/>
        </p:nvSpPr>
        <p:spPr>
          <a:xfrm>
            <a:off x="868680" y="5230368"/>
            <a:ext cx="10332720" cy="347472"/>
          </a:xfrm>
          <a:noFill/>
          <a:ln>
            <a:noFill/>
          </a:ln>
        </p:spPr>
        <p:txBody>
          <a:bodyPr lIns="73152" tIns="73152" rIns="73152" bIns="73152" anchor="ctr"/>
          <a:lstStyle/>
          <a:p>
            <a:pPr marL="0" lvl="0" indent="0" algn="ctr"/>
            <a:r>
              <a:rPr lang="en-US" sz="2000" b="1" i="0">
                <a:solidFill>
                  <a:srgbClr val="172033"/>
                </a:solidFill>
                <a:latin typeface="Aptos"/>
              </a:rPr>
              <a:t>Core principle: the cheaper it is to run a check, the more often you can use it.</a:t>
            </a:r>
          </a:p>
        </p:txBody>
      </p:sp>
      <p:sp>
        <p:nvSpPr>
          <p:cNvPr id="19" name="Line 903"/>
          <p:cNvSpPr/>
          <p:nvPr/>
        </p:nvSpPr>
        <p:spPr>
          <a:xfrm>
            <a:off x="594360" y="6446520"/>
            <a:ext cx="10972800" cy="9144"/>
          </a:xfrm>
          <a:ln w="12700">
            <a:solidFill>
              <a:srgbClr val="D5DDE7"/>
            </a:solidFill>
          </a:ln>
        </p:spPr>
        <p:txBody>
          <a:bodyPr/>
          <a:lstStyle/>
          <a:p>
            <a:endParaRPr lang="en-US"/>
          </a:p>
        </p:txBody>
      </p:sp>
      <p:sp>
        <p:nvSpPr>
          <p:cNvPr id="20" name="TextBox 904"/>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1" name="TextBox 905"/>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0EF754A4-3964-FA4A-BDF6-A2D271E35ED8}"/>
              </a:ext>
            </a:extLst>
          </p:cNvPr>
          <p:cNvPicPr>
            <a:picLocks noChangeAspect="1"/>
          </p:cNvPicPr>
          <p:nvPr/>
        </p:nvPicPr>
        <p:blipFill>
          <a:blip r:embed="rId3"/>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65F4158D-80D6-A2A9-B425-494F5F70E2B7}"/>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CI/CD turns local confidence </a:t>
            </a:r>
          </a:p>
          <a:p>
            <a:pPr marL="0" lvl="0" indent="0" algn="l"/>
            <a:r>
              <a:rPr lang="en-US" sz="3080" b="1" i="0" dirty="0">
                <a:solidFill>
                  <a:srgbClr val="172033"/>
                </a:solidFill>
                <a:latin typeface="Aptos"/>
              </a:rPr>
              <a:t>into shared confidence</a:t>
            </a:r>
          </a:p>
        </p:txBody>
      </p:sp>
      <p:sp>
        <p:nvSpPr>
          <p:cNvPr id="4" name="Rect 20"/>
          <p:cNvSpPr/>
          <p:nvPr/>
        </p:nvSpPr>
        <p:spPr>
          <a:xfrm>
            <a:off x="640080" y="1783080"/>
            <a:ext cx="2423160" cy="2423160"/>
          </a:xfrm>
          <a:prstGeom prst="roundRect">
            <a:avLst/>
          </a:prstGeom>
          <a:solidFill>
            <a:srgbClr val="FFFFFF"/>
          </a:solidFill>
          <a:ln>
            <a:solidFill>
              <a:srgbClr val="D5DDE7"/>
            </a:solidFill>
            <a:prstDash val="solid"/>
          </a:ln>
        </p:spPr>
        <p:txBody>
          <a:bodyPr/>
          <a:lstStyle/>
          <a:p>
            <a:endParaRPr lang="en-US"/>
          </a:p>
        </p:txBody>
      </p:sp>
      <p:sp>
        <p:nvSpPr>
          <p:cNvPr id="6" name="TextBox 40"/>
          <p:cNvSpPr/>
          <p:nvPr/>
        </p:nvSpPr>
        <p:spPr>
          <a:xfrm>
            <a:off x="1325880" y="1993392"/>
            <a:ext cx="1554480" cy="347472"/>
          </a:xfrm>
          <a:noFill/>
          <a:ln>
            <a:noFill/>
          </a:ln>
        </p:spPr>
        <p:txBody>
          <a:bodyPr lIns="73152" tIns="73152" rIns="73152" bIns="73152" anchor="ctr"/>
          <a:lstStyle/>
          <a:p>
            <a:pPr marL="0" lvl="0" indent="0" algn="l"/>
            <a:r>
              <a:rPr lang="en-US" sz="2000" b="1" i="0">
                <a:solidFill>
                  <a:srgbClr val="172033"/>
                </a:solidFill>
                <a:latin typeface="Aptos"/>
              </a:rPr>
              <a:t>Change</a:t>
            </a:r>
          </a:p>
        </p:txBody>
      </p:sp>
      <p:sp>
        <p:nvSpPr>
          <p:cNvPr id="7" name="TextBox 50"/>
          <p:cNvSpPr/>
          <p:nvPr/>
        </p:nvSpPr>
        <p:spPr>
          <a:xfrm>
            <a:off x="841247" y="2670048"/>
            <a:ext cx="1965960" cy="914400"/>
          </a:xfrm>
          <a:noFill/>
          <a:ln>
            <a:noFill/>
          </a:ln>
        </p:spPr>
        <p:txBody>
          <a:bodyPr lIns="73152" tIns="73152" rIns="73152" bIns="73152" anchor="ctr"/>
          <a:lstStyle/>
          <a:p>
            <a:pPr marL="0" lvl="0" indent="0" algn="l"/>
            <a:r>
              <a:rPr lang="en-US" sz="2000" b="0" i="0" dirty="0">
                <a:solidFill>
                  <a:srgbClr val="172033"/>
                </a:solidFill>
                <a:latin typeface="Aptos"/>
              </a:rPr>
              <a:t>Push a change to the repository</a:t>
            </a:r>
          </a:p>
        </p:txBody>
      </p:sp>
      <p:sp>
        <p:nvSpPr>
          <p:cNvPr id="8" name="Line 60"/>
          <p:cNvSpPr/>
          <p:nvPr/>
        </p:nvSpPr>
        <p:spPr>
          <a:xfrm>
            <a:off x="3081528" y="2971800"/>
            <a:ext cx="320039" cy="9144"/>
          </a:xfrm>
          <a:ln w="38100">
            <a:solidFill>
              <a:srgbClr val="176B5A"/>
            </a:solidFill>
          </a:ln>
        </p:spPr>
        <p:txBody>
          <a:bodyPr/>
          <a:lstStyle/>
          <a:p>
            <a:endParaRPr lang="en-US" sz="2000"/>
          </a:p>
        </p:txBody>
      </p:sp>
      <p:sp>
        <p:nvSpPr>
          <p:cNvPr id="9" name="Rect 21"/>
          <p:cNvSpPr/>
          <p:nvPr/>
        </p:nvSpPr>
        <p:spPr>
          <a:xfrm>
            <a:off x="3456432" y="1783080"/>
            <a:ext cx="2423160" cy="2423160"/>
          </a:xfrm>
          <a:prstGeom prst="roundRect">
            <a:avLst/>
          </a:prstGeom>
          <a:solidFill>
            <a:srgbClr val="FFFFFF"/>
          </a:solidFill>
          <a:ln>
            <a:solidFill>
              <a:srgbClr val="D5DDE7"/>
            </a:solidFill>
            <a:prstDash val="solid"/>
          </a:ln>
        </p:spPr>
        <p:txBody>
          <a:bodyPr/>
          <a:lstStyle/>
          <a:p>
            <a:endParaRPr lang="en-US" dirty="0"/>
          </a:p>
        </p:txBody>
      </p:sp>
      <p:sp>
        <p:nvSpPr>
          <p:cNvPr id="11" name="TextBox 41"/>
          <p:cNvSpPr/>
          <p:nvPr/>
        </p:nvSpPr>
        <p:spPr>
          <a:xfrm>
            <a:off x="4153662" y="1965960"/>
            <a:ext cx="1554480" cy="347472"/>
          </a:xfrm>
          <a:noFill/>
          <a:ln>
            <a:noFill/>
          </a:ln>
        </p:spPr>
        <p:txBody>
          <a:bodyPr lIns="73152" tIns="73152" rIns="73152" bIns="73152" anchor="ctr"/>
          <a:lstStyle/>
          <a:p>
            <a:pPr marL="0" lvl="0" indent="0" algn="l"/>
            <a:r>
              <a:rPr lang="en-US" sz="2000" b="1" i="0" dirty="0">
                <a:solidFill>
                  <a:srgbClr val="172033"/>
                </a:solidFill>
                <a:latin typeface="Aptos"/>
              </a:rPr>
              <a:t>Trigger</a:t>
            </a:r>
          </a:p>
        </p:txBody>
      </p:sp>
      <p:sp>
        <p:nvSpPr>
          <p:cNvPr id="12" name="TextBox 51"/>
          <p:cNvSpPr/>
          <p:nvPr/>
        </p:nvSpPr>
        <p:spPr>
          <a:xfrm>
            <a:off x="3657600" y="2670048"/>
            <a:ext cx="1965960" cy="914400"/>
          </a:xfrm>
          <a:noFill/>
          <a:ln>
            <a:noFill/>
          </a:ln>
        </p:spPr>
        <p:txBody>
          <a:bodyPr lIns="73152" tIns="73152" rIns="73152" bIns="73152" anchor="ctr"/>
          <a:lstStyle/>
          <a:p>
            <a:pPr marL="0" lvl="0" indent="0" algn="l"/>
            <a:r>
              <a:rPr lang="en-US" sz="2000" b="0" i="0">
                <a:solidFill>
                  <a:srgbClr val="172033"/>
                </a:solidFill>
                <a:latin typeface="Aptos"/>
              </a:rPr>
              <a:t>CI starts on the repository event</a:t>
            </a:r>
          </a:p>
        </p:txBody>
      </p:sp>
      <p:sp>
        <p:nvSpPr>
          <p:cNvPr id="13" name="Line 61"/>
          <p:cNvSpPr/>
          <p:nvPr/>
        </p:nvSpPr>
        <p:spPr>
          <a:xfrm>
            <a:off x="5897880" y="2971800"/>
            <a:ext cx="320040" cy="9144"/>
          </a:xfrm>
          <a:ln w="38100">
            <a:solidFill>
              <a:srgbClr val="176B5A"/>
            </a:solidFill>
          </a:ln>
        </p:spPr>
        <p:txBody>
          <a:bodyPr/>
          <a:lstStyle/>
          <a:p>
            <a:endParaRPr lang="en-US" sz="2000"/>
          </a:p>
        </p:txBody>
      </p:sp>
      <p:sp>
        <p:nvSpPr>
          <p:cNvPr id="14" name="Rect 22"/>
          <p:cNvSpPr/>
          <p:nvPr/>
        </p:nvSpPr>
        <p:spPr>
          <a:xfrm>
            <a:off x="6272784" y="1783080"/>
            <a:ext cx="2423160" cy="2423160"/>
          </a:xfrm>
          <a:prstGeom prst="roundRect">
            <a:avLst/>
          </a:prstGeom>
          <a:solidFill>
            <a:srgbClr val="FFFFFF"/>
          </a:solidFill>
          <a:ln>
            <a:solidFill>
              <a:srgbClr val="D5DDE7"/>
            </a:solidFill>
            <a:prstDash val="solid"/>
          </a:ln>
        </p:spPr>
        <p:txBody>
          <a:bodyPr/>
          <a:lstStyle/>
          <a:p>
            <a:endParaRPr lang="en-US"/>
          </a:p>
        </p:txBody>
      </p:sp>
      <p:sp>
        <p:nvSpPr>
          <p:cNvPr id="16" name="TextBox 42"/>
          <p:cNvSpPr/>
          <p:nvPr/>
        </p:nvSpPr>
        <p:spPr>
          <a:xfrm>
            <a:off x="7141464" y="1965960"/>
            <a:ext cx="1554480" cy="347472"/>
          </a:xfrm>
          <a:noFill/>
          <a:ln>
            <a:noFill/>
          </a:ln>
        </p:spPr>
        <p:txBody>
          <a:bodyPr lIns="73152" tIns="73152" rIns="73152" bIns="73152" anchor="ctr"/>
          <a:lstStyle/>
          <a:p>
            <a:pPr marL="0" lvl="0" indent="0" algn="l"/>
            <a:r>
              <a:rPr lang="en-US" sz="2000" b="1" i="0" dirty="0">
                <a:solidFill>
                  <a:srgbClr val="172033"/>
                </a:solidFill>
                <a:latin typeface="Aptos"/>
              </a:rPr>
              <a:t>Verify</a:t>
            </a:r>
          </a:p>
        </p:txBody>
      </p:sp>
      <p:sp>
        <p:nvSpPr>
          <p:cNvPr id="17" name="TextBox 52"/>
          <p:cNvSpPr/>
          <p:nvPr/>
        </p:nvSpPr>
        <p:spPr>
          <a:xfrm>
            <a:off x="6473952" y="2670048"/>
            <a:ext cx="1965960" cy="914400"/>
          </a:xfrm>
          <a:noFill/>
          <a:ln>
            <a:noFill/>
          </a:ln>
        </p:spPr>
        <p:txBody>
          <a:bodyPr lIns="73152" tIns="73152" rIns="73152" bIns="73152" anchor="ctr"/>
          <a:lstStyle/>
          <a:p>
            <a:pPr marL="0" lvl="0" indent="0" algn="l"/>
            <a:r>
              <a:rPr lang="en-US" sz="2000" b="0" i="0">
                <a:solidFill>
                  <a:srgbClr val="172033"/>
                </a:solidFill>
                <a:latin typeface="Aptos"/>
              </a:rPr>
              <a:t>Build, tests and other checks run</a:t>
            </a:r>
          </a:p>
        </p:txBody>
      </p:sp>
      <p:sp>
        <p:nvSpPr>
          <p:cNvPr id="18" name="Line 62"/>
          <p:cNvSpPr/>
          <p:nvPr/>
        </p:nvSpPr>
        <p:spPr>
          <a:xfrm>
            <a:off x="8714232" y="2971800"/>
            <a:ext cx="320039" cy="9144"/>
          </a:xfrm>
          <a:ln w="38100">
            <a:solidFill>
              <a:srgbClr val="176B5A"/>
            </a:solidFill>
          </a:ln>
        </p:spPr>
        <p:txBody>
          <a:bodyPr/>
          <a:lstStyle/>
          <a:p>
            <a:endParaRPr lang="en-US" sz="2000"/>
          </a:p>
        </p:txBody>
      </p:sp>
      <p:sp>
        <p:nvSpPr>
          <p:cNvPr id="19" name="Rect 23"/>
          <p:cNvSpPr/>
          <p:nvPr/>
        </p:nvSpPr>
        <p:spPr>
          <a:xfrm>
            <a:off x="9089136" y="1783080"/>
            <a:ext cx="2423160" cy="2423160"/>
          </a:xfrm>
          <a:prstGeom prst="roundRect">
            <a:avLst/>
          </a:prstGeom>
          <a:solidFill>
            <a:srgbClr val="FFFFFF"/>
          </a:solidFill>
          <a:ln>
            <a:solidFill>
              <a:srgbClr val="D5DDE7"/>
            </a:solidFill>
            <a:prstDash val="solid"/>
          </a:ln>
        </p:spPr>
        <p:txBody>
          <a:bodyPr/>
          <a:lstStyle/>
          <a:p>
            <a:endParaRPr lang="en-US"/>
          </a:p>
        </p:txBody>
      </p:sp>
      <p:sp>
        <p:nvSpPr>
          <p:cNvPr id="21" name="TextBox 43"/>
          <p:cNvSpPr/>
          <p:nvPr/>
        </p:nvSpPr>
        <p:spPr>
          <a:xfrm>
            <a:off x="9774936" y="1993392"/>
            <a:ext cx="1554480" cy="347472"/>
          </a:xfrm>
          <a:noFill/>
          <a:ln>
            <a:noFill/>
          </a:ln>
        </p:spPr>
        <p:txBody>
          <a:bodyPr lIns="73152" tIns="73152" rIns="73152" bIns="73152" anchor="ctr"/>
          <a:lstStyle/>
          <a:p>
            <a:pPr marL="0" lvl="0" indent="0" algn="l"/>
            <a:r>
              <a:rPr lang="en-US" sz="2000" b="1" i="0">
                <a:solidFill>
                  <a:srgbClr val="172033"/>
                </a:solidFill>
                <a:latin typeface="Aptos"/>
              </a:rPr>
              <a:t>Report</a:t>
            </a:r>
          </a:p>
        </p:txBody>
      </p:sp>
      <p:sp>
        <p:nvSpPr>
          <p:cNvPr id="22" name="TextBox 53"/>
          <p:cNvSpPr/>
          <p:nvPr/>
        </p:nvSpPr>
        <p:spPr>
          <a:xfrm>
            <a:off x="9290304" y="2670048"/>
            <a:ext cx="1965960" cy="914400"/>
          </a:xfrm>
          <a:noFill/>
          <a:ln>
            <a:noFill/>
          </a:ln>
        </p:spPr>
        <p:txBody>
          <a:bodyPr lIns="73152" tIns="73152" rIns="73152" bIns="73152" anchor="ctr"/>
          <a:lstStyle/>
          <a:p>
            <a:pPr marL="0" lvl="0" indent="0" algn="l"/>
            <a:r>
              <a:rPr lang="en-US" sz="2000" b="0" i="0">
                <a:solidFill>
                  <a:srgbClr val="172033"/>
                </a:solidFill>
                <a:latin typeface="Aptos"/>
              </a:rPr>
              <a:t>Results appear where you can act</a:t>
            </a:r>
          </a:p>
        </p:txBody>
      </p:sp>
      <p:sp>
        <p:nvSpPr>
          <p:cNvPr id="24" name="TextBox 71"/>
          <p:cNvSpPr/>
          <p:nvPr/>
        </p:nvSpPr>
        <p:spPr>
          <a:xfrm>
            <a:off x="667512" y="4855464"/>
            <a:ext cx="10424160" cy="347472"/>
          </a:xfrm>
          <a:noFill/>
          <a:ln>
            <a:noFill/>
          </a:ln>
        </p:spPr>
        <p:txBody>
          <a:bodyPr lIns="73152" tIns="73152" rIns="73152" bIns="73152" anchor="ctr"/>
          <a:lstStyle/>
          <a:p>
            <a:pPr marL="0" lvl="0" indent="0" algn="ctr"/>
            <a:r>
              <a:rPr lang="en-US" b="1" i="0">
                <a:solidFill>
                  <a:srgbClr val="172033"/>
                </a:solidFill>
                <a:latin typeface="Aptos"/>
              </a:rPr>
              <a:t>Best practice: keep the CI path predictable, fast enough to use routinely, and visible to the team.</a:t>
            </a:r>
          </a:p>
        </p:txBody>
      </p:sp>
      <p:sp>
        <p:nvSpPr>
          <p:cNvPr id="26" name="Line 905"/>
          <p:cNvSpPr/>
          <p:nvPr/>
        </p:nvSpPr>
        <p:spPr>
          <a:xfrm>
            <a:off x="594360" y="6446520"/>
            <a:ext cx="10972800" cy="9144"/>
          </a:xfrm>
          <a:ln w="12700">
            <a:solidFill>
              <a:srgbClr val="D5DDE7"/>
            </a:solidFill>
          </a:ln>
        </p:spPr>
        <p:txBody>
          <a:bodyPr/>
          <a:lstStyle/>
          <a:p>
            <a:endParaRPr lang="en-US"/>
          </a:p>
        </p:txBody>
      </p:sp>
      <p:sp>
        <p:nvSpPr>
          <p:cNvPr id="27" name="TextBox 906"/>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8" name="TextBox 907"/>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68047B96-A255-DBA2-BCAB-C219A20794D8}"/>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CC513591-BD40-B142-4DA9-C893008B1C7A}"/>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4B1286E4-2A37-531D-CF59-2E47F6688A1D}"/>
            </a:ext>
          </a:extLst>
        </p:cNvPr>
        <p:cNvGrpSpPr/>
        <p:nvPr/>
      </p:nvGrpSpPr>
      <p:grpSpPr>
        <a:xfrm>
          <a:off x="0" y="0"/>
          <a:ext cx="0" cy="0"/>
          <a:chOff x="0" y="0"/>
          <a:chExt cx="0" cy="0"/>
        </a:xfrm>
      </p:grpSpPr>
      <p:sp>
        <p:nvSpPr>
          <p:cNvPr id="26" name="Line 905">
            <a:extLst>
              <a:ext uri="{FF2B5EF4-FFF2-40B4-BE49-F238E27FC236}">
                <a16:creationId xmlns:a16="http://schemas.microsoft.com/office/drawing/2014/main" id="{D508AE18-9AB8-4480-E975-E14C4CAA1142}"/>
              </a:ext>
            </a:extLst>
          </p:cNvPr>
          <p:cNvSpPr/>
          <p:nvPr/>
        </p:nvSpPr>
        <p:spPr>
          <a:xfrm>
            <a:off x="594360" y="6446520"/>
            <a:ext cx="10972800" cy="9144"/>
          </a:xfrm>
          <a:ln w="12700">
            <a:solidFill>
              <a:srgbClr val="D5DDE7"/>
            </a:solidFill>
          </a:ln>
        </p:spPr>
        <p:txBody>
          <a:bodyPr/>
          <a:lstStyle/>
          <a:p>
            <a:endParaRPr lang="en-US"/>
          </a:p>
        </p:txBody>
      </p:sp>
      <p:sp>
        <p:nvSpPr>
          <p:cNvPr id="27" name="TextBox 906">
            <a:extLst>
              <a:ext uri="{FF2B5EF4-FFF2-40B4-BE49-F238E27FC236}">
                <a16:creationId xmlns:a16="http://schemas.microsoft.com/office/drawing/2014/main" id="{0FD3BDE5-0B8D-9E62-3A0B-B3C265B0B292}"/>
              </a:ext>
            </a:extLst>
          </p:cNvPr>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8" name="TextBox 907">
            <a:extLst>
              <a:ext uri="{FF2B5EF4-FFF2-40B4-BE49-F238E27FC236}">
                <a16:creationId xmlns:a16="http://schemas.microsoft.com/office/drawing/2014/main" id="{BF0F7299-5152-B9E2-AAD1-AD5E4414AE4A}"/>
              </a:ext>
            </a:extLst>
          </p:cNvPr>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41CBCC5C-7833-C189-80F1-5092EC878B75}"/>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B769CB5E-DC16-8D83-4F2D-9EE664025E0B}"/>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10" name="TextBox 9">
            <a:extLst>
              <a:ext uri="{FF2B5EF4-FFF2-40B4-BE49-F238E27FC236}">
                <a16:creationId xmlns:a16="http://schemas.microsoft.com/office/drawing/2014/main" id="{5927740C-E1C2-B249-13DA-3F6EFC0F51E4}"/>
              </a:ext>
            </a:extLst>
          </p:cNvPr>
          <p:cNvSpPr txBox="1"/>
          <p:nvPr/>
        </p:nvSpPr>
        <p:spPr>
          <a:xfrm>
            <a:off x="3573503" y="3167390"/>
            <a:ext cx="5014514" cy="523220"/>
          </a:xfrm>
          <a:prstGeom prst="rect">
            <a:avLst/>
          </a:prstGeom>
          <a:noFill/>
        </p:spPr>
        <p:txBody>
          <a:bodyPr wrap="none" rtlCol="0">
            <a:spAutoFit/>
          </a:bodyPr>
          <a:lstStyle/>
          <a:p>
            <a:r>
              <a:rPr lang="en-US" sz="2800" dirty="0">
                <a:latin typeface="+mn-lt"/>
              </a:rPr>
              <a:t>How to do this? Let’s get into it!</a:t>
            </a:r>
          </a:p>
        </p:txBody>
      </p:sp>
    </p:spTree>
    <p:extLst>
      <p:ext uri="{BB962C8B-B14F-4D97-AF65-F5344CB8AC3E}">
        <p14:creationId xmlns:p14="http://schemas.microsoft.com/office/powerpoint/2010/main" val="3403329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98ADF2A6-C539-F132-145F-16953B7AE3F8}"/>
            </a:ext>
          </a:extLst>
        </p:cNvPr>
        <p:cNvGrpSpPr/>
        <p:nvPr/>
      </p:nvGrpSpPr>
      <p:grpSpPr>
        <a:xfrm>
          <a:off x="0" y="0"/>
          <a:ext cx="0" cy="0"/>
          <a:chOff x="0" y="0"/>
          <a:chExt cx="0" cy="0"/>
        </a:xfrm>
      </p:grpSpPr>
      <p:sp>
        <p:nvSpPr>
          <p:cNvPr id="2" name="TextBox 10">
            <a:extLst>
              <a:ext uri="{FF2B5EF4-FFF2-40B4-BE49-F238E27FC236}">
                <a16:creationId xmlns:a16="http://schemas.microsoft.com/office/drawing/2014/main" id="{E202A9FD-145D-9DE8-A9D1-FAF224ABE7D3}"/>
              </a:ext>
            </a:extLst>
          </p:cNvPr>
          <p:cNvSpPr/>
          <p:nvPr/>
        </p:nvSpPr>
        <p:spPr>
          <a:xfrm>
            <a:off x="594360" y="320040"/>
            <a:ext cx="10972800" cy="256032"/>
          </a:xfrm>
          <a:noFill/>
          <a:ln>
            <a:noFill/>
          </a:ln>
        </p:spPr>
        <p:txBody>
          <a:bodyPr lIns="73152" tIns="73152" rIns="73152" bIns="73152" anchor="ctr"/>
          <a:lstStyle/>
          <a:p>
            <a:pPr marL="0" lvl="0" indent="0" algn="l"/>
            <a:endParaRPr lang="en-US" sz="1050" b="1" i="0">
              <a:solidFill>
                <a:srgbClr val="172033"/>
              </a:solidFill>
              <a:latin typeface="Aptos"/>
            </a:endParaRPr>
          </a:p>
        </p:txBody>
      </p:sp>
      <p:sp>
        <p:nvSpPr>
          <p:cNvPr id="3" name="TextBox 11">
            <a:extLst>
              <a:ext uri="{FF2B5EF4-FFF2-40B4-BE49-F238E27FC236}">
                <a16:creationId xmlns:a16="http://schemas.microsoft.com/office/drawing/2014/main" id="{DDEE65FF-61FE-3E32-7C68-55279EB175A3}"/>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Always check if </a:t>
            </a:r>
            <a:r>
              <a:rPr lang="en-US" sz="3080" b="1" dirty="0">
                <a:solidFill>
                  <a:srgbClr val="172033"/>
                </a:solidFill>
                <a:latin typeface="Aptos"/>
              </a:rPr>
              <a:t>the program</a:t>
            </a:r>
            <a:r>
              <a:rPr lang="en-US" sz="3080" b="1" i="0" dirty="0">
                <a:solidFill>
                  <a:srgbClr val="172033"/>
                </a:solidFill>
                <a:latin typeface="Aptos"/>
              </a:rPr>
              <a:t> makes sense!</a:t>
            </a:r>
          </a:p>
        </p:txBody>
      </p:sp>
      <p:pic>
        <p:nvPicPr>
          <p:cNvPr id="32" name="Picture 31">
            <a:extLst>
              <a:ext uri="{FF2B5EF4-FFF2-40B4-BE49-F238E27FC236}">
                <a16:creationId xmlns:a16="http://schemas.microsoft.com/office/drawing/2014/main" id="{DDBA9C4E-5260-CB17-776F-9B34FD682224}"/>
              </a:ext>
            </a:extLst>
          </p:cNvPr>
          <p:cNvPicPr>
            <a:picLocks noChangeAspect="1"/>
          </p:cNvPicPr>
          <p:nvPr/>
        </p:nvPicPr>
        <p:blipFill>
          <a:blip r:embed="rId3"/>
          <a:srcRect l="2283" t="12331" r="1903" b="1605"/>
          <a:stretch>
            <a:fillRect/>
          </a:stretch>
        </p:blipFill>
        <p:spPr>
          <a:xfrm>
            <a:off x="3817134" y="1806364"/>
            <a:ext cx="4557732" cy="3245272"/>
          </a:xfrm>
          <a:prstGeom prst="rect">
            <a:avLst/>
          </a:prstGeom>
        </p:spPr>
      </p:pic>
      <p:pic>
        <p:nvPicPr>
          <p:cNvPr id="4" name="Picture 3">
            <a:extLst>
              <a:ext uri="{FF2B5EF4-FFF2-40B4-BE49-F238E27FC236}">
                <a16:creationId xmlns:a16="http://schemas.microsoft.com/office/drawing/2014/main" id="{62FCB1F5-558F-A2CC-223C-C1FF61ED75D7}"/>
              </a:ext>
            </a:extLst>
          </p:cNvPr>
          <p:cNvPicPr>
            <a:picLocks noChangeAspect="1"/>
          </p:cNvPicPr>
          <p:nvPr/>
        </p:nvPicPr>
        <p:blipFill>
          <a:blip r:embed="rId4"/>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49DA0A8E-22EA-9BB9-5A6A-5E1D9CBB8B9C}"/>
              </a:ext>
            </a:extLst>
          </p:cNvPr>
          <p:cNvPicPr>
            <a:picLocks noChangeAspect="1"/>
          </p:cNvPicPr>
          <p:nvPr/>
        </p:nvPicPr>
        <p:blipFill>
          <a:blip r:embed="rId5"/>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983628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Why this script is awkward to test</a:t>
            </a:r>
          </a:p>
        </p:txBody>
      </p:sp>
      <p:sp>
        <p:nvSpPr>
          <p:cNvPr id="4" name="Rect 20"/>
          <p:cNvSpPr/>
          <p:nvPr/>
        </p:nvSpPr>
        <p:spPr>
          <a:xfrm>
            <a:off x="594360" y="1554480"/>
            <a:ext cx="6675120" cy="425196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595" b="0" i="0" dirty="0">
                <a:solidFill>
                  <a:srgbClr val="172033"/>
                </a:solidFill>
                <a:latin typeface="Courier New"/>
              </a:rPr>
              <a:t>data  = np.loadtxt('data.txt')</a:t>
            </a:r>
          </a:p>
          <a:p>
            <a:pPr marL="0" lvl="0" indent="0" algn="l"/>
            <a:r>
              <a:rPr lang="en-US" sz="1595" b="0" i="0" dirty="0">
                <a:solidFill>
                  <a:srgbClr val="172033"/>
                </a:solidFill>
                <a:latin typeface="Courier New"/>
              </a:rPr>
              <a:t>model = np.loadtxt('</a:t>
            </a:r>
            <a:r>
              <a:rPr lang="en-US" sz="1595" b="0" i="0" dirty="0" err="1">
                <a:solidFill>
                  <a:srgbClr val="172033"/>
                </a:solidFill>
                <a:latin typeface="Courier New"/>
              </a:rPr>
              <a:t>design.txt</a:t>
            </a:r>
            <a:r>
              <a:rPr lang="en-US" sz="1595" b="0" i="0" dirty="0">
                <a:solidFill>
                  <a:srgbClr val="172033"/>
                </a:solidFill>
                <a:latin typeface="Courier New"/>
              </a:rPr>
              <a:t>')</a:t>
            </a:r>
          </a:p>
          <a:p>
            <a:pPr marL="0" lvl="0" indent="0" algn="l"/>
            <a:endParaRPr lang="en-US" sz="1595" b="0" i="0" dirty="0">
              <a:solidFill>
                <a:srgbClr val="172033"/>
              </a:solidFill>
              <a:latin typeface="Courier New"/>
            </a:endParaRPr>
          </a:p>
          <a:p>
            <a:pPr marL="0" lvl="0" indent="0" algn="l"/>
            <a:r>
              <a:rPr lang="en-US" sz="1595" b="0" i="0" dirty="0">
                <a:solidFill>
                  <a:srgbClr val="172033"/>
                </a:solidFill>
                <a:latin typeface="Courier New"/>
              </a:rPr>
              <a:t>fit   = </a:t>
            </a:r>
            <a:r>
              <a:rPr lang="en-US" sz="1595" b="0" i="0" dirty="0" err="1">
                <a:solidFill>
                  <a:srgbClr val="172033"/>
                </a:solidFill>
                <a:latin typeface="Courier New"/>
              </a:rPr>
              <a:t>np.linalg.inv</a:t>
            </a:r>
            <a:r>
              <a:rPr lang="en-US" sz="1595" b="0" i="0" dirty="0">
                <a:solidFill>
                  <a:srgbClr val="172033"/>
                </a:solidFill>
                <a:latin typeface="Courier New"/>
              </a:rPr>
              <a:t>(</a:t>
            </a:r>
            <a:r>
              <a:rPr lang="en-US" sz="1595" b="0" i="0" dirty="0" err="1">
                <a:solidFill>
                  <a:srgbClr val="172033"/>
                </a:solidFill>
                <a:latin typeface="Courier New"/>
              </a:rPr>
              <a:t>model.T</a:t>
            </a:r>
            <a:r>
              <a:rPr lang="en-US" sz="1595" b="0" i="0" dirty="0">
                <a:solidFill>
                  <a:srgbClr val="172033"/>
                </a:solidFill>
                <a:latin typeface="Courier New"/>
              </a:rPr>
              <a:t> @ model) @ </a:t>
            </a:r>
            <a:r>
              <a:rPr lang="en-US" sz="1595" b="0" i="0" dirty="0" err="1">
                <a:solidFill>
                  <a:srgbClr val="172033"/>
                </a:solidFill>
                <a:latin typeface="Courier New"/>
              </a:rPr>
              <a:t>model.T</a:t>
            </a:r>
            <a:r>
              <a:rPr lang="en-US" sz="1595" b="0" i="0" dirty="0">
                <a:solidFill>
                  <a:srgbClr val="172033"/>
                </a:solidFill>
                <a:latin typeface="Courier New"/>
              </a:rPr>
              <a:t>    	@ data</a:t>
            </a:r>
          </a:p>
          <a:p>
            <a:pPr marL="0" lvl="0" indent="0" algn="l"/>
            <a:r>
              <a:rPr lang="en-US" sz="1595" b="0" i="0" dirty="0">
                <a:solidFill>
                  <a:srgbClr val="172033"/>
                </a:solidFill>
                <a:latin typeface="Courier New"/>
              </a:rPr>
              <a:t>error = data - (model @ fit)</a:t>
            </a:r>
          </a:p>
          <a:p>
            <a:pPr marL="0" lvl="0" indent="0" algn="l"/>
            <a:endParaRPr lang="en-US" sz="1595" b="0" i="0" dirty="0">
              <a:solidFill>
                <a:srgbClr val="172033"/>
              </a:solidFill>
              <a:latin typeface="Courier New"/>
            </a:endParaRPr>
          </a:p>
          <a:p>
            <a:pPr marL="0" lvl="0" indent="0" algn="l"/>
            <a:r>
              <a:rPr lang="en-US" sz="1595" b="0" i="0" dirty="0" err="1">
                <a:solidFill>
                  <a:srgbClr val="172033"/>
                </a:solidFill>
                <a:latin typeface="Courier New"/>
              </a:rPr>
              <a:t>np.savetxt</a:t>
            </a:r>
            <a:r>
              <a:rPr lang="en-US" sz="1595" b="0" i="0" dirty="0">
                <a:solidFill>
                  <a:srgbClr val="172033"/>
                </a:solidFill>
                <a:latin typeface="Courier New"/>
              </a:rPr>
              <a:t>('</a:t>
            </a:r>
            <a:r>
              <a:rPr lang="en-US" sz="1595" b="0" i="0" dirty="0" err="1">
                <a:solidFill>
                  <a:srgbClr val="172033"/>
                </a:solidFill>
                <a:latin typeface="Courier New"/>
              </a:rPr>
              <a:t>pes.txt</a:t>
            </a:r>
            <a:r>
              <a:rPr lang="en-US" sz="1595" b="0" i="0" dirty="0">
                <a:solidFill>
                  <a:srgbClr val="172033"/>
                </a:solidFill>
                <a:latin typeface="Courier New"/>
              </a:rPr>
              <a:t>', fit)</a:t>
            </a:r>
          </a:p>
          <a:p>
            <a:pPr marL="0" lvl="0" indent="0" algn="l"/>
            <a:r>
              <a:rPr lang="en-US" sz="1595" b="0" i="0" dirty="0" err="1">
                <a:solidFill>
                  <a:srgbClr val="172033"/>
                </a:solidFill>
                <a:latin typeface="Courier New"/>
              </a:rPr>
              <a:t>np.savetxt</a:t>
            </a:r>
            <a:r>
              <a:rPr lang="en-US" sz="1595" b="0" i="0" dirty="0">
                <a:solidFill>
                  <a:srgbClr val="172033"/>
                </a:solidFill>
                <a:latin typeface="Courier New"/>
              </a:rPr>
              <a:t>('</a:t>
            </a:r>
            <a:r>
              <a:rPr lang="en-US" sz="1595" b="0" i="0" dirty="0" err="1">
                <a:solidFill>
                  <a:srgbClr val="172033"/>
                </a:solidFill>
                <a:latin typeface="Courier New"/>
              </a:rPr>
              <a:t>residuals.txt</a:t>
            </a:r>
            <a:r>
              <a:rPr lang="en-US" sz="1595" b="0" i="0" dirty="0">
                <a:solidFill>
                  <a:srgbClr val="172033"/>
                </a:solidFill>
                <a:latin typeface="Courier New"/>
              </a:rPr>
              <a:t>', error)</a:t>
            </a:r>
          </a:p>
        </p:txBody>
      </p:sp>
      <p:sp>
        <p:nvSpPr>
          <p:cNvPr id="6" name="TextBox 31"/>
          <p:cNvSpPr/>
          <p:nvPr/>
        </p:nvSpPr>
        <p:spPr>
          <a:xfrm>
            <a:off x="7948747" y="1810512"/>
            <a:ext cx="3474720" cy="402336"/>
          </a:xfrm>
          <a:noFill/>
          <a:ln>
            <a:noFill/>
          </a:ln>
        </p:spPr>
        <p:txBody>
          <a:bodyPr lIns="73152" tIns="73152" rIns="73152" bIns="73152" anchor="ctr"/>
          <a:lstStyle/>
          <a:p>
            <a:pPr marL="0" lvl="0" indent="0" algn="l"/>
            <a:r>
              <a:rPr lang="en-US" sz="2000" b="1" i="0">
                <a:solidFill>
                  <a:srgbClr val="172033"/>
                </a:solidFill>
                <a:latin typeface="Aptos"/>
              </a:rPr>
              <a:t>I/O + maths are coupled</a:t>
            </a:r>
          </a:p>
        </p:txBody>
      </p:sp>
      <p:sp>
        <p:nvSpPr>
          <p:cNvPr id="7" name="TextBox 32"/>
          <p:cNvSpPr/>
          <p:nvPr/>
        </p:nvSpPr>
        <p:spPr>
          <a:xfrm>
            <a:off x="7948747" y="2286000"/>
            <a:ext cx="3383280" cy="384048"/>
          </a:xfrm>
          <a:noFill/>
          <a:ln>
            <a:noFill/>
          </a:ln>
        </p:spPr>
        <p:txBody>
          <a:bodyPr lIns="73152" tIns="73152" rIns="73152" bIns="73152" anchor="ctr"/>
          <a:lstStyle/>
          <a:p>
            <a:pPr marL="0" lvl="0" indent="0" algn="l"/>
            <a:r>
              <a:rPr lang="en-US" sz="1400" b="0" i="0">
                <a:solidFill>
                  <a:srgbClr val="172033"/>
                </a:solidFill>
                <a:latin typeface="Aptos"/>
              </a:rPr>
              <a:t>Every test must run the whole script</a:t>
            </a:r>
          </a:p>
        </p:txBody>
      </p:sp>
      <p:sp>
        <p:nvSpPr>
          <p:cNvPr id="9" name="TextBox 34"/>
          <p:cNvSpPr/>
          <p:nvPr/>
        </p:nvSpPr>
        <p:spPr>
          <a:xfrm>
            <a:off x="7948747" y="3246120"/>
            <a:ext cx="3474720" cy="384048"/>
          </a:xfrm>
          <a:noFill/>
          <a:ln>
            <a:noFill/>
          </a:ln>
        </p:spPr>
        <p:txBody>
          <a:bodyPr lIns="73152" tIns="73152" rIns="73152" bIns="73152" anchor="ctr"/>
          <a:lstStyle/>
          <a:p>
            <a:pPr marL="0" lvl="0" indent="0" algn="l"/>
            <a:r>
              <a:rPr lang="en-US" b="1" i="0" dirty="0">
                <a:solidFill>
                  <a:srgbClr val="172033"/>
                </a:solidFill>
                <a:latin typeface="Aptos"/>
              </a:rPr>
              <a:t>What each test needs</a:t>
            </a:r>
          </a:p>
        </p:txBody>
      </p:sp>
      <p:sp>
        <p:nvSpPr>
          <p:cNvPr id="10" name="TextBox 35"/>
          <p:cNvSpPr/>
          <p:nvPr/>
        </p:nvSpPr>
        <p:spPr>
          <a:xfrm>
            <a:off x="7994467" y="3703320"/>
            <a:ext cx="3200400" cy="274320"/>
          </a:xfrm>
          <a:noFill/>
          <a:ln>
            <a:noFill/>
          </a:ln>
        </p:spPr>
        <p:txBody>
          <a:bodyPr lIns="73152" tIns="73152" rIns="73152" bIns="73152" anchor="ctr"/>
          <a:lstStyle/>
          <a:p>
            <a:pPr marL="0" lvl="0" indent="0" algn="l"/>
            <a:r>
              <a:rPr lang="en-US" sz="1400" b="0" i="0">
                <a:solidFill>
                  <a:srgbClr val="172033"/>
                </a:solidFill>
                <a:latin typeface="Aptos"/>
              </a:rPr>
              <a:t>1  create input files</a:t>
            </a:r>
          </a:p>
        </p:txBody>
      </p:sp>
      <p:sp>
        <p:nvSpPr>
          <p:cNvPr id="11" name="TextBox 36"/>
          <p:cNvSpPr/>
          <p:nvPr/>
        </p:nvSpPr>
        <p:spPr>
          <a:xfrm>
            <a:off x="7994467" y="4032504"/>
            <a:ext cx="3200400" cy="274320"/>
          </a:xfrm>
          <a:noFill/>
          <a:ln>
            <a:noFill/>
          </a:ln>
        </p:spPr>
        <p:txBody>
          <a:bodyPr lIns="73152" tIns="73152" rIns="73152" bIns="73152" anchor="ctr"/>
          <a:lstStyle/>
          <a:p>
            <a:pPr marL="0" lvl="0" indent="0" algn="l"/>
            <a:r>
              <a:rPr lang="en-US" sz="1400" b="0" i="0">
                <a:solidFill>
                  <a:srgbClr val="172033"/>
                </a:solidFill>
                <a:latin typeface="Aptos"/>
              </a:rPr>
              <a:t>2  run a process</a:t>
            </a:r>
          </a:p>
        </p:txBody>
      </p:sp>
      <p:sp>
        <p:nvSpPr>
          <p:cNvPr id="12" name="TextBox 37"/>
          <p:cNvSpPr/>
          <p:nvPr/>
        </p:nvSpPr>
        <p:spPr>
          <a:xfrm>
            <a:off x="7994467" y="4361688"/>
            <a:ext cx="3200400" cy="274320"/>
          </a:xfrm>
          <a:noFill/>
          <a:ln>
            <a:noFill/>
          </a:ln>
        </p:spPr>
        <p:txBody>
          <a:bodyPr lIns="73152" tIns="73152" rIns="73152" bIns="73152" anchor="ctr"/>
          <a:lstStyle/>
          <a:p>
            <a:pPr marL="0" lvl="0" indent="0" algn="l"/>
            <a:r>
              <a:rPr lang="en-US" sz="1400" b="0" i="0">
                <a:solidFill>
                  <a:srgbClr val="172033"/>
                </a:solidFill>
                <a:latin typeface="Aptos"/>
              </a:rPr>
              <a:t>3  inspect output files</a:t>
            </a:r>
          </a:p>
        </p:txBody>
      </p:sp>
      <p:sp>
        <p:nvSpPr>
          <p:cNvPr id="13" name="TextBox 40"/>
          <p:cNvSpPr/>
          <p:nvPr/>
        </p:nvSpPr>
        <p:spPr>
          <a:xfrm>
            <a:off x="594360" y="5989320"/>
            <a:ext cx="10789920" cy="347472"/>
          </a:xfrm>
          <a:noFill/>
          <a:ln>
            <a:noFill/>
          </a:ln>
        </p:spPr>
        <p:txBody>
          <a:bodyPr lIns="73152" tIns="73152" rIns="73152" bIns="73152" anchor="ctr"/>
          <a:lstStyle/>
          <a:p>
            <a:pPr marL="0" lvl="0" indent="0" algn="l"/>
            <a:r>
              <a:rPr lang="en-US" sz="2000" b="1" i="0">
                <a:solidFill>
                  <a:srgbClr val="172033"/>
                </a:solidFill>
                <a:latin typeface="Aptos"/>
              </a:rPr>
              <a:t>Problem: the structure makes programmatic testing complicated.</a:t>
            </a:r>
          </a:p>
        </p:txBody>
      </p:sp>
      <p:sp>
        <p:nvSpPr>
          <p:cNvPr id="14" name="Line 903"/>
          <p:cNvSpPr/>
          <p:nvPr/>
        </p:nvSpPr>
        <p:spPr>
          <a:xfrm>
            <a:off x="594360" y="6446520"/>
            <a:ext cx="10972800" cy="9144"/>
          </a:xfrm>
          <a:ln w="12700">
            <a:solidFill>
              <a:srgbClr val="D5DDE7"/>
            </a:solidFill>
          </a:ln>
        </p:spPr>
        <p:txBody>
          <a:bodyPr/>
          <a:lstStyle/>
          <a:p>
            <a:endParaRPr lang="en-US"/>
          </a:p>
        </p:txBody>
      </p:sp>
      <p:sp>
        <p:nvSpPr>
          <p:cNvPr id="15" name="TextBox 904"/>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6" name="TextBox 905"/>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E890A556-B9D1-B5C9-AD58-C304367A7F85}"/>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B6CE63DB-D99F-8258-0916-C2119C1105F3}"/>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Elevate the core logic into a function</a:t>
            </a:r>
          </a:p>
        </p:txBody>
      </p:sp>
      <p:sp>
        <p:nvSpPr>
          <p:cNvPr id="5" name="TextBox 21"/>
          <p:cNvSpPr/>
          <p:nvPr/>
        </p:nvSpPr>
        <p:spPr>
          <a:xfrm>
            <a:off x="2423160" y="1874519"/>
            <a:ext cx="1577340" cy="365760"/>
          </a:xfrm>
          <a:noFill/>
          <a:ln>
            <a:noFill/>
          </a:ln>
        </p:spPr>
        <p:txBody>
          <a:bodyPr lIns="73152" tIns="73152" rIns="73152" bIns="73152" anchor="ctr"/>
          <a:lstStyle/>
          <a:p>
            <a:pPr marL="0" lvl="0" indent="0" algn="l"/>
            <a:r>
              <a:rPr lang="en-US" sz="1600" b="1" i="0" dirty="0">
                <a:solidFill>
                  <a:srgbClr val="172033"/>
                </a:solidFill>
                <a:latin typeface="Aptos"/>
              </a:rPr>
              <a:t>CORE LOGIC</a:t>
            </a:r>
          </a:p>
        </p:txBody>
      </p:sp>
      <p:sp>
        <p:nvSpPr>
          <p:cNvPr id="6" name="Rect 22"/>
          <p:cNvSpPr/>
          <p:nvPr/>
        </p:nvSpPr>
        <p:spPr>
          <a:xfrm>
            <a:off x="841248" y="2423160"/>
            <a:ext cx="4224528" cy="23317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375" b="0" i="0" dirty="0">
                <a:solidFill>
                  <a:srgbClr val="172033"/>
                </a:solidFill>
                <a:latin typeface="Courier New"/>
              </a:rPr>
              <a:t>def </a:t>
            </a:r>
            <a:r>
              <a:rPr lang="en-US" sz="1375" b="0" i="0" dirty="0" err="1">
                <a:solidFill>
                  <a:srgbClr val="172033"/>
                </a:solidFill>
                <a:latin typeface="Courier New"/>
              </a:rPr>
              <a:t>ols</a:t>
            </a:r>
            <a:r>
              <a:rPr lang="en-US" sz="1375" b="0" i="0" dirty="0">
                <a:solidFill>
                  <a:srgbClr val="172033"/>
                </a:solidFill>
                <a:latin typeface="Courier New"/>
              </a:rPr>
              <a:t>(data, model):</a:t>
            </a:r>
          </a:p>
          <a:p>
            <a:pPr algn="l"/>
            <a:r>
              <a:rPr lang="en-US" sz="1375" b="0" i="0" dirty="0">
                <a:solidFill>
                  <a:srgbClr val="172033"/>
                </a:solidFill>
                <a:latin typeface="Courier New"/>
              </a:rPr>
              <a:t>    </a:t>
            </a:r>
          </a:p>
          <a:p>
            <a:pPr algn="l"/>
            <a:r>
              <a:rPr lang="en-US" sz="1375" dirty="0">
                <a:solidFill>
                  <a:srgbClr val="172033"/>
                </a:solidFill>
                <a:latin typeface="Courier New"/>
              </a:rPr>
              <a:t>    </a:t>
            </a:r>
            <a:r>
              <a:rPr lang="en-US" sz="1375" b="0" i="0" dirty="0">
                <a:solidFill>
                  <a:srgbClr val="172033"/>
                </a:solidFill>
                <a:latin typeface="Courier New"/>
              </a:rPr>
              <a:t>fit = </a:t>
            </a:r>
            <a:r>
              <a:rPr lang="en-US" sz="1375" b="0" i="0" dirty="0" err="1">
                <a:solidFill>
                  <a:srgbClr val="172033"/>
                </a:solidFill>
                <a:latin typeface="Courier New"/>
              </a:rPr>
              <a:t>np.linalg.inv</a:t>
            </a:r>
            <a:r>
              <a:rPr lang="en-US" sz="1375" b="0" i="0" dirty="0">
                <a:solidFill>
                  <a:srgbClr val="172033"/>
                </a:solidFill>
                <a:latin typeface="Courier New"/>
              </a:rPr>
              <a:t>(</a:t>
            </a:r>
            <a:r>
              <a:rPr lang="en-US" sz="1380" dirty="0" err="1">
                <a:latin typeface="Courier New" panose="02070309020205020404" pitchFamily="49" charset="0"/>
                <a:cs typeface="Courier New" panose="02070309020205020404" pitchFamily="49" charset="0"/>
              </a:rPr>
              <a:t>model.T</a:t>
            </a:r>
            <a:r>
              <a:rPr lang="en-US" sz="1380" dirty="0">
                <a:latin typeface="Courier New" panose="02070309020205020404" pitchFamily="49" charset="0"/>
                <a:cs typeface="Courier New" panose="02070309020205020404" pitchFamily="49" charset="0"/>
              </a:rPr>
              <a:t> @ 		model) @ </a:t>
            </a:r>
            <a:r>
              <a:rPr lang="en-US" sz="1380" dirty="0" err="1">
                <a:latin typeface="Courier New" panose="02070309020205020404" pitchFamily="49" charset="0"/>
                <a:cs typeface="Courier New" panose="02070309020205020404" pitchFamily="49" charset="0"/>
              </a:rPr>
              <a:t>model.T</a:t>
            </a:r>
            <a:r>
              <a:rPr lang="en-US" sz="1380" dirty="0">
                <a:latin typeface="Courier New" panose="02070309020205020404" pitchFamily="49" charset="0"/>
                <a:cs typeface="Courier New" panose="02070309020205020404" pitchFamily="49" charset="0"/>
              </a:rPr>
              <a:t> @ data</a:t>
            </a:r>
            <a:endParaRPr lang="en-US" sz="1375" b="0" i="0" dirty="0">
              <a:solidFill>
                <a:srgbClr val="172033"/>
              </a:solidFill>
              <a:latin typeface="Courier New"/>
            </a:endParaRPr>
          </a:p>
          <a:p>
            <a:pPr marL="0" lvl="0" indent="0" algn="l"/>
            <a:r>
              <a:rPr lang="en-US" sz="1375" b="0" i="0" dirty="0">
                <a:solidFill>
                  <a:srgbClr val="172033"/>
                </a:solidFill>
                <a:latin typeface="Courier New"/>
              </a:rPr>
              <a:t>    error = data - (model @ fit)</a:t>
            </a:r>
          </a:p>
          <a:p>
            <a:pPr marL="0" lvl="0" indent="0" algn="l"/>
            <a:r>
              <a:rPr lang="en-US" sz="1375" b="0" i="0" dirty="0">
                <a:solidFill>
                  <a:srgbClr val="172033"/>
                </a:solidFill>
                <a:latin typeface="Courier New"/>
              </a:rPr>
              <a:t>    </a:t>
            </a:r>
          </a:p>
          <a:p>
            <a:pPr marL="0" lvl="0" indent="0" algn="l"/>
            <a:r>
              <a:rPr lang="en-US" sz="1375" b="0" i="0" dirty="0">
                <a:solidFill>
                  <a:srgbClr val="172033"/>
                </a:solidFill>
                <a:latin typeface="Courier New"/>
              </a:rPr>
              <a:t>    return fit, error</a:t>
            </a:r>
          </a:p>
        </p:txBody>
      </p:sp>
      <p:sp>
        <p:nvSpPr>
          <p:cNvPr id="8" name="TextBox 31"/>
          <p:cNvSpPr/>
          <p:nvPr/>
        </p:nvSpPr>
        <p:spPr>
          <a:xfrm>
            <a:off x="8145780" y="1828800"/>
            <a:ext cx="3246120" cy="365760"/>
          </a:xfrm>
          <a:noFill/>
          <a:ln>
            <a:noFill/>
          </a:ln>
        </p:spPr>
        <p:txBody>
          <a:bodyPr lIns="73152" tIns="73152" rIns="73152" bIns="73152" anchor="ctr"/>
          <a:lstStyle/>
          <a:p>
            <a:pPr marL="0" lvl="0" indent="0" algn="l"/>
            <a:r>
              <a:rPr lang="en-US" sz="1600" b="1" i="0" dirty="0">
                <a:solidFill>
                  <a:srgbClr val="172033"/>
                </a:solidFill>
                <a:latin typeface="Aptos"/>
              </a:rPr>
              <a:t>I/O BOUNDARY</a:t>
            </a:r>
          </a:p>
        </p:txBody>
      </p:sp>
      <p:sp>
        <p:nvSpPr>
          <p:cNvPr id="9" name="Rect 32"/>
          <p:cNvSpPr/>
          <p:nvPr/>
        </p:nvSpPr>
        <p:spPr>
          <a:xfrm>
            <a:off x="6748272" y="2423160"/>
            <a:ext cx="4462272" cy="23317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239" b="0" i="0">
                <a:solidFill>
                  <a:srgbClr val="172033"/>
                </a:solidFill>
                <a:latin typeface="Courier New"/>
              </a:rPr>
              <a:t>def main(</a:t>
            </a:r>
            <a:r>
              <a:rPr lang="en-US" sz="1239" b="0" i="0" err="1">
                <a:solidFill>
                  <a:srgbClr val="172033"/>
                </a:solidFill>
                <a:latin typeface="Courier New"/>
              </a:rPr>
              <a:t>args</a:t>
            </a:r>
            <a:r>
              <a:rPr lang="en-US" sz="1239" b="0" i="0">
                <a:solidFill>
                  <a:srgbClr val="172033"/>
                </a:solidFill>
                <a:latin typeface="Courier New"/>
              </a:rPr>
              <a:t>=None):</a:t>
            </a:r>
          </a:p>
          <a:p>
            <a:pPr marL="0" lvl="0" indent="0" algn="l"/>
            <a:r>
              <a:rPr lang="en-US" sz="1239" b="0" i="0">
                <a:solidFill>
                  <a:srgbClr val="172033"/>
                </a:solidFill>
                <a:latin typeface="Courier New"/>
              </a:rPr>
              <a:t>    </a:t>
            </a:r>
          </a:p>
          <a:p>
            <a:pPr marL="0" lvl="0" indent="0" algn="l"/>
            <a:r>
              <a:rPr lang="en-US" sz="1239">
                <a:solidFill>
                  <a:srgbClr val="172033"/>
                </a:solidFill>
                <a:latin typeface="Courier New"/>
              </a:rPr>
              <a:t>    </a:t>
            </a:r>
            <a:r>
              <a:rPr lang="en-US" sz="1239" b="0" i="0">
                <a:solidFill>
                  <a:srgbClr val="172033"/>
                </a:solidFill>
                <a:latin typeface="Courier New"/>
              </a:rPr>
              <a:t>data = </a:t>
            </a:r>
            <a:r>
              <a:rPr lang="en-US" sz="1239" b="0" i="0" err="1">
                <a:solidFill>
                  <a:srgbClr val="172033"/>
                </a:solidFill>
                <a:latin typeface="Courier New"/>
              </a:rPr>
              <a:t>np.loadtxt</a:t>
            </a:r>
            <a:r>
              <a:rPr lang="en-US" sz="1239" b="0" i="0">
                <a:solidFill>
                  <a:srgbClr val="172033"/>
                </a:solidFill>
                <a:latin typeface="Courier New"/>
              </a:rPr>
              <a:t>(datafile)</a:t>
            </a:r>
          </a:p>
          <a:p>
            <a:pPr marL="0" lvl="0" indent="0" algn="l"/>
            <a:r>
              <a:rPr lang="en-US" sz="1239">
                <a:solidFill>
                  <a:srgbClr val="172033"/>
                </a:solidFill>
                <a:latin typeface="Courier New"/>
              </a:rPr>
              <a:t>    </a:t>
            </a:r>
            <a:r>
              <a:rPr lang="en-US" sz="1239" b="0" i="0">
                <a:solidFill>
                  <a:srgbClr val="172033"/>
                </a:solidFill>
                <a:latin typeface="Courier New"/>
              </a:rPr>
              <a:t>model = </a:t>
            </a:r>
            <a:r>
              <a:rPr lang="en-US" sz="1239" b="0" i="0" err="1">
                <a:solidFill>
                  <a:srgbClr val="172033"/>
                </a:solidFill>
                <a:latin typeface="Courier New"/>
              </a:rPr>
              <a:t>np.loadtxt</a:t>
            </a:r>
            <a:r>
              <a:rPr lang="en-US" sz="1239" b="0" i="0">
                <a:solidFill>
                  <a:srgbClr val="172033"/>
                </a:solidFill>
                <a:latin typeface="Courier New"/>
              </a:rPr>
              <a:t>(</a:t>
            </a:r>
            <a:r>
              <a:rPr lang="en-US" sz="1239" b="0" i="0" err="1">
                <a:solidFill>
                  <a:srgbClr val="172033"/>
                </a:solidFill>
                <a:latin typeface="Courier New"/>
              </a:rPr>
              <a:t>designfile</a:t>
            </a:r>
            <a:r>
              <a:rPr lang="en-US" sz="1239" b="0" i="0">
                <a:solidFill>
                  <a:srgbClr val="172033"/>
                </a:solidFill>
                <a:latin typeface="Courier New"/>
              </a:rPr>
              <a:t>)</a:t>
            </a:r>
          </a:p>
          <a:p>
            <a:pPr marL="0" lvl="0" indent="0" algn="l"/>
            <a:endParaRPr lang="en-US" sz="1239" b="0" i="0">
              <a:solidFill>
                <a:srgbClr val="172033"/>
              </a:solidFill>
              <a:latin typeface="Courier New"/>
            </a:endParaRPr>
          </a:p>
          <a:p>
            <a:pPr marL="0" lvl="0" indent="0" algn="l"/>
            <a:r>
              <a:rPr lang="en-US" sz="1239" b="0" i="0">
                <a:solidFill>
                  <a:srgbClr val="172033"/>
                </a:solidFill>
                <a:latin typeface="Courier New"/>
              </a:rPr>
              <a:t>    fit, error = </a:t>
            </a:r>
            <a:r>
              <a:rPr lang="en-US" sz="1239" b="1" i="0" err="1">
                <a:solidFill>
                  <a:srgbClr val="172033"/>
                </a:solidFill>
                <a:latin typeface="Courier New"/>
              </a:rPr>
              <a:t>ols</a:t>
            </a:r>
            <a:r>
              <a:rPr lang="en-US" sz="1239" b="0" i="0">
                <a:solidFill>
                  <a:srgbClr val="172033"/>
                </a:solidFill>
                <a:latin typeface="Courier New"/>
              </a:rPr>
              <a:t>(data, model)</a:t>
            </a:r>
          </a:p>
          <a:p>
            <a:pPr marL="0" lvl="0" indent="0" algn="l"/>
            <a:r>
              <a:rPr lang="en-US" sz="1239" b="0" i="0">
                <a:solidFill>
                  <a:srgbClr val="172033"/>
                </a:solidFill>
                <a:latin typeface="Courier New"/>
              </a:rPr>
              <a:t>    </a:t>
            </a:r>
          </a:p>
          <a:p>
            <a:pPr marL="0" lvl="0" indent="0" algn="l"/>
            <a:r>
              <a:rPr lang="en-US" sz="1239" b="0" i="0">
                <a:solidFill>
                  <a:srgbClr val="172033"/>
                </a:solidFill>
                <a:latin typeface="Courier New"/>
              </a:rPr>
              <a:t>    </a:t>
            </a:r>
            <a:r>
              <a:rPr lang="en-US" sz="1239" b="0" i="0" err="1">
                <a:solidFill>
                  <a:srgbClr val="172033"/>
                </a:solidFill>
                <a:latin typeface="Courier New"/>
              </a:rPr>
              <a:t>np.savetxt</a:t>
            </a:r>
            <a:r>
              <a:rPr lang="en-US" sz="1239" b="0" i="0">
                <a:solidFill>
                  <a:srgbClr val="172033"/>
                </a:solidFill>
                <a:latin typeface="Courier New"/>
              </a:rPr>
              <a:t>(</a:t>
            </a:r>
            <a:r>
              <a:rPr lang="en-US" sz="1239" b="0" i="0" err="1">
                <a:solidFill>
                  <a:srgbClr val="172033"/>
                </a:solidFill>
                <a:latin typeface="Courier New"/>
              </a:rPr>
              <a:t>fitfile</a:t>
            </a:r>
            <a:r>
              <a:rPr lang="en-US" sz="1239" b="0" i="0">
                <a:solidFill>
                  <a:srgbClr val="172033"/>
                </a:solidFill>
                <a:latin typeface="Courier New"/>
              </a:rPr>
              <a:t>, fit)</a:t>
            </a:r>
          </a:p>
          <a:p>
            <a:pPr algn="l"/>
            <a:r>
              <a:rPr lang="en-US" sz="1239">
                <a:solidFill>
                  <a:srgbClr val="172033"/>
                </a:solidFill>
                <a:latin typeface="Courier New"/>
              </a:rPr>
              <a:t>    </a:t>
            </a:r>
            <a:r>
              <a:rPr lang="en-US" sz="1239" err="1">
                <a:solidFill>
                  <a:srgbClr val="172033"/>
                </a:solidFill>
                <a:latin typeface="Courier New"/>
              </a:rPr>
              <a:t>np.savetxt</a:t>
            </a:r>
            <a:r>
              <a:rPr lang="en-US" sz="1239">
                <a:solidFill>
                  <a:srgbClr val="172033"/>
                </a:solidFill>
                <a:latin typeface="Courier New"/>
              </a:rPr>
              <a:t>(</a:t>
            </a:r>
            <a:r>
              <a:rPr lang="en-US" sz="1239" err="1">
                <a:solidFill>
                  <a:srgbClr val="172033"/>
                </a:solidFill>
                <a:latin typeface="Courier New"/>
              </a:rPr>
              <a:t>errfile</a:t>
            </a:r>
            <a:r>
              <a:rPr lang="en-US" sz="1239">
                <a:solidFill>
                  <a:srgbClr val="172033"/>
                </a:solidFill>
                <a:latin typeface="Courier New"/>
              </a:rPr>
              <a:t>, error)</a:t>
            </a:r>
          </a:p>
        </p:txBody>
      </p:sp>
      <p:sp>
        <p:nvSpPr>
          <p:cNvPr id="10" name="Line 40"/>
          <p:cNvSpPr/>
          <p:nvPr/>
        </p:nvSpPr>
        <p:spPr>
          <a:xfrm>
            <a:off x="5394960" y="2926080"/>
            <a:ext cx="1005839" cy="9144"/>
          </a:xfrm>
          <a:ln w="50800">
            <a:solidFill>
              <a:srgbClr val="176B5A"/>
            </a:solidFill>
          </a:ln>
        </p:spPr>
        <p:txBody>
          <a:bodyPr/>
          <a:lstStyle/>
          <a:p>
            <a:endParaRPr lang="en-US"/>
          </a:p>
        </p:txBody>
      </p:sp>
      <p:sp>
        <p:nvSpPr>
          <p:cNvPr id="12" name="TextBox 42"/>
          <p:cNvSpPr/>
          <p:nvPr/>
        </p:nvSpPr>
        <p:spPr>
          <a:xfrm>
            <a:off x="594360" y="5897880"/>
            <a:ext cx="10972800" cy="384048"/>
          </a:xfrm>
          <a:noFill/>
          <a:ln>
            <a:noFill/>
          </a:ln>
        </p:spPr>
        <p:txBody>
          <a:bodyPr lIns="73152" tIns="73152" rIns="73152" bIns="73152" anchor="ctr"/>
          <a:lstStyle/>
          <a:p>
            <a:pPr marL="0" lvl="0" indent="0" algn="l"/>
            <a:r>
              <a:rPr lang="en-US" sz="2000" b="1" i="0" dirty="0">
                <a:solidFill>
                  <a:srgbClr val="172033"/>
                </a:solidFill>
                <a:latin typeface="Aptos"/>
              </a:rPr>
              <a:t>Now both layers can be invoked directly in tests.</a:t>
            </a:r>
          </a:p>
        </p:txBody>
      </p:sp>
      <p:sp>
        <p:nvSpPr>
          <p:cNvPr id="13" name="Line 904"/>
          <p:cNvSpPr/>
          <p:nvPr/>
        </p:nvSpPr>
        <p:spPr>
          <a:xfrm>
            <a:off x="594360" y="6446520"/>
            <a:ext cx="10972800" cy="9144"/>
          </a:xfrm>
          <a:ln w="12700">
            <a:solidFill>
              <a:srgbClr val="D5DDE7"/>
            </a:solidFill>
          </a:ln>
        </p:spPr>
        <p:txBody>
          <a:bodyPr/>
          <a:lstStyle/>
          <a:p>
            <a:endParaRPr lang="en-US"/>
          </a:p>
        </p:txBody>
      </p:sp>
      <p:sp>
        <p:nvSpPr>
          <p:cNvPr id="14" name="TextBox 905"/>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5" name="TextBox 906"/>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85475D79-C1C2-6E06-C359-02B841E1740D}"/>
              </a:ext>
            </a:extLst>
          </p:cNvPr>
          <p:cNvPicPr>
            <a:picLocks noChangeAspect="1"/>
          </p:cNvPicPr>
          <p:nvPr/>
        </p:nvPicPr>
        <p:blipFill>
          <a:blip r:embed="rId3"/>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AD3D00C0-588C-3359-97A9-F1F9199037A5}"/>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481EC95A-04A3-F7F9-975C-8966441133B0}"/>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07F5E9BB-1A9A-46B3-AA0C-420790E6C81B}"/>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Refactor the core logic into a function</a:t>
            </a:r>
          </a:p>
        </p:txBody>
      </p:sp>
      <p:sp>
        <p:nvSpPr>
          <p:cNvPr id="6" name="Rect 22">
            <a:extLst>
              <a:ext uri="{FF2B5EF4-FFF2-40B4-BE49-F238E27FC236}">
                <a16:creationId xmlns:a16="http://schemas.microsoft.com/office/drawing/2014/main" id="{759781BC-8D39-7C8B-69CE-271427D2C863}"/>
              </a:ext>
            </a:extLst>
          </p:cNvPr>
          <p:cNvSpPr/>
          <p:nvPr/>
        </p:nvSpPr>
        <p:spPr>
          <a:xfrm>
            <a:off x="841248" y="2423160"/>
            <a:ext cx="4224528" cy="23317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375" b="0" i="0" dirty="0">
                <a:solidFill>
                  <a:srgbClr val="172033"/>
                </a:solidFill>
                <a:latin typeface="Courier New"/>
              </a:rPr>
              <a:t>def </a:t>
            </a:r>
            <a:r>
              <a:rPr lang="en-US" sz="1375" b="0" i="0" dirty="0" err="1">
                <a:solidFill>
                  <a:srgbClr val="172033"/>
                </a:solidFill>
                <a:latin typeface="Courier New"/>
              </a:rPr>
              <a:t>ols</a:t>
            </a:r>
            <a:r>
              <a:rPr lang="en-US" sz="1375" b="0" i="0" dirty="0">
                <a:solidFill>
                  <a:srgbClr val="172033"/>
                </a:solidFill>
                <a:latin typeface="Courier New"/>
              </a:rPr>
              <a:t>(data, model):</a:t>
            </a:r>
          </a:p>
          <a:p>
            <a:pPr algn="l"/>
            <a:r>
              <a:rPr lang="en-US" sz="1375" b="0" i="0" dirty="0">
                <a:solidFill>
                  <a:srgbClr val="172033"/>
                </a:solidFill>
                <a:latin typeface="Courier New"/>
              </a:rPr>
              <a:t>    </a:t>
            </a:r>
          </a:p>
          <a:p>
            <a:pPr algn="l"/>
            <a:r>
              <a:rPr lang="en-US" sz="1375" dirty="0">
                <a:solidFill>
                  <a:srgbClr val="172033"/>
                </a:solidFill>
                <a:latin typeface="Courier New"/>
              </a:rPr>
              <a:t>    </a:t>
            </a:r>
            <a:r>
              <a:rPr lang="en-US" sz="1375" b="0" i="0" dirty="0">
                <a:solidFill>
                  <a:srgbClr val="172033"/>
                </a:solidFill>
                <a:latin typeface="Courier New"/>
              </a:rPr>
              <a:t>fit = </a:t>
            </a:r>
            <a:r>
              <a:rPr lang="en-US" sz="1375" b="0" i="0" dirty="0" err="1">
                <a:solidFill>
                  <a:srgbClr val="172033"/>
                </a:solidFill>
                <a:latin typeface="Courier New"/>
              </a:rPr>
              <a:t>np.linalg.inv</a:t>
            </a:r>
            <a:r>
              <a:rPr lang="en-US" sz="1375" b="0" i="0" dirty="0">
                <a:solidFill>
                  <a:srgbClr val="172033"/>
                </a:solidFill>
                <a:latin typeface="Courier New"/>
              </a:rPr>
              <a:t>(</a:t>
            </a:r>
            <a:r>
              <a:rPr lang="en-US" sz="1380" dirty="0" err="1">
                <a:latin typeface="Courier New" panose="02070309020205020404" pitchFamily="49" charset="0"/>
                <a:cs typeface="Courier New" panose="02070309020205020404" pitchFamily="49" charset="0"/>
              </a:rPr>
              <a:t>model.T</a:t>
            </a:r>
            <a:r>
              <a:rPr lang="en-US" sz="1380" dirty="0">
                <a:latin typeface="Courier New" panose="02070309020205020404" pitchFamily="49" charset="0"/>
                <a:cs typeface="Courier New" panose="02070309020205020404" pitchFamily="49" charset="0"/>
              </a:rPr>
              <a:t> @ 		model) @ </a:t>
            </a:r>
            <a:r>
              <a:rPr lang="en-US" sz="1380" dirty="0" err="1">
                <a:latin typeface="Courier New" panose="02070309020205020404" pitchFamily="49" charset="0"/>
                <a:cs typeface="Courier New" panose="02070309020205020404" pitchFamily="49" charset="0"/>
              </a:rPr>
              <a:t>model.T</a:t>
            </a:r>
            <a:r>
              <a:rPr lang="en-US" sz="1380" dirty="0">
                <a:latin typeface="Courier New" panose="02070309020205020404" pitchFamily="49" charset="0"/>
                <a:cs typeface="Courier New" panose="02070309020205020404" pitchFamily="49" charset="0"/>
              </a:rPr>
              <a:t> @ data</a:t>
            </a:r>
            <a:endParaRPr lang="en-US" sz="1375" b="0" i="0" dirty="0">
              <a:solidFill>
                <a:srgbClr val="172033"/>
              </a:solidFill>
              <a:latin typeface="Courier New"/>
            </a:endParaRPr>
          </a:p>
          <a:p>
            <a:pPr marL="0" lvl="0" indent="0" algn="l"/>
            <a:r>
              <a:rPr lang="en-US" sz="1375" b="0" i="0" dirty="0">
                <a:solidFill>
                  <a:srgbClr val="172033"/>
                </a:solidFill>
                <a:latin typeface="Courier New"/>
              </a:rPr>
              <a:t>    error = data - (model @ fit)</a:t>
            </a:r>
          </a:p>
          <a:p>
            <a:pPr marL="0" lvl="0" indent="0" algn="l"/>
            <a:r>
              <a:rPr lang="en-US" sz="1375" b="0" i="0" dirty="0">
                <a:solidFill>
                  <a:srgbClr val="172033"/>
                </a:solidFill>
                <a:latin typeface="Courier New"/>
              </a:rPr>
              <a:t>    </a:t>
            </a:r>
          </a:p>
          <a:p>
            <a:pPr marL="0" lvl="0" indent="0" algn="l"/>
            <a:r>
              <a:rPr lang="en-US" sz="1375" dirty="0">
                <a:solidFill>
                  <a:srgbClr val="172033"/>
                </a:solidFill>
                <a:latin typeface="Courier New"/>
              </a:rPr>
              <a:t>    </a:t>
            </a:r>
            <a:r>
              <a:rPr lang="en-US" sz="1375" b="0" i="0" dirty="0">
                <a:solidFill>
                  <a:srgbClr val="172033"/>
                </a:solidFill>
                <a:latin typeface="Courier New"/>
              </a:rPr>
              <a:t>return fit, error</a:t>
            </a:r>
          </a:p>
        </p:txBody>
      </p:sp>
      <p:sp>
        <p:nvSpPr>
          <p:cNvPr id="9" name="Rect 32">
            <a:extLst>
              <a:ext uri="{FF2B5EF4-FFF2-40B4-BE49-F238E27FC236}">
                <a16:creationId xmlns:a16="http://schemas.microsoft.com/office/drawing/2014/main" id="{5E2688F9-FBAA-9F60-8E84-C9A5941B5EAA}"/>
              </a:ext>
            </a:extLst>
          </p:cNvPr>
          <p:cNvSpPr/>
          <p:nvPr/>
        </p:nvSpPr>
        <p:spPr>
          <a:xfrm>
            <a:off x="6748272" y="2423160"/>
            <a:ext cx="4462272" cy="23317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239" b="0" i="0">
                <a:solidFill>
                  <a:srgbClr val="172033"/>
                </a:solidFill>
                <a:latin typeface="Courier New"/>
              </a:rPr>
              <a:t>def main(</a:t>
            </a:r>
            <a:r>
              <a:rPr lang="en-US" sz="1239" b="0" i="0" err="1">
                <a:solidFill>
                  <a:srgbClr val="172033"/>
                </a:solidFill>
                <a:latin typeface="Courier New"/>
              </a:rPr>
              <a:t>args</a:t>
            </a:r>
            <a:r>
              <a:rPr lang="en-US" sz="1239" b="0" i="0">
                <a:solidFill>
                  <a:srgbClr val="172033"/>
                </a:solidFill>
                <a:latin typeface="Courier New"/>
              </a:rPr>
              <a:t>=None):</a:t>
            </a:r>
          </a:p>
          <a:p>
            <a:pPr marL="0" lvl="0" indent="0" algn="l"/>
            <a:r>
              <a:rPr lang="en-US" sz="1239" b="0" i="0">
                <a:solidFill>
                  <a:srgbClr val="172033"/>
                </a:solidFill>
                <a:latin typeface="Courier New"/>
              </a:rPr>
              <a:t>    </a:t>
            </a:r>
          </a:p>
          <a:p>
            <a:pPr marL="0" lvl="0" indent="0" algn="l"/>
            <a:r>
              <a:rPr lang="en-US" sz="1239">
                <a:solidFill>
                  <a:srgbClr val="172033"/>
                </a:solidFill>
                <a:latin typeface="Courier New"/>
              </a:rPr>
              <a:t>    </a:t>
            </a:r>
            <a:r>
              <a:rPr lang="en-US" sz="1239" b="0" i="0">
                <a:solidFill>
                  <a:srgbClr val="172033"/>
                </a:solidFill>
                <a:latin typeface="Courier New"/>
              </a:rPr>
              <a:t>data = </a:t>
            </a:r>
            <a:r>
              <a:rPr lang="en-US" sz="1239" b="0" i="0" err="1">
                <a:solidFill>
                  <a:srgbClr val="172033"/>
                </a:solidFill>
                <a:latin typeface="Courier New"/>
              </a:rPr>
              <a:t>np.loadtxt</a:t>
            </a:r>
            <a:r>
              <a:rPr lang="en-US" sz="1239" b="0" i="0">
                <a:solidFill>
                  <a:srgbClr val="172033"/>
                </a:solidFill>
                <a:latin typeface="Courier New"/>
              </a:rPr>
              <a:t>(datafile)</a:t>
            </a:r>
          </a:p>
          <a:p>
            <a:pPr marL="0" lvl="0" indent="0" algn="l"/>
            <a:r>
              <a:rPr lang="en-US" sz="1239">
                <a:solidFill>
                  <a:srgbClr val="172033"/>
                </a:solidFill>
                <a:latin typeface="Courier New"/>
              </a:rPr>
              <a:t>    </a:t>
            </a:r>
            <a:r>
              <a:rPr lang="en-US" sz="1239" b="0" i="0">
                <a:solidFill>
                  <a:srgbClr val="172033"/>
                </a:solidFill>
                <a:latin typeface="Courier New"/>
              </a:rPr>
              <a:t>model = </a:t>
            </a:r>
            <a:r>
              <a:rPr lang="en-US" sz="1239" b="0" i="0" err="1">
                <a:solidFill>
                  <a:srgbClr val="172033"/>
                </a:solidFill>
                <a:latin typeface="Courier New"/>
              </a:rPr>
              <a:t>np.loadtxt</a:t>
            </a:r>
            <a:r>
              <a:rPr lang="en-US" sz="1239" b="0" i="0">
                <a:solidFill>
                  <a:srgbClr val="172033"/>
                </a:solidFill>
                <a:latin typeface="Courier New"/>
              </a:rPr>
              <a:t>(</a:t>
            </a:r>
            <a:r>
              <a:rPr lang="en-US" sz="1239" b="0" i="0" err="1">
                <a:solidFill>
                  <a:srgbClr val="172033"/>
                </a:solidFill>
                <a:latin typeface="Courier New"/>
              </a:rPr>
              <a:t>designfile</a:t>
            </a:r>
            <a:r>
              <a:rPr lang="en-US" sz="1239" b="0" i="0">
                <a:solidFill>
                  <a:srgbClr val="172033"/>
                </a:solidFill>
                <a:latin typeface="Courier New"/>
              </a:rPr>
              <a:t>)</a:t>
            </a:r>
          </a:p>
          <a:p>
            <a:pPr marL="0" lvl="0" indent="0" algn="l"/>
            <a:endParaRPr lang="en-US" sz="1239" b="0" i="0">
              <a:solidFill>
                <a:srgbClr val="172033"/>
              </a:solidFill>
              <a:latin typeface="Courier New"/>
            </a:endParaRPr>
          </a:p>
          <a:p>
            <a:pPr marL="0" lvl="0" indent="0" algn="l"/>
            <a:r>
              <a:rPr lang="en-US" sz="1239" b="0" i="0">
                <a:solidFill>
                  <a:srgbClr val="172033"/>
                </a:solidFill>
                <a:latin typeface="Courier New"/>
              </a:rPr>
              <a:t>    fit, error = </a:t>
            </a:r>
            <a:r>
              <a:rPr lang="en-US" sz="1239" b="1" i="0" err="1">
                <a:solidFill>
                  <a:srgbClr val="172033"/>
                </a:solidFill>
                <a:latin typeface="Courier New"/>
              </a:rPr>
              <a:t>ols</a:t>
            </a:r>
            <a:r>
              <a:rPr lang="en-US" sz="1239" b="0" i="0">
                <a:solidFill>
                  <a:srgbClr val="172033"/>
                </a:solidFill>
                <a:latin typeface="Courier New"/>
              </a:rPr>
              <a:t>(data, model)</a:t>
            </a:r>
          </a:p>
          <a:p>
            <a:pPr marL="0" lvl="0" indent="0" algn="l"/>
            <a:r>
              <a:rPr lang="en-US" sz="1239" b="0" i="0">
                <a:solidFill>
                  <a:srgbClr val="172033"/>
                </a:solidFill>
                <a:latin typeface="Courier New"/>
              </a:rPr>
              <a:t>    </a:t>
            </a:r>
          </a:p>
          <a:p>
            <a:pPr marL="0" lvl="0" indent="0" algn="l"/>
            <a:r>
              <a:rPr lang="en-US" sz="1239" b="0" i="0">
                <a:solidFill>
                  <a:srgbClr val="172033"/>
                </a:solidFill>
                <a:latin typeface="Courier New"/>
              </a:rPr>
              <a:t>    </a:t>
            </a:r>
            <a:r>
              <a:rPr lang="en-US" sz="1239" b="0" i="0" err="1">
                <a:solidFill>
                  <a:srgbClr val="172033"/>
                </a:solidFill>
                <a:latin typeface="Courier New"/>
              </a:rPr>
              <a:t>np.savetxt</a:t>
            </a:r>
            <a:r>
              <a:rPr lang="en-US" sz="1239" b="0" i="0">
                <a:solidFill>
                  <a:srgbClr val="172033"/>
                </a:solidFill>
                <a:latin typeface="Courier New"/>
              </a:rPr>
              <a:t>(</a:t>
            </a:r>
            <a:r>
              <a:rPr lang="en-US" sz="1239" b="0" i="0" err="1">
                <a:solidFill>
                  <a:srgbClr val="172033"/>
                </a:solidFill>
                <a:latin typeface="Courier New"/>
              </a:rPr>
              <a:t>fitfile</a:t>
            </a:r>
            <a:r>
              <a:rPr lang="en-US" sz="1239" b="0" i="0">
                <a:solidFill>
                  <a:srgbClr val="172033"/>
                </a:solidFill>
                <a:latin typeface="Courier New"/>
              </a:rPr>
              <a:t>, fit)</a:t>
            </a:r>
          </a:p>
          <a:p>
            <a:pPr algn="l"/>
            <a:r>
              <a:rPr lang="en-US" sz="1239">
                <a:solidFill>
                  <a:srgbClr val="172033"/>
                </a:solidFill>
                <a:latin typeface="Courier New"/>
              </a:rPr>
              <a:t>    </a:t>
            </a:r>
            <a:r>
              <a:rPr lang="en-US" sz="1239" err="1">
                <a:solidFill>
                  <a:srgbClr val="172033"/>
                </a:solidFill>
                <a:latin typeface="Courier New"/>
              </a:rPr>
              <a:t>np.savetxt</a:t>
            </a:r>
            <a:r>
              <a:rPr lang="en-US" sz="1239">
                <a:solidFill>
                  <a:srgbClr val="172033"/>
                </a:solidFill>
                <a:latin typeface="Courier New"/>
              </a:rPr>
              <a:t>(</a:t>
            </a:r>
            <a:r>
              <a:rPr lang="en-US" sz="1239" err="1">
                <a:solidFill>
                  <a:srgbClr val="172033"/>
                </a:solidFill>
                <a:latin typeface="Courier New"/>
              </a:rPr>
              <a:t>errfile</a:t>
            </a:r>
            <a:r>
              <a:rPr lang="en-US" sz="1239">
                <a:solidFill>
                  <a:srgbClr val="172033"/>
                </a:solidFill>
                <a:latin typeface="Courier New"/>
              </a:rPr>
              <a:t>, error)</a:t>
            </a:r>
          </a:p>
        </p:txBody>
      </p:sp>
      <p:sp>
        <p:nvSpPr>
          <p:cNvPr id="10" name="Line 40">
            <a:extLst>
              <a:ext uri="{FF2B5EF4-FFF2-40B4-BE49-F238E27FC236}">
                <a16:creationId xmlns:a16="http://schemas.microsoft.com/office/drawing/2014/main" id="{00D78A6E-9EA0-A592-47D5-0A164526F6E6}"/>
              </a:ext>
            </a:extLst>
          </p:cNvPr>
          <p:cNvSpPr/>
          <p:nvPr/>
        </p:nvSpPr>
        <p:spPr>
          <a:xfrm>
            <a:off x="5394960" y="2926080"/>
            <a:ext cx="1005839" cy="9144"/>
          </a:xfrm>
          <a:ln w="50800">
            <a:solidFill>
              <a:srgbClr val="176B5A"/>
            </a:solidFill>
          </a:ln>
        </p:spPr>
        <p:txBody>
          <a:bodyPr/>
          <a:lstStyle/>
          <a:p>
            <a:endParaRPr lang="en-US"/>
          </a:p>
        </p:txBody>
      </p:sp>
      <p:sp>
        <p:nvSpPr>
          <p:cNvPr id="12" name="TextBox 42">
            <a:extLst>
              <a:ext uri="{FF2B5EF4-FFF2-40B4-BE49-F238E27FC236}">
                <a16:creationId xmlns:a16="http://schemas.microsoft.com/office/drawing/2014/main" id="{EAE2B834-19A6-56E0-8AB0-E53C9BE52D5C}"/>
              </a:ext>
            </a:extLst>
          </p:cNvPr>
          <p:cNvSpPr/>
          <p:nvPr/>
        </p:nvSpPr>
        <p:spPr>
          <a:xfrm>
            <a:off x="594360" y="5897880"/>
            <a:ext cx="10972800" cy="384048"/>
          </a:xfrm>
          <a:noFill/>
          <a:ln>
            <a:noFill/>
          </a:ln>
        </p:spPr>
        <p:txBody>
          <a:bodyPr lIns="73152" tIns="73152" rIns="73152" bIns="73152" anchor="ctr"/>
          <a:lstStyle/>
          <a:p>
            <a:pPr marL="0" lvl="0" indent="0" algn="l"/>
            <a:r>
              <a:rPr lang="en-US" sz="2000" b="1" i="0" dirty="0">
                <a:solidFill>
                  <a:srgbClr val="172033"/>
                </a:solidFill>
                <a:latin typeface="Aptos"/>
              </a:rPr>
              <a:t>Now both layers can be invoked directly in tests.</a:t>
            </a:r>
          </a:p>
        </p:txBody>
      </p:sp>
      <p:sp>
        <p:nvSpPr>
          <p:cNvPr id="13" name="Line 904">
            <a:extLst>
              <a:ext uri="{FF2B5EF4-FFF2-40B4-BE49-F238E27FC236}">
                <a16:creationId xmlns:a16="http://schemas.microsoft.com/office/drawing/2014/main" id="{B6AF5303-578B-C898-ED1E-F8F9F6A42525}"/>
              </a:ext>
            </a:extLst>
          </p:cNvPr>
          <p:cNvSpPr/>
          <p:nvPr/>
        </p:nvSpPr>
        <p:spPr>
          <a:xfrm>
            <a:off x="594360" y="6446520"/>
            <a:ext cx="10972800" cy="9144"/>
          </a:xfrm>
          <a:ln w="12700">
            <a:solidFill>
              <a:srgbClr val="D5DDE7"/>
            </a:solidFill>
          </a:ln>
        </p:spPr>
        <p:txBody>
          <a:bodyPr/>
          <a:lstStyle/>
          <a:p>
            <a:endParaRPr lang="en-US"/>
          </a:p>
        </p:txBody>
      </p:sp>
      <p:sp>
        <p:nvSpPr>
          <p:cNvPr id="14" name="TextBox 905">
            <a:extLst>
              <a:ext uri="{FF2B5EF4-FFF2-40B4-BE49-F238E27FC236}">
                <a16:creationId xmlns:a16="http://schemas.microsoft.com/office/drawing/2014/main" id="{D6FF1D84-FACD-5554-F8B2-6F0EC07F65FA}"/>
              </a:ext>
            </a:extLst>
          </p:cNvPr>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5" name="TextBox 906">
            <a:extLst>
              <a:ext uri="{FF2B5EF4-FFF2-40B4-BE49-F238E27FC236}">
                <a16:creationId xmlns:a16="http://schemas.microsoft.com/office/drawing/2014/main" id="{E272F3AB-EDFD-94AB-1374-30D098EDCDFC}"/>
              </a:ext>
            </a:extLst>
          </p:cNvPr>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sp>
        <p:nvSpPr>
          <p:cNvPr id="2" name="TextBox 1">
            <a:extLst>
              <a:ext uri="{FF2B5EF4-FFF2-40B4-BE49-F238E27FC236}">
                <a16:creationId xmlns:a16="http://schemas.microsoft.com/office/drawing/2014/main" id="{3519A619-A2C8-D2EB-E2BF-CAC7AE81EF01}"/>
              </a:ext>
            </a:extLst>
          </p:cNvPr>
          <p:cNvSpPr txBox="1"/>
          <p:nvPr/>
        </p:nvSpPr>
        <p:spPr>
          <a:xfrm>
            <a:off x="4275212" y="1754862"/>
            <a:ext cx="3595856" cy="369332"/>
          </a:xfrm>
          <a:prstGeom prst="rect">
            <a:avLst/>
          </a:prstGeom>
          <a:noFill/>
        </p:spPr>
        <p:txBody>
          <a:bodyPr wrap="none" rtlCol="0">
            <a:spAutoFit/>
          </a:bodyPr>
          <a:lstStyle/>
          <a:p>
            <a:r>
              <a:rPr lang="en-US" dirty="0">
                <a:solidFill>
                  <a:srgbClr val="FF0000"/>
                </a:solidFill>
              </a:rPr>
              <a:t>Complete working code in tutorial</a:t>
            </a:r>
          </a:p>
        </p:txBody>
      </p:sp>
      <p:sp>
        <p:nvSpPr>
          <p:cNvPr id="16" name="TextBox 21">
            <a:extLst>
              <a:ext uri="{FF2B5EF4-FFF2-40B4-BE49-F238E27FC236}">
                <a16:creationId xmlns:a16="http://schemas.microsoft.com/office/drawing/2014/main" id="{FCC3DD9F-1E9A-F70D-0D47-282E5213E416}"/>
              </a:ext>
            </a:extLst>
          </p:cNvPr>
          <p:cNvSpPr/>
          <p:nvPr/>
        </p:nvSpPr>
        <p:spPr>
          <a:xfrm>
            <a:off x="2423160" y="1874519"/>
            <a:ext cx="1577340" cy="365760"/>
          </a:xfrm>
          <a:noFill/>
          <a:ln>
            <a:noFill/>
          </a:ln>
        </p:spPr>
        <p:txBody>
          <a:bodyPr lIns="73152" tIns="73152" rIns="73152" bIns="73152" anchor="ctr"/>
          <a:lstStyle/>
          <a:p>
            <a:pPr marL="0" lvl="0" indent="0" algn="l"/>
            <a:r>
              <a:rPr lang="en-US" sz="1600" b="1" i="0" dirty="0">
                <a:solidFill>
                  <a:srgbClr val="172033"/>
                </a:solidFill>
                <a:latin typeface="Aptos"/>
              </a:rPr>
              <a:t>CORE LOGIC</a:t>
            </a:r>
          </a:p>
        </p:txBody>
      </p:sp>
      <p:sp>
        <p:nvSpPr>
          <p:cNvPr id="17" name="TextBox 31">
            <a:extLst>
              <a:ext uri="{FF2B5EF4-FFF2-40B4-BE49-F238E27FC236}">
                <a16:creationId xmlns:a16="http://schemas.microsoft.com/office/drawing/2014/main" id="{A1289981-7302-5D5F-132D-876003391EE0}"/>
              </a:ext>
            </a:extLst>
          </p:cNvPr>
          <p:cNvSpPr/>
          <p:nvPr/>
        </p:nvSpPr>
        <p:spPr>
          <a:xfrm>
            <a:off x="8145780" y="1828800"/>
            <a:ext cx="3246120" cy="365760"/>
          </a:xfrm>
          <a:noFill/>
          <a:ln>
            <a:noFill/>
          </a:ln>
        </p:spPr>
        <p:txBody>
          <a:bodyPr lIns="73152" tIns="73152" rIns="73152" bIns="73152" anchor="ctr"/>
          <a:lstStyle/>
          <a:p>
            <a:pPr marL="0" lvl="0" indent="0" algn="l"/>
            <a:r>
              <a:rPr lang="en-US" sz="1600" b="1" i="0" dirty="0">
                <a:solidFill>
                  <a:srgbClr val="172033"/>
                </a:solidFill>
                <a:latin typeface="Aptos"/>
              </a:rPr>
              <a:t>I/O BOUNDARY</a:t>
            </a:r>
          </a:p>
        </p:txBody>
      </p:sp>
      <p:pic>
        <p:nvPicPr>
          <p:cNvPr id="4" name="Picture 3">
            <a:extLst>
              <a:ext uri="{FF2B5EF4-FFF2-40B4-BE49-F238E27FC236}">
                <a16:creationId xmlns:a16="http://schemas.microsoft.com/office/drawing/2014/main" id="{43A05839-373B-6E4A-8C54-F6EBC252B637}"/>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BC4961B7-0DE5-CFAF-6400-6F3F0A45F5C0}"/>
              </a:ext>
            </a:extLst>
          </p:cNvPr>
          <p:cNvPicPr>
            <a:picLocks noChangeAspect="1"/>
          </p:cNvPicPr>
          <p:nvPr/>
        </p:nvPicPr>
        <p:blipFill>
          <a:blip r:embed="rId4"/>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8319953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Design principles that pay off in testing</a:t>
            </a:r>
          </a:p>
        </p:txBody>
      </p:sp>
      <p:sp>
        <p:nvSpPr>
          <p:cNvPr id="4" name="Rect 20"/>
          <p:cNvSpPr/>
          <p:nvPr/>
        </p:nvSpPr>
        <p:spPr>
          <a:xfrm>
            <a:off x="594360" y="1600200"/>
            <a:ext cx="2523744" cy="3337560"/>
          </a:xfrm>
          <a:prstGeom prst="roundRect">
            <a:avLst/>
          </a:prstGeom>
          <a:solidFill>
            <a:srgbClr val="FFFFFF"/>
          </a:solidFill>
          <a:ln>
            <a:solidFill>
              <a:srgbClr val="D5DDE7"/>
            </a:solidFill>
            <a:prstDash val="solid"/>
          </a:ln>
        </p:spPr>
        <p:txBody>
          <a:bodyPr/>
          <a:lstStyle/>
          <a:p>
            <a:endParaRPr lang="en-US"/>
          </a:p>
        </p:txBody>
      </p:sp>
      <p:sp>
        <p:nvSpPr>
          <p:cNvPr id="5" name="TextBox 30"/>
          <p:cNvSpPr/>
          <p:nvPr/>
        </p:nvSpPr>
        <p:spPr>
          <a:xfrm>
            <a:off x="795528" y="1901952"/>
            <a:ext cx="2057400" cy="457200"/>
          </a:xfrm>
          <a:noFill/>
          <a:ln>
            <a:noFill/>
          </a:ln>
        </p:spPr>
        <p:txBody>
          <a:bodyPr lIns="73152" tIns="73152" rIns="73152" bIns="73152" anchor="ctr"/>
          <a:lstStyle/>
          <a:p>
            <a:pPr marL="0" lvl="0" indent="0" algn="l"/>
            <a:r>
              <a:rPr lang="en-US" sz="2400" b="1" i="0">
                <a:solidFill>
                  <a:srgbClr val="172033"/>
                </a:solidFill>
                <a:latin typeface="Aptos"/>
              </a:rPr>
              <a:t>Small</a:t>
            </a:r>
          </a:p>
        </p:txBody>
      </p:sp>
      <p:sp>
        <p:nvSpPr>
          <p:cNvPr id="6" name="TextBox 40"/>
          <p:cNvSpPr/>
          <p:nvPr/>
        </p:nvSpPr>
        <p:spPr>
          <a:xfrm>
            <a:off x="795528" y="2578608"/>
            <a:ext cx="2029968" cy="1463040"/>
          </a:xfrm>
          <a:noFill/>
          <a:ln>
            <a:noFill/>
          </a:ln>
        </p:spPr>
        <p:txBody>
          <a:bodyPr lIns="73152" tIns="73152" rIns="73152" bIns="73152" anchor="ctr"/>
          <a:lstStyle/>
          <a:p>
            <a:pPr marL="0" lvl="0" indent="0" algn="l"/>
            <a:r>
              <a:rPr lang="en-US" sz="1600" b="0" i="0">
                <a:solidFill>
                  <a:srgbClr val="172033"/>
                </a:solidFill>
                <a:latin typeface="Aptos"/>
              </a:rPr>
              <a:t>One clear job</a:t>
            </a:r>
          </a:p>
        </p:txBody>
      </p:sp>
      <p:sp>
        <p:nvSpPr>
          <p:cNvPr id="8" name="Rect 21"/>
          <p:cNvSpPr/>
          <p:nvPr/>
        </p:nvSpPr>
        <p:spPr>
          <a:xfrm>
            <a:off x="3410712" y="1600200"/>
            <a:ext cx="2523744" cy="3337560"/>
          </a:xfrm>
          <a:prstGeom prst="roundRect">
            <a:avLst/>
          </a:prstGeom>
          <a:solidFill>
            <a:srgbClr val="FFFFFF"/>
          </a:solidFill>
          <a:ln>
            <a:solidFill>
              <a:srgbClr val="D5DDE7"/>
            </a:solidFill>
            <a:prstDash val="solid"/>
          </a:ln>
        </p:spPr>
        <p:txBody>
          <a:bodyPr/>
          <a:lstStyle/>
          <a:p>
            <a:endParaRPr lang="en-US"/>
          </a:p>
        </p:txBody>
      </p:sp>
      <p:sp>
        <p:nvSpPr>
          <p:cNvPr id="9" name="TextBox 31"/>
          <p:cNvSpPr/>
          <p:nvPr/>
        </p:nvSpPr>
        <p:spPr>
          <a:xfrm>
            <a:off x="3611880" y="1901952"/>
            <a:ext cx="2057400" cy="457200"/>
          </a:xfrm>
          <a:noFill/>
          <a:ln>
            <a:noFill/>
          </a:ln>
        </p:spPr>
        <p:txBody>
          <a:bodyPr lIns="73152" tIns="73152" rIns="73152" bIns="73152" anchor="ctr"/>
          <a:lstStyle/>
          <a:p>
            <a:pPr marL="0" lvl="0" indent="0" algn="l"/>
            <a:r>
              <a:rPr lang="en-US" sz="2400" b="1" i="0">
                <a:solidFill>
                  <a:srgbClr val="172033"/>
                </a:solidFill>
                <a:latin typeface="Aptos"/>
              </a:rPr>
              <a:t>Simple</a:t>
            </a:r>
          </a:p>
        </p:txBody>
      </p:sp>
      <p:sp>
        <p:nvSpPr>
          <p:cNvPr id="10" name="TextBox 41"/>
          <p:cNvSpPr/>
          <p:nvPr/>
        </p:nvSpPr>
        <p:spPr>
          <a:xfrm>
            <a:off x="3611880" y="2578608"/>
            <a:ext cx="2029968" cy="1463040"/>
          </a:xfrm>
          <a:noFill/>
          <a:ln>
            <a:noFill/>
          </a:ln>
        </p:spPr>
        <p:txBody>
          <a:bodyPr lIns="73152" tIns="73152" rIns="73152" bIns="73152" anchor="ctr"/>
          <a:lstStyle/>
          <a:p>
            <a:pPr marL="0" lvl="0" indent="0" algn="l"/>
            <a:r>
              <a:rPr lang="en-US" sz="1600" b="0" i="0">
                <a:solidFill>
                  <a:srgbClr val="172033"/>
                </a:solidFill>
                <a:latin typeface="Aptos"/>
              </a:rPr>
              <a:t>Few moving parts</a:t>
            </a:r>
          </a:p>
        </p:txBody>
      </p:sp>
      <p:sp>
        <p:nvSpPr>
          <p:cNvPr id="12" name="Rect 22"/>
          <p:cNvSpPr/>
          <p:nvPr/>
        </p:nvSpPr>
        <p:spPr>
          <a:xfrm>
            <a:off x="6227064" y="1600200"/>
            <a:ext cx="2523744" cy="3337560"/>
          </a:xfrm>
          <a:prstGeom prst="roundRect">
            <a:avLst/>
          </a:prstGeom>
          <a:solidFill>
            <a:srgbClr val="FFFFFF"/>
          </a:solidFill>
          <a:ln>
            <a:solidFill>
              <a:srgbClr val="D5DDE7"/>
            </a:solidFill>
            <a:prstDash val="solid"/>
          </a:ln>
        </p:spPr>
        <p:txBody>
          <a:bodyPr/>
          <a:lstStyle/>
          <a:p>
            <a:endParaRPr lang="en-US"/>
          </a:p>
        </p:txBody>
      </p:sp>
      <p:sp>
        <p:nvSpPr>
          <p:cNvPr id="13" name="TextBox 32"/>
          <p:cNvSpPr/>
          <p:nvPr/>
        </p:nvSpPr>
        <p:spPr>
          <a:xfrm>
            <a:off x="6428232" y="1901952"/>
            <a:ext cx="2322576" cy="457200"/>
          </a:xfrm>
          <a:noFill/>
          <a:ln>
            <a:noFill/>
          </a:ln>
        </p:spPr>
        <p:txBody>
          <a:bodyPr lIns="73152" tIns="73152" rIns="73152" bIns="73152" anchor="ctr"/>
          <a:lstStyle/>
          <a:p>
            <a:pPr marL="0" lvl="0" indent="0" algn="l"/>
            <a:r>
              <a:rPr lang="en-US" sz="2400" b="1" i="0" dirty="0">
                <a:solidFill>
                  <a:srgbClr val="172033"/>
                </a:solidFill>
                <a:latin typeface="Aptos"/>
              </a:rPr>
              <a:t>Self-contained</a:t>
            </a:r>
          </a:p>
        </p:txBody>
      </p:sp>
      <p:sp>
        <p:nvSpPr>
          <p:cNvPr id="14" name="TextBox 42"/>
          <p:cNvSpPr/>
          <p:nvPr/>
        </p:nvSpPr>
        <p:spPr>
          <a:xfrm>
            <a:off x="6428232" y="2578608"/>
            <a:ext cx="2029968" cy="1463040"/>
          </a:xfrm>
          <a:noFill/>
          <a:ln>
            <a:noFill/>
          </a:ln>
        </p:spPr>
        <p:txBody>
          <a:bodyPr lIns="73152" tIns="73152" rIns="73152" bIns="73152" anchor="ctr"/>
          <a:lstStyle/>
          <a:p>
            <a:pPr marL="0" lvl="0" indent="0" algn="l"/>
            <a:r>
              <a:rPr lang="en-US" sz="1600" b="0" i="0">
                <a:solidFill>
                  <a:srgbClr val="172033"/>
                </a:solidFill>
                <a:latin typeface="Aptos"/>
              </a:rPr>
              <a:t>Inputs are explicit</a:t>
            </a:r>
          </a:p>
        </p:txBody>
      </p:sp>
      <p:sp>
        <p:nvSpPr>
          <p:cNvPr id="16" name="Rect 23"/>
          <p:cNvSpPr/>
          <p:nvPr/>
        </p:nvSpPr>
        <p:spPr>
          <a:xfrm>
            <a:off x="9043416" y="1600200"/>
            <a:ext cx="2523744" cy="3337560"/>
          </a:xfrm>
          <a:prstGeom prst="roundRect">
            <a:avLst/>
          </a:prstGeom>
          <a:solidFill>
            <a:srgbClr val="FFFFFF"/>
          </a:solidFill>
          <a:ln>
            <a:solidFill>
              <a:srgbClr val="D5DDE7"/>
            </a:solidFill>
            <a:prstDash val="solid"/>
          </a:ln>
        </p:spPr>
        <p:txBody>
          <a:bodyPr/>
          <a:lstStyle/>
          <a:p>
            <a:endParaRPr lang="en-US"/>
          </a:p>
        </p:txBody>
      </p:sp>
      <p:sp>
        <p:nvSpPr>
          <p:cNvPr id="17" name="TextBox 33"/>
          <p:cNvSpPr/>
          <p:nvPr/>
        </p:nvSpPr>
        <p:spPr>
          <a:xfrm>
            <a:off x="9187434" y="1901952"/>
            <a:ext cx="2322576" cy="457200"/>
          </a:xfrm>
          <a:noFill/>
          <a:ln>
            <a:noFill/>
          </a:ln>
        </p:spPr>
        <p:txBody>
          <a:bodyPr lIns="73152" tIns="73152" rIns="73152" bIns="73152" anchor="ctr"/>
          <a:lstStyle/>
          <a:p>
            <a:pPr marL="0" lvl="0" indent="0" algn="l"/>
            <a:r>
              <a:rPr lang="en-US" sz="2400" b="1" i="0" dirty="0">
                <a:solidFill>
                  <a:srgbClr val="172033"/>
                </a:solidFill>
                <a:latin typeface="Aptos"/>
              </a:rPr>
              <a:t>No side-effects</a:t>
            </a:r>
          </a:p>
        </p:txBody>
      </p:sp>
      <p:sp>
        <p:nvSpPr>
          <p:cNvPr id="18" name="TextBox 43"/>
          <p:cNvSpPr/>
          <p:nvPr/>
        </p:nvSpPr>
        <p:spPr>
          <a:xfrm>
            <a:off x="9244584" y="2578608"/>
            <a:ext cx="2029968" cy="1463040"/>
          </a:xfrm>
          <a:noFill/>
          <a:ln>
            <a:noFill/>
          </a:ln>
        </p:spPr>
        <p:txBody>
          <a:bodyPr lIns="73152" tIns="73152" rIns="73152" bIns="73152" anchor="ctr"/>
          <a:lstStyle/>
          <a:p>
            <a:pPr marL="0" lvl="0" indent="0" algn="l"/>
            <a:r>
              <a:rPr lang="en-US" sz="1600" b="0" i="0">
                <a:solidFill>
                  <a:srgbClr val="172033"/>
                </a:solidFill>
                <a:latin typeface="Aptos"/>
              </a:rPr>
              <a:t>Predictable behaviour</a:t>
            </a:r>
          </a:p>
        </p:txBody>
      </p:sp>
      <p:sp>
        <p:nvSpPr>
          <p:cNvPr id="20" name="TextBox 60"/>
          <p:cNvSpPr/>
          <p:nvPr/>
        </p:nvSpPr>
        <p:spPr>
          <a:xfrm>
            <a:off x="594360" y="5257800"/>
            <a:ext cx="10972800" cy="685800"/>
          </a:xfrm>
          <a:noFill/>
          <a:ln>
            <a:noFill/>
          </a:ln>
        </p:spPr>
        <p:txBody>
          <a:bodyPr lIns="73152" tIns="73152" rIns="73152" bIns="73152" anchor="ctr"/>
          <a:lstStyle/>
          <a:p>
            <a:pPr marL="0" lvl="0" indent="0" algn="l"/>
            <a:r>
              <a:rPr lang="en-US" sz="2000" b="1" i="0" dirty="0">
                <a:solidFill>
                  <a:srgbClr val="172033"/>
                </a:solidFill>
                <a:latin typeface="Aptos"/>
              </a:rPr>
              <a:t>Separate procedural work (loading/saving) from numerical operations.</a:t>
            </a:r>
          </a:p>
          <a:p>
            <a:pPr marL="0" lvl="0" indent="0" algn="l"/>
            <a:endParaRPr lang="en-US" sz="2000" b="1" dirty="0">
              <a:solidFill>
                <a:srgbClr val="172033"/>
              </a:solidFill>
              <a:latin typeface="Aptos"/>
            </a:endParaRPr>
          </a:p>
          <a:p>
            <a:pPr marL="0" lvl="0" indent="0" algn="l"/>
            <a:r>
              <a:rPr lang="en-US" sz="2000" b="1" dirty="0">
                <a:solidFill>
                  <a:srgbClr val="172033"/>
                </a:solidFill>
                <a:latin typeface="Aptos"/>
              </a:rPr>
              <a:t>In general, separate as much as possible.</a:t>
            </a:r>
            <a:endParaRPr lang="en-US" sz="2000" b="1" i="0" dirty="0">
              <a:solidFill>
                <a:srgbClr val="172033"/>
              </a:solidFill>
              <a:latin typeface="Aptos"/>
            </a:endParaRPr>
          </a:p>
        </p:txBody>
      </p:sp>
      <p:sp>
        <p:nvSpPr>
          <p:cNvPr id="21" name="Line 905"/>
          <p:cNvSpPr/>
          <p:nvPr/>
        </p:nvSpPr>
        <p:spPr>
          <a:xfrm>
            <a:off x="594360" y="6446520"/>
            <a:ext cx="10972800" cy="9144"/>
          </a:xfrm>
          <a:ln w="12700">
            <a:solidFill>
              <a:srgbClr val="D5DDE7"/>
            </a:solidFill>
          </a:ln>
        </p:spPr>
        <p:txBody>
          <a:bodyPr/>
          <a:lstStyle/>
          <a:p>
            <a:endParaRPr lang="en-US"/>
          </a:p>
        </p:txBody>
      </p:sp>
      <p:sp>
        <p:nvSpPr>
          <p:cNvPr id="22" name="TextBox 906"/>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3" name="TextBox 907"/>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7ABEDA21-F8B9-CC7D-04F7-1DFC03AD17C7}"/>
              </a:ext>
            </a:extLst>
          </p:cNvPr>
          <p:cNvPicPr>
            <a:picLocks noChangeAspect="1"/>
          </p:cNvPicPr>
          <p:nvPr/>
        </p:nvPicPr>
        <p:blipFill>
          <a:blip r:embed="rId3"/>
          <a:stretch>
            <a:fillRect/>
          </a:stretch>
        </p:blipFill>
        <p:spPr>
          <a:xfrm>
            <a:off x="10623841" y="0"/>
            <a:ext cx="1568159" cy="1195721"/>
          </a:xfrm>
          <a:prstGeom prst="rect">
            <a:avLst/>
          </a:prstGeom>
        </p:spPr>
      </p:pic>
      <p:pic>
        <p:nvPicPr>
          <p:cNvPr id="7" name="Picture 6">
            <a:extLst>
              <a:ext uri="{FF2B5EF4-FFF2-40B4-BE49-F238E27FC236}">
                <a16:creationId xmlns:a16="http://schemas.microsoft.com/office/drawing/2014/main" id="{100BA76F-A9CE-1575-7F50-BED074EE04A8}"/>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Write code to test your code</a:t>
            </a:r>
          </a:p>
        </p:txBody>
      </p:sp>
      <p:sp>
        <p:nvSpPr>
          <p:cNvPr id="4" name="Rect 20"/>
          <p:cNvSpPr/>
          <p:nvPr/>
        </p:nvSpPr>
        <p:spPr>
          <a:xfrm>
            <a:off x="594360" y="1600200"/>
            <a:ext cx="6537960" cy="434340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52" b="0" i="0" dirty="0" err="1">
                <a:solidFill>
                  <a:srgbClr val="172033"/>
                </a:solidFill>
                <a:latin typeface="Courier New"/>
              </a:rPr>
              <a:t>test_model</a:t>
            </a:r>
            <a:r>
              <a:rPr lang="en-US" sz="1452" b="0" i="0" dirty="0">
                <a:solidFill>
                  <a:srgbClr val="172033"/>
                </a:solidFill>
                <a:latin typeface="Courier New"/>
              </a:rPr>
              <a:t> = </a:t>
            </a:r>
            <a:r>
              <a:rPr lang="en-US" sz="1452" b="0" i="0" dirty="0" err="1">
                <a:solidFill>
                  <a:srgbClr val="172033"/>
                </a:solidFill>
                <a:latin typeface="Courier New"/>
              </a:rPr>
              <a:t>np.array</a:t>
            </a:r>
            <a:r>
              <a:rPr lang="en-US" sz="1452" b="0" i="0" dirty="0">
                <a:solidFill>
                  <a:srgbClr val="172033"/>
                </a:solidFill>
                <a:latin typeface="Courier New"/>
              </a:rPr>
              <a:t>([...]).T</a:t>
            </a:r>
          </a:p>
          <a:p>
            <a:pPr marL="0" lvl="0" indent="0" algn="l"/>
            <a:endParaRPr lang="en-US" sz="1452" b="0" i="0" dirty="0">
              <a:solidFill>
                <a:srgbClr val="172033"/>
              </a:solidFill>
              <a:latin typeface="Courier New"/>
            </a:endParaRPr>
          </a:p>
          <a:p>
            <a:pPr marL="0" lvl="0" indent="0" algn="l"/>
            <a:r>
              <a:rPr lang="en-US" sz="1452" b="0" i="0" dirty="0" err="1">
                <a:solidFill>
                  <a:srgbClr val="172033"/>
                </a:solidFill>
                <a:latin typeface="Courier New"/>
              </a:rPr>
              <a:t>test_data</a:t>
            </a:r>
            <a:r>
              <a:rPr lang="en-US" sz="1452" b="0" i="0" dirty="0">
                <a:solidFill>
                  <a:srgbClr val="172033"/>
                </a:solidFill>
                <a:latin typeface="Courier New"/>
              </a:rPr>
              <a:t>  = </a:t>
            </a:r>
          </a:p>
          <a:p>
            <a:pPr marL="0" lvl="0" indent="0" algn="l"/>
            <a:r>
              <a:rPr lang="en-US" sz="1452" dirty="0">
                <a:solidFill>
                  <a:srgbClr val="172033"/>
                </a:solidFill>
                <a:latin typeface="Courier New"/>
              </a:rPr>
              <a:t>	</a:t>
            </a:r>
            <a:r>
              <a:rPr lang="en-US" sz="1452" b="0" i="0" dirty="0">
                <a:solidFill>
                  <a:srgbClr val="172033"/>
                </a:solidFill>
                <a:latin typeface="Courier New"/>
              </a:rPr>
              <a:t>(</a:t>
            </a:r>
            <a:r>
              <a:rPr lang="en-US" sz="1452" b="0" i="0" dirty="0" err="1">
                <a:solidFill>
                  <a:srgbClr val="172033"/>
                </a:solidFill>
                <a:latin typeface="Courier New"/>
              </a:rPr>
              <a:t>test_model</a:t>
            </a:r>
            <a:r>
              <a:rPr lang="en-US" sz="1452" b="0" i="0" dirty="0">
                <a:solidFill>
                  <a:srgbClr val="172033"/>
                </a:solidFill>
                <a:latin typeface="Courier New"/>
              </a:rPr>
              <a:t>[:,0]*5) + (</a:t>
            </a:r>
            <a:r>
              <a:rPr lang="en-US" sz="1452" b="0" i="0" dirty="0" err="1">
                <a:solidFill>
                  <a:srgbClr val="172033"/>
                </a:solidFill>
                <a:latin typeface="Courier New"/>
              </a:rPr>
              <a:t>test_model</a:t>
            </a:r>
            <a:r>
              <a:rPr lang="en-US" sz="1452" b="0" i="0" dirty="0">
                <a:solidFill>
                  <a:srgbClr val="172033"/>
                </a:solidFill>
                <a:latin typeface="Courier New"/>
              </a:rPr>
              <a:t>[:,1]*20)</a:t>
            </a:r>
          </a:p>
          <a:p>
            <a:pPr marL="0" lvl="0" indent="0" algn="l"/>
            <a:endParaRPr lang="en-US" sz="1452" b="0" i="0" dirty="0">
              <a:solidFill>
                <a:srgbClr val="172033"/>
              </a:solidFill>
              <a:latin typeface="Courier New"/>
            </a:endParaRPr>
          </a:p>
          <a:p>
            <a:pPr marL="0" lvl="0" indent="0" algn="l"/>
            <a:r>
              <a:rPr lang="en-US" sz="1452" b="0" i="0" dirty="0">
                <a:solidFill>
                  <a:srgbClr val="172033"/>
                </a:solidFill>
                <a:latin typeface="Courier New"/>
              </a:rPr>
              <a:t>def </a:t>
            </a:r>
            <a:r>
              <a:rPr lang="en-US" sz="1452" b="0" i="0" dirty="0" err="1">
                <a:solidFill>
                  <a:srgbClr val="172033"/>
                </a:solidFill>
                <a:latin typeface="Courier New"/>
              </a:rPr>
              <a:t>test_ols</a:t>
            </a:r>
            <a:r>
              <a:rPr lang="en-US" sz="1452" b="0" i="0" dirty="0">
                <a:solidFill>
                  <a:srgbClr val="172033"/>
                </a:solidFill>
                <a:latin typeface="Courier New"/>
              </a:rPr>
              <a:t>():</a:t>
            </a:r>
          </a:p>
          <a:p>
            <a:pPr marL="0" lvl="0" indent="0" algn="l"/>
            <a:r>
              <a:rPr lang="en-US" sz="1452" b="0" i="0" dirty="0">
                <a:solidFill>
                  <a:srgbClr val="172033"/>
                </a:solidFill>
                <a:latin typeface="Courier New"/>
              </a:rPr>
              <a:t>    </a:t>
            </a:r>
          </a:p>
          <a:p>
            <a:pPr marL="0" lvl="0" indent="0" algn="l"/>
            <a:r>
              <a:rPr lang="en-US" sz="1452" b="0" i="0" dirty="0">
                <a:solidFill>
                  <a:srgbClr val="172033"/>
                </a:solidFill>
                <a:latin typeface="Courier New"/>
              </a:rPr>
              <a:t>    fit, err = </a:t>
            </a:r>
            <a:r>
              <a:rPr lang="en-US" sz="1452" b="0" i="0" dirty="0" err="1">
                <a:solidFill>
                  <a:srgbClr val="172033"/>
                </a:solidFill>
                <a:latin typeface="Courier New"/>
              </a:rPr>
              <a:t>ols</a:t>
            </a:r>
            <a:r>
              <a:rPr lang="en-US" sz="1452" b="0" i="0" dirty="0">
                <a:solidFill>
                  <a:srgbClr val="172033"/>
                </a:solidFill>
                <a:latin typeface="Courier New"/>
              </a:rPr>
              <a:t>(</a:t>
            </a:r>
            <a:r>
              <a:rPr lang="en-US" sz="1452" b="0" i="0" dirty="0" err="1">
                <a:solidFill>
                  <a:srgbClr val="172033"/>
                </a:solidFill>
                <a:latin typeface="Courier New"/>
              </a:rPr>
              <a:t>test_data</a:t>
            </a:r>
            <a:r>
              <a:rPr lang="en-US" sz="1452" b="0" i="0" dirty="0">
                <a:solidFill>
                  <a:srgbClr val="172033"/>
                </a:solidFill>
                <a:latin typeface="Courier New"/>
              </a:rPr>
              <a:t>, </a:t>
            </a:r>
            <a:r>
              <a:rPr lang="en-US" sz="1452" b="0" i="0" dirty="0" err="1">
                <a:solidFill>
                  <a:srgbClr val="172033"/>
                </a:solidFill>
                <a:latin typeface="Courier New"/>
              </a:rPr>
              <a:t>test_model</a:t>
            </a:r>
            <a:r>
              <a:rPr lang="en-US" sz="1452" b="0" i="0" dirty="0">
                <a:solidFill>
                  <a:srgbClr val="172033"/>
                </a:solidFill>
                <a:latin typeface="Courier New"/>
              </a:rPr>
              <a:t>)</a:t>
            </a:r>
          </a:p>
          <a:p>
            <a:pPr marL="0" lvl="0" indent="0" algn="l"/>
            <a:endParaRPr lang="en-US" sz="1452" b="0" i="0" dirty="0">
              <a:solidFill>
                <a:srgbClr val="172033"/>
              </a:solidFill>
              <a:latin typeface="Courier New"/>
            </a:endParaRPr>
          </a:p>
          <a:p>
            <a:pPr marL="0" lvl="0" indent="0" algn="l"/>
            <a:r>
              <a:rPr lang="en-US" sz="1452" b="0" i="0" dirty="0">
                <a:solidFill>
                  <a:srgbClr val="172033"/>
                </a:solidFill>
                <a:latin typeface="Courier New"/>
              </a:rPr>
              <a:t>    assert </a:t>
            </a:r>
            <a:r>
              <a:rPr lang="en-US" sz="1452" b="0" i="0" dirty="0" err="1">
                <a:solidFill>
                  <a:srgbClr val="172033"/>
                </a:solidFill>
                <a:latin typeface="Courier New"/>
              </a:rPr>
              <a:t>np.isclose</a:t>
            </a:r>
            <a:r>
              <a:rPr lang="en-US" sz="1452" b="0" i="0" dirty="0">
                <a:solidFill>
                  <a:srgbClr val="172033"/>
                </a:solidFill>
                <a:latin typeface="Courier New"/>
              </a:rPr>
              <a:t>(fit, [5, 20]).all()</a:t>
            </a:r>
          </a:p>
          <a:p>
            <a:pPr marL="0" lvl="0" indent="0" algn="l"/>
            <a:r>
              <a:rPr lang="en-US" sz="1452" b="0" i="0" dirty="0">
                <a:solidFill>
                  <a:srgbClr val="172033"/>
                </a:solidFill>
                <a:latin typeface="Courier New"/>
              </a:rPr>
              <a:t>    assert </a:t>
            </a:r>
            <a:r>
              <a:rPr lang="en-US" sz="1452" b="0" i="0" dirty="0" err="1">
                <a:solidFill>
                  <a:srgbClr val="172033"/>
                </a:solidFill>
                <a:latin typeface="Courier New"/>
              </a:rPr>
              <a:t>np.isclose</a:t>
            </a:r>
            <a:r>
              <a:rPr lang="en-US" sz="1452" b="0" i="0" dirty="0">
                <a:solidFill>
                  <a:srgbClr val="172033"/>
                </a:solidFill>
                <a:latin typeface="Courier New"/>
              </a:rPr>
              <a:t>(err, 0).all()</a:t>
            </a:r>
          </a:p>
        </p:txBody>
      </p:sp>
      <p:sp>
        <p:nvSpPr>
          <p:cNvPr id="6" name="TextBox 31"/>
          <p:cNvSpPr/>
          <p:nvPr/>
        </p:nvSpPr>
        <p:spPr>
          <a:xfrm>
            <a:off x="7680960" y="1874519"/>
            <a:ext cx="3474720" cy="411480"/>
          </a:xfrm>
          <a:noFill/>
          <a:ln>
            <a:noFill/>
          </a:ln>
        </p:spPr>
        <p:txBody>
          <a:bodyPr lIns="73152" tIns="73152" rIns="73152" bIns="73152" anchor="ctr"/>
          <a:lstStyle/>
          <a:p>
            <a:pPr marL="0" lvl="0" indent="0" algn="l"/>
            <a:r>
              <a:rPr lang="en-US" sz="2000" b="1" i="0" dirty="0">
                <a:solidFill>
                  <a:srgbClr val="172033"/>
                </a:solidFill>
                <a:latin typeface="Aptos"/>
              </a:rPr>
              <a:t>Test</a:t>
            </a:r>
          </a:p>
        </p:txBody>
      </p:sp>
      <p:sp>
        <p:nvSpPr>
          <p:cNvPr id="7" name="TextBox 32"/>
          <p:cNvSpPr/>
          <p:nvPr/>
        </p:nvSpPr>
        <p:spPr>
          <a:xfrm>
            <a:off x="7708392" y="2578608"/>
            <a:ext cx="3337560" cy="411480"/>
          </a:xfrm>
          <a:noFill/>
          <a:ln>
            <a:noFill/>
          </a:ln>
        </p:spPr>
        <p:txBody>
          <a:bodyPr lIns="73152" tIns="73152" rIns="73152" bIns="73152" anchor="ctr"/>
          <a:lstStyle/>
          <a:p>
            <a:pPr marL="0" lvl="0" indent="0" algn="l"/>
            <a:r>
              <a:rPr lang="en-US" b="0" i="0">
                <a:solidFill>
                  <a:srgbClr val="172033"/>
                </a:solidFill>
                <a:latin typeface="Aptos"/>
              </a:rPr>
              <a:t>✓  Known inputs</a:t>
            </a:r>
          </a:p>
        </p:txBody>
      </p:sp>
      <p:sp>
        <p:nvSpPr>
          <p:cNvPr id="8" name="TextBox 33"/>
          <p:cNvSpPr/>
          <p:nvPr/>
        </p:nvSpPr>
        <p:spPr>
          <a:xfrm>
            <a:off x="7708392" y="3172968"/>
            <a:ext cx="3337560" cy="411480"/>
          </a:xfrm>
          <a:noFill/>
          <a:ln>
            <a:noFill/>
          </a:ln>
        </p:spPr>
        <p:txBody>
          <a:bodyPr lIns="73152" tIns="73152" rIns="73152" bIns="73152" anchor="ctr"/>
          <a:lstStyle/>
          <a:p>
            <a:pPr marL="0" lvl="0" indent="0" algn="l"/>
            <a:r>
              <a:rPr lang="en-US" b="0" i="0">
                <a:solidFill>
                  <a:srgbClr val="172033"/>
                </a:solidFill>
                <a:latin typeface="Aptos"/>
              </a:rPr>
              <a:t>✓  Expected fit = [5, 20]</a:t>
            </a:r>
          </a:p>
        </p:txBody>
      </p:sp>
      <p:sp>
        <p:nvSpPr>
          <p:cNvPr id="9" name="TextBox 34"/>
          <p:cNvSpPr/>
          <p:nvPr/>
        </p:nvSpPr>
        <p:spPr>
          <a:xfrm>
            <a:off x="7708392" y="3767328"/>
            <a:ext cx="3337560" cy="411480"/>
          </a:xfrm>
          <a:noFill/>
          <a:ln>
            <a:noFill/>
          </a:ln>
        </p:spPr>
        <p:txBody>
          <a:bodyPr lIns="73152" tIns="73152" rIns="73152" bIns="73152" anchor="ctr"/>
          <a:lstStyle/>
          <a:p>
            <a:pPr marL="0" lvl="0" indent="0" algn="l"/>
            <a:r>
              <a:rPr lang="en-US" b="0" i="0">
                <a:solidFill>
                  <a:srgbClr val="172033"/>
                </a:solidFill>
                <a:latin typeface="Aptos"/>
              </a:rPr>
              <a:t>✓  Expected residuals = 0</a:t>
            </a:r>
          </a:p>
        </p:txBody>
      </p:sp>
      <p:sp>
        <p:nvSpPr>
          <p:cNvPr id="11" name="Line 906"/>
          <p:cNvSpPr/>
          <p:nvPr/>
        </p:nvSpPr>
        <p:spPr>
          <a:xfrm>
            <a:off x="594360" y="6446520"/>
            <a:ext cx="10972800" cy="9144"/>
          </a:xfrm>
          <a:ln w="12700">
            <a:solidFill>
              <a:srgbClr val="D5DDE7"/>
            </a:solidFill>
          </a:ln>
        </p:spPr>
        <p:txBody>
          <a:bodyPr/>
          <a:lstStyle/>
          <a:p>
            <a:endParaRPr lang="en-US"/>
          </a:p>
        </p:txBody>
      </p:sp>
      <p:sp>
        <p:nvSpPr>
          <p:cNvPr id="12" name="TextBox 907"/>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3" name="TextBox 908"/>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5C806B9D-4607-27D8-4C6A-8C8C21959ADD}"/>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0F1E3A0A-108F-8890-A5A0-035A2CC3850C}"/>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7472F112-3AE4-20A0-4E64-CACBFD4E91F6}"/>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7BB23B57-796F-EE02-F5BC-042ED13AE895}"/>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Write code to test your code</a:t>
            </a:r>
          </a:p>
        </p:txBody>
      </p:sp>
      <p:sp>
        <p:nvSpPr>
          <p:cNvPr id="4" name="Rect 20">
            <a:extLst>
              <a:ext uri="{FF2B5EF4-FFF2-40B4-BE49-F238E27FC236}">
                <a16:creationId xmlns:a16="http://schemas.microsoft.com/office/drawing/2014/main" id="{EB461DD0-6C85-E258-CFD4-F8E3F193014E}"/>
              </a:ext>
            </a:extLst>
          </p:cNvPr>
          <p:cNvSpPr/>
          <p:nvPr/>
        </p:nvSpPr>
        <p:spPr>
          <a:xfrm>
            <a:off x="594360" y="1600200"/>
            <a:ext cx="6537960" cy="434340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52" b="0" i="0" dirty="0" err="1">
                <a:solidFill>
                  <a:srgbClr val="172033"/>
                </a:solidFill>
                <a:latin typeface="Courier New"/>
              </a:rPr>
              <a:t>test_model</a:t>
            </a:r>
            <a:r>
              <a:rPr lang="en-US" sz="1452" b="0" i="0" dirty="0">
                <a:solidFill>
                  <a:srgbClr val="172033"/>
                </a:solidFill>
                <a:latin typeface="Courier New"/>
              </a:rPr>
              <a:t> = </a:t>
            </a:r>
            <a:r>
              <a:rPr lang="en-US" sz="1452" b="0" i="0" dirty="0" err="1">
                <a:solidFill>
                  <a:srgbClr val="172033"/>
                </a:solidFill>
                <a:latin typeface="Courier New"/>
              </a:rPr>
              <a:t>np.array</a:t>
            </a:r>
            <a:r>
              <a:rPr lang="en-US" sz="1452" b="0" i="0" dirty="0">
                <a:solidFill>
                  <a:srgbClr val="172033"/>
                </a:solidFill>
                <a:latin typeface="Courier New"/>
              </a:rPr>
              <a:t>([...]).T</a:t>
            </a:r>
          </a:p>
          <a:p>
            <a:pPr marL="0" lvl="0" indent="0" algn="l"/>
            <a:endParaRPr lang="en-US" sz="1452" b="0" i="0" dirty="0">
              <a:solidFill>
                <a:srgbClr val="172033"/>
              </a:solidFill>
              <a:latin typeface="Courier New"/>
            </a:endParaRPr>
          </a:p>
          <a:p>
            <a:pPr marL="0" lvl="0" indent="0" algn="l"/>
            <a:r>
              <a:rPr lang="en-US" sz="1452" b="0" i="0" dirty="0" err="1">
                <a:solidFill>
                  <a:srgbClr val="172033"/>
                </a:solidFill>
                <a:latin typeface="Courier New"/>
              </a:rPr>
              <a:t>test_data</a:t>
            </a:r>
            <a:r>
              <a:rPr lang="en-US" sz="1452" b="0" i="0" dirty="0">
                <a:solidFill>
                  <a:srgbClr val="172033"/>
                </a:solidFill>
                <a:latin typeface="Courier New"/>
              </a:rPr>
              <a:t>  = </a:t>
            </a:r>
          </a:p>
          <a:p>
            <a:pPr marL="0" lvl="0" indent="0" algn="l"/>
            <a:r>
              <a:rPr lang="en-US" sz="1452" dirty="0">
                <a:solidFill>
                  <a:srgbClr val="172033"/>
                </a:solidFill>
                <a:latin typeface="Courier New"/>
              </a:rPr>
              <a:t>	</a:t>
            </a:r>
            <a:r>
              <a:rPr lang="en-US" sz="1452" b="0" i="0" dirty="0">
                <a:solidFill>
                  <a:srgbClr val="172033"/>
                </a:solidFill>
                <a:latin typeface="Courier New"/>
              </a:rPr>
              <a:t>(</a:t>
            </a:r>
            <a:r>
              <a:rPr lang="en-US" sz="1452" b="0" i="0" dirty="0" err="1">
                <a:solidFill>
                  <a:srgbClr val="172033"/>
                </a:solidFill>
                <a:latin typeface="Courier New"/>
              </a:rPr>
              <a:t>test_model</a:t>
            </a:r>
            <a:r>
              <a:rPr lang="en-US" sz="1452" b="0" i="0" dirty="0">
                <a:solidFill>
                  <a:srgbClr val="172033"/>
                </a:solidFill>
                <a:latin typeface="Courier New"/>
              </a:rPr>
              <a:t>[:,0]*5) + (</a:t>
            </a:r>
            <a:r>
              <a:rPr lang="en-US" sz="1452" b="0" i="0" dirty="0" err="1">
                <a:solidFill>
                  <a:srgbClr val="172033"/>
                </a:solidFill>
                <a:latin typeface="Courier New"/>
              </a:rPr>
              <a:t>test_model</a:t>
            </a:r>
            <a:r>
              <a:rPr lang="en-US" sz="1452" b="0" i="0" dirty="0">
                <a:solidFill>
                  <a:srgbClr val="172033"/>
                </a:solidFill>
                <a:latin typeface="Courier New"/>
              </a:rPr>
              <a:t>[:,1]*20)</a:t>
            </a:r>
          </a:p>
          <a:p>
            <a:pPr marL="0" lvl="0" indent="0" algn="l"/>
            <a:endParaRPr lang="en-US" sz="1452" b="0" i="0" dirty="0">
              <a:solidFill>
                <a:srgbClr val="172033"/>
              </a:solidFill>
              <a:latin typeface="Courier New"/>
            </a:endParaRPr>
          </a:p>
          <a:p>
            <a:pPr marL="0" lvl="0" indent="0" algn="l"/>
            <a:r>
              <a:rPr lang="en-US" sz="1452" b="0" i="0" dirty="0">
                <a:solidFill>
                  <a:srgbClr val="172033"/>
                </a:solidFill>
                <a:latin typeface="Courier New"/>
              </a:rPr>
              <a:t>def </a:t>
            </a:r>
            <a:r>
              <a:rPr lang="en-US" sz="1452" b="0" i="0" dirty="0" err="1">
                <a:solidFill>
                  <a:srgbClr val="172033"/>
                </a:solidFill>
                <a:latin typeface="Courier New"/>
              </a:rPr>
              <a:t>test_ols</a:t>
            </a:r>
            <a:r>
              <a:rPr lang="en-US" sz="1452" b="0" i="0" dirty="0">
                <a:solidFill>
                  <a:srgbClr val="172033"/>
                </a:solidFill>
                <a:latin typeface="Courier New"/>
              </a:rPr>
              <a:t>():</a:t>
            </a:r>
          </a:p>
          <a:p>
            <a:pPr marL="0" lvl="0" indent="0" algn="l"/>
            <a:r>
              <a:rPr lang="en-US" sz="1452" b="0" i="0" dirty="0">
                <a:solidFill>
                  <a:srgbClr val="172033"/>
                </a:solidFill>
                <a:latin typeface="Courier New"/>
              </a:rPr>
              <a:t>    </a:t>
            </a:r>
          </a:p>
          <a:p>
            <a:pPr marL="0" lvl="0" indent="0" algn="l"/>
            <a:r>
              <a:rPr lang="en-US" sz="1452" dirty="0">
                <a:solidFill>
                  <a:srgbClr val="172033"/>
                </a:solidFill>
                <a:latin typeface="Courier New"/>
              </a:rPr>
              <a:t>    </a:t>
            </a:r>
            <a:r>
              <a:rPr lang="en-US" sz="1452" b="0" i="0" dirty="0">
                <a:solidFill>
                  <a:srgbClr val="172033"/>
                </a:solidFill>
                <a:latin typeface="Courier New"/>
              </a:rPr>
              <a:t>fit, err = </a:t>
            </a:r>
            <a:r>
              <a:rPr lang="en-US" sz="1452" b="0" i="0" dirty="0" err="1">
                <a:solidFill>
                  <a:srgbClr val="172033"/>
                </a:solidFill>
                <a:latin typeface="Courier New"/>
              </a:rPr>
              <a:t>ols</a:t>
            </a:r>
            <a:r>
              <a:rPr lang="en-US" sz="1452" b="0" i="0" dirty="0">
                <a:solidFill>
                  <a:srgbClr val="172033"/>
                </a:solidFill>
                <a:latin typeface="Courier New"/>
              </a:rPr>
              <a:t>(</a:t>
            </a:r>
            <a:r>
              <a:rPr lang="en-US" sz="1452" b="0" i="0" dirty="0" err="1">
                <a:solidFill>
                  <a:srgbClr val="172033"/>
                </a:solidFill>
                <a:latin typeface="Courier New"/>
              </a:rPr>
              <a:t>test_data</a:t>
            </a:r>
            <a:r>
              <a:rPr lang="en-US" sz="1452" b="0" i="0" dirty="0">
                <a:solidFill>
                  <a:srgbClr val="172033"/>
                </a:solidFill>
                <a:latin typeface="Courier New"/>
              </a:rPr>
              <a:t>, </a:t>
            </a:r>
            <a:r>
              <a:rPr lang="en-US" sz="1452" b="0" i="0" dirty="0" err="1">
                <a:solidFill>
                  <a:srgbClr val="172033"/>
                </a:solidFill>
                <a:latin typeface="Courier New"/>
              </a:rPr>
              <a:t>test_model</a:t>
            </a:r>
            <a:r>
              <a:rPr lang="en-US" sz="1452" b="0" i="0" dirty="0">
                <a:solidFill>
                  <a:srgbClr val="172033"/>
                </a:solidFill>
                <a:latin typeface="Courier New"/>
              </a:rPr>
              <a:t>)</a:t>
            </a:r>
          </a:p>
          <a:p>
            <a:pPr marL="0" lvl="0" indent="0" algn="l"/>
            <a:r>
              <a:rPr lang="en-US" sz="1452" b="0" i="0" dirty="0">
                <a:solidFill>
                  <a:srgbClr val="172033"/>
                </a:solidFill>
                <a:latin typeface="Courier New"/>
              </a:rPr>
              <a:t>    </a:t>
            </a:r>
          </a:p>
          <a:p>
            <a:pPr marL="0" lvl="0" indent="0" algn="l"/>
            <a:r>
              <a:rPr lang="en-US" sz="1452" dirty="0">
                <a:solidFill>
                  <a:srgbClr val="172033"/>
                </a:solidFill>
                <a:latin typeface="Courier New"/>
              </a:rPr>
              <a:t>    </a:t>
            </a:r>
            <a:r>
              <a:rPr lang="en-US" sz="1452" b="0" i="0" dirty="0">
                <a:solidFill>
                  <a:srgbClr val="172033"/>
                </a:solidFill>
                <a:latin typeface="Courier New"/>
              </a:rPr>
              <a:t>assert </a:t>
            </a:r>
            <a:r>
              <a:rPr lang="en-US" sz="1452" b="0" i="0" dirty="0" err="1">
                <a:solidFill>
                  <a:srgbClr val="172033"/>
                </a:solidFill>
                <a:latin typeface="Courier New"/>
              </a:rPr>
              <a:t>np.isclose</a:t>
            </a:r>
            <a:r>
              <a:rPr lang="en-US" sz="1452" b="0" i="0" dirty="0">
                <a:solidFill>
                  <a:srgbClr val="172033"/>
                </a:solidFill>
                <a:latin typeface="Courier New"/>
              </a:rPr>
              <a:t>(fit, [5, 20]).all()</a:t>
            </a:r>
          </a:p>
          <a:p>
            <a:pPr marL="0" lvl="0" indent="0" algn="l"/>
            <a:r>
              <a:rPr lang="en-US" sz="1452" b="0" i="0" dirty="0">
                <a:solidFill>
                  <a:srgbClr val="172033"/>
                </a:solidFill>
                <a:latin typeface="Courier New"/>
              </a:rPr>
              <a:t>    assert </a:t>
            </a:r>
            <a:r>
              <a:rPr lang="en-US" sz="1452" b="0" i="0" dirty="0" err="1">
                <a:solidFill>
                  <a:srgbClr val="172033"/>
                </a:solidFill>
                <a:latin typeface="Courier New"/>
              </a:rPr>
              <a:t>np.isclose</a:t>
            </a:r>
            <a:r>
              <a:rPr lang="en-US" sz="1452" b="0" i="0" dirty="0">
                <a:solidFill>
                  <a:srgbClr val="172033"/>
                </a:solidFill>
                <a:latin typeface="Courier New"/>
              </a:rPr>
              <a:t>(err, 0).all()</a:t>
            </a:r>
          </a:p>
        </p:txBody>
      </p:sp>
      <p:sp>
        <p:nvSpPr>
          <p:cNvPr id="6" name="TextBox 31">
            <a:extLst>
              <a:ext uri="{FF2B5EF4-FFF2-40B4-BE49-F238E27FC236}">
                <a16:creationId xmlns:a16="http://schemas.microsoft.com/office/drawing/2014/main" id="{0FB1B91F-3046-83C4-312D-E527169835FF}"/>
              </a:ext>
            </a:extLst>
          </p:cNvPr>
          <p:cNvSpPr/>
          <p:nvPr/>
        </p:nvSpPr>
        <p:spPr>
          <a:xfrm>
            <a:off x="7680960" y="1874519"/>
            <a:ext cx="3474720" cy="411480"/>
          </a:xfrm>
          <a:noFill/>
          <a:ln>
            <a:noFill/>
          </a:ln>
        </p:spPr>
        <p:txBody>
          <a:bodyPr lIns="73152" tIns="73152" rIns="73152" bIns="73152" anchor="ctr"/>
          <a:lstStyle/>
          <a:p>
            <a:pPr marL="0" lvl="0" indent="0" algn="l"/>
            <a:r>
              <a:rPr lang="en-US" sz="2000" b="1" i="0" dirty="0">
                <a:solidFill>
                  <a:srgbClr val="172033"/>
                </a:solidFill>
                <a:latin typeface="Aptos"/>
              </a:rPr>
              <a:t>Test</a:t>
            </a:r>
          </a:p>
        </p:txBody>
      </p:sp>
      <p:sp>
        <p:nvSpPr>
          <p:cNvPr id="7" name="TextBox 32">
            <a:extLst>
              <a:ext uri="{FF2B5EF4-FFF2-40B4-BE49-F238E27FC236}">
                <a16:creationId xmlns:a16="http://schemas.microsoft.com/office/drawing/2014/main" id="{ADF73345-F2D5-223F-6906-1DA28968B786}"/>
              </a:ext>
            </a:extLst>
          </p:cNvPr>
          <p:cNvSpPr/>
          <p:nvPr/>
        </p:nvSpPr>
        <p:spPr>
          <a:xfrm>
            <a:off x="7708392" y="2578608"/>
            <a:ext cx="3337560" cy="411480"/>
          </a:xfrm>
          <a:noFill/>
          <a:ln>
            <a:noFill/>
          </a:ln>
        </p:spPr>
        <p:txBody>
          <a:bodyPr lIns="73152" tIns="73152" rIns="73152" bIns="73152" anchor="ctr"/>
          <a:lstStyle/>
          <a:p>
            <a:pPr marL="0" lvl="0" indent="0" algn="l"/>
            <a:r>
              <a:rPr lang="en-US" b="0" i="0">
                <a:solidFill>
                  <a:srgbClr val="172033"/>
                </a:solidFill>
                <a:latin typeface="Aptos"/>
              </a:rPr>
              <a:t>✓  Known inputs</a:t>
            </a:r>
          </a:p>
        </p:txBody>
      </p:sp>
      <p:sp>
        <p:nvSpPr>
          <p:cNvPr id="8" name="TextBox 33">
            <a:extLst>
              <a:ext uri="{FF2B5EF4-FFF2-40B4-BE49-F238E27FC236}">
                <a16:creationId xmlns:a16="http://schemas.microsoft.com/office/drawing/2014/main" id="{904F3C34-E204-F3CB-F38B-69718340888B}"/>
              </a:ext>
            </a:extLst>
          </p:cNvPr>
          <p:cNvSpPr/>
          <p:nvPr/>
        </p:nvSpPr>
        <p:spPr>
          <a:xfrm>
            <a:off x="7708392" y="3172968"/>
            <a:ext cx="3337560" cy="411480"/>
          </a:xfrm>
          <a:noFill/>
          <a:ln>
            <a:noFill/>
          </a:ln>
        </p:spPr>
        <p:txBody>
          <a:bodyPr lIns="73152" tIns="73152" rIns="73152" bIns="73152" anchor="ctr"/>
          <a:lstStyle/>
          <a:p>
            <a:pPr marL="0" lvl="0" indent="0" algn="l"/>
            <a:r>
              <a:rPr lang="en-US" b="0" i="0">
                <a:solidFill>
                  <a:srgbClr val="172033"/>
                </a:solidFill>
                <a:latin typeface="Aptos"/>
              </a:rPr>
              <a:t>✓  Expected fit = [5, 20]</a:t>
            </a:r>
          </a:p>
        </p:txBody>
      </p:sp>
      <p:sp>
        <p:nvSpPr>
          <p:cNvPr id="9" name="TextBox 34">
            <a:extLst>
              <a:ext uri="{FF2B5EF4-FFF2-40B4-BE49-F238E27FC236}">
                <a16:creationId xmlns:a16="http://schemas.microsoft.com/office/drawing/2014/main" id="{6D458FF2-D3DB-848D-E491-3D1490F9D634}"/>
              </a:ext>
            </a:extLst>
          </p:cNvPr>
          <p:cNvSpPr/>
          <p:nvPr/>
        </p:nvSpPr>
        <p:spPr>
          <a:xfrm>
            <a:off x="7708392" y="3767328"/>
            <a:ext cx="3337560" cy="411480"/>
          </a:xfrm>
          <a:noFill/>
          <a:ln>
            <a:noFill/>
          </a:ln>
        </p:spPr>
        <p:txBody>
          <a:bodyPr lIns="73152" tIns="73152" rIns="73152" bIns="73152" anchor="ctr"/>
          <a:lstStyle/>
          <a:p>
            <a:pPr marL="0" lvl="0" indent="0" algn="l"/>
            <a:r>
              <a:rPr lang="en-US" b="0" i="0">
                <a:solidFill>
                  <a:srgbClr val="172033"/>
                </a:solidFill>
                <a:latin typeface="Aptos"/>
              </a:rPr>
              <a:t>✓  Expected residuals = 0</a:t>
            </a:r>
          </a:p>
        </p:txBody>
      </p:sp>
      <p:sp>
        <p:nvSpPr>
          <p:cNvPr id="11" name="Line 906">
            <a:extLst>
              <a:ext uri="{FF2B5EF4-FFF2-40B4-BE49-F238E27FC236}">
                <a16:creationId xmlns:a16="http://schemas.microsoft.com/office/drawing/2014/main" id="{879E30B3-FD24-E63D-720C-95C08680297E}"/>
              </a:ext>
            </a:extLst>
          </p:cNvPr>
          <p:cNvSpPr/>
          <p:nvPr/>
        </p:nvSpPr>
        <p:spPr>
          <a:xfrm>
            <a:off x="594360" y="6446520"/>
            <a:ext cx="10972800" cy="9144"/>
          </a:xfrm>
          <a:ln w="12700">
            <a:solidFill>
              <a:srgbClr val="D5DDE7"/>
            </a:solidFill>
          </a:ln>
        </p:spPr>
        <p:txBody>
          <a:bodyPr/>
          <a:lstStyle/>
          <a:p>
            <a:endParaRPr lang="en-US"/>
          </a:p>
        </p:txBody>
      </p:sp>
      <p:sp>
        <p:nvSpPr>
          <p:cNvPr id="12" name="TextBox 907">
            <a:extLst>
              <a:ext uri="{FF2B5EF4-FFF2-40B4-BE49-F238E27FC236}">
                <a16:creationId xmlns:a16="http://schemas.microsoft.com/office/drawing/2014/main" id="{0D4274CD-BE0A-E5FB-08F3-2078F50724C6}"/>
              </a:ext>
            </a:extLst>
          </p:cNvPr>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3" name="TextBox 908">
            <a:extLst>
              <a:ext uri="{FF2B5EF4-FFF2-40B4-BE49-F238E27FC236}">
                <a16:creationId xmlns:a16="http://schemas.microsoft.com/office/drawing/2014/main" id="{A36CFDF1-6C43-C821-DB4C-5C3FDD0C144F}"/>
              </a:ext>
            </a:extLst>
          </p:cNvPr>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sp>
        <p:nvSpPr>
          <p:cNvPr id="2" name="TextBox 1">
            <a:extLst>
              <a:ext uri="{FF2B5EF4-FFF2-40B4-BE49-F238E27FC236}">
                <a16:creationId xmlns:a16="http://schemas.microsoft.com/office/drawing/2014/main" id="{6B98EB13-8C27-0D21-41FD-4FD2B33136B1}"/>
              </a:ext>
            </a:extLst>
          </p:cNvPr>
          <p:cNvSpPr txBox="1"/>
          <p:nvPr/>
        </p:nvSpPr>
        <p:spPr>
          <a:xfrm>
            <a:off x="4282832" y="1208007"/>
            <a:ext cx="3595856" cy="369332"/>
          </a:xfrm>
          <a:prstGeom prst="rect">
            <a:avLst/>
          </a:prstGeom>
          <a:noFill/>
        </p:spPr>
        <p:txBody>
          <a:bodyPr wrap="none" rtlCol="0">
            <a:spAutoFit/>
          </a:bodyPr>
          <a:lstStyle/>
          <a:p>
            <a:r>
              <a:rPr lang="en-US" dirty="0">
                <a:solidFill>
                  <a:srgbClr val="FF0000"/>
                </a:solidFill>
              </a:rPr>
              <a:t>Complete working code in tutorial</a:t>
            </a:r>
          </a:p>
        </p:txBody>
      </p:sp>
      <p:pic>
        <p:nvPicPr>
          <p:cNvPr id="5" name="Picture 4">
            <a:extLst>
              <a:ext uri="{FF2B5EF4-FFF2-40B4-BE49-F238E27FC236}">
                <a16:creationId xmlns:a16="http://schemas.microsoft.com/office/drawing/2014/main" id="{B520FA12-80EB-30A6-4C88-24FB32920062}"/>
              </a:ext>
            </a:extLst>
          </p:cNvPr>
          <p:cNvPicPr>
            <a:picLocks noChangeAspect="1"/>
          </p:cNvPicPr>
          <p:nvPr/>
        </p:nvPicPr>
        <p:blipFill>
          <a:blip r:embed="rId2"/>
          <a:stretch>
            <a:fillRect/>
          </a:stretch>
        </p:blipFill>
        <p:spPr>
          <a:xfrm>
            <a:off x="10623841" y="0"/>
            <a:ext cx="1568159" cy="1195721"/>
          </a:xfrm>
          <a:prstGeom prst="rect">
            <a:avLst/>
          </a:prstGeom>
        </p:spPr>
      </p:pic>
      <p:pic>
        <p:nvPicPr>
          <p:cNvPr id="10" name="Picture 9">
            <a:extLst>
              <a:ext uri="{FF2B5EF4-FFF2-40B4-BE49-F238E27FC236}">
                <a16:creationId xmlns:a16="http://schemas.microsoft.com/office/drawing/2014/main" id="{E6F4F035-3962-52CD-E450-8A0886C2FBA5}"/>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882939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Unit vs integration testing</a:t>
            </a:r>
          </a:p>
        </p:txBody>
      </p:sp>
      <p:sp>
        <p:nvSpPr>
          <p:cNvPr id="4" name="Rect 20"/>
          <p:cNvSpPr/>
          <p:nvPr/>
        </p:nvSpPr>
        <p:spPr>
          <a:xfrm>
            <a:off x="594360" y="1600200"/>
            <a:ext cx="5166360" cy="3520440"/>
          </a:xfrm>
          <a:prstGeom prst="roundRect">
            <a:avLst/>
          </a:prstGeom>
          <a:solidFill>
            <a:srgbClr val="FFFFFF"/>
          </a:solidFill>
          <a:ln>
            <a:solidFill>
              <a:srgbClr val="D5DDE7"/>
            </a:solidFill>
            <a:prstDash val="solid"/>
          </a:ln>
        </p:spPr>
        <p:txBody>
          <a:bodyPr/>
          <a:lstStyle/>
          <a:p>
            <a:endParaRPr lang="en-US"/>
          </a:p>
        </p:txBody>
      </p:sp>
      <p:sp>
        <p:nvSpPr>
          <p:cNvPr id="5" name="TextBox 21"/>
          <p:cNvSpPr/>
          <p:nvPr/>
        </p:nvSpPr>
        <p:spPr>
          <a:xfrm>
            <a:off x="868680" y="1901952"/>
            <a:ext cx="4480560" cy="411480"/>
          </a:xfrm>
          <a:noFill/>
          <a:ln>
            <a:noFill/>
          </a:ln>
        </p:spPr>
        <p:txBody>
          <a:bodyPr lIns="73152" tIns="73152" rIns="73152" bIns="73152" anchor="ctr"/>
          <a:lstStyle/>
          <a:p>
            <a:pPr marL="0" lvl="0" indent="0" algn="l"/>
            <a:r>
              <a:rPr lang="en-US" sz="1320" b="1" i="0">
                <a:solidFill>
                  <a:srgbClr val="172033"/>
                </a:solidFill>
                <a:latin typeface="Aptos"/>
              </a:rPr>
              <a:t>UNIT TEST</a:t>
            </a:r>
          </a:p>
        </p:txBody>
      </p:sp>
      <p:sp>
        <p:nvSpPr>
          <p:cNvPr id="6" name="TextBox 22"/>
          <p:cNvSpPr/>
          <p:nvPr/>
        </p:nvSpPr>
        <p:spPr>
          <a:xfrm>
            <a:off x="868680" y="2514600"/>
            <a:ext cx="4389120" cy="640080"/>
          </a:xfrm>
          <a:noFill/>
          <a:ln>
            <a:noFill/>
          </a:ln>
        </p:spPr>
        <p:txBody>
          <a:bodyPr lIns="73152" tIns="73152" rIns="73152" bIns="73152" anchor="ctr"/>
          <a:lstStyle/>
          <a:p>
            <a:pPr marL="0" lvl="0" indent="0" algn="l"/>
            <a:r>
              <a:rPr lang="en-US" sz="2166" b="1" i="0">
                <a:solidFill>
                  <a:srgbClr val="172033"/>
                </a:solidFill>
                <a:latin typeface="Courier New"/>
              </a:rPr>
              <a:t>test_ols()</a:t>
            </a:r>
          </a:p>
        </p:txBody>
      </p:sp>
      <p:sp>
        <p:nvSpPr>
          <p:cNvPr id="7" name="TextBox 23"/>
          <p:cNvSpPr/>
          <p:nvPr/>
        </p:nvSpPr>
        <p:spPr>
          <a:xfrm>
            <a:off x="868680" y="3310128"/>
            <a:ext cx="4389120" cy="1005840"/>
          </a:xfrm>
          <a:noFill/>
          <a:ln>
            <a:noFill/>
          </a:ln>
        </p:spPr>
        <p:txBody>
          <a:bodyPr lIns="73152" tIns="73152" rIns="73152" bIns="73152" anchor="ctr"/>
          <a:lstStyle/>
          <a:p>
            <a:pPr marL="0" lvl="0" indent="0" algn="l"/>
            <a:r>
              <a:rPr lang="en-US" sz="2000" b="0" i="0" dirty="0">
                <a:solidFill>
                  <a:srgbClr val="172033"/>
                </a:solidFill>
                <a:latin typeface="Aptos"/>
              </a:rPr>
              <a:t>Checks the isolated regression</a:t>
            </a:r>
          </a:p>
          <a:p>
            <a:pPr marL="0" lvl="0" indent="0" algn="l"/>
            <a:r>
              <a:rPr lang="en-US" sz="2000" b="0" i="0" dirty="0">
                <a:solidFill>
                  <a:srgbClr val="172033"/>
                </a:solidFill>
                <a:latin typeface="Aptos"/>
              </a:rPr>
              <a:t>function with test data.</a:t>
            </a:r>
          </a:p>
        </p:txBody>
      </p:sp>
      <p:sp>
        <p:nvSpPr>
          <p:cNvPr id="8" name="Rect 30"/>
          <p:cNvSpPr/>
          <p:nvPr/>
        </p:nvSpPr>
        <p:spPr>
          <a:xfrm>
            <a:off x="6035040" y="1600200"/>
            <a:ext cx="5288280" cy="3520440"/>
          </a:xfrm>
          <a:prstGeom prst="roundRect">
            <a:avLst/>
          </a:prstGeom>
          <a:solidFill>
            <a:srgbClr val="FFFFFF"/>
          </a:solidFill>
          <a:ln>
            <a:solidFill>
              <a:srgbClr val="D5DDE7"/>
            </a:solidFill>
            <a:prstDash val="solid"/>
          </a:ln>
        </p:spPr>
        <p:txBody>
          <a:bodyPr/>
          <a:lstStyle/>
          <a:p>
            <a:endParaRPr lang="en-US"/>
          </a:p>
        </p:txBody>
      </p:sp>
      <p:sp>
        <p:nvSpPr>
          <p:cNvPr id="9" name="TextBox 31"/>
          <p:cNvSpPr/>
          <p:nvPr/>
        </p:nvSpPr>
        <p:spPr>
          <a:xfrm>
            <a:off x="6309360" y="1901952"/>
            <a:ext cx="4023360" cy="411480"/>
          </a:xfrm>
          <a:noFill/>
          <a:ln>
            <a:noFill/>
          </a:ln>
        </p:spPr>
        <p:txBody>
          <a:bodyPr lIns="73152" tIns="73152" rIns="73152" bIns="73152" anchor="ctr"/>
          <a:lstStyle/>
          <a:p>
            <a:pPr marL="0" lvl="0" indent="0" algn="l"/>
            <a:r>
              <a:rPr lang="en-US" sz="1320" b="1" i="0">
                <a:solidFill>
                  <a:srgbClr val="172033"/>
                </a:solidFill>
                <a:latin typeface="Aptos"/>
              </a:rPr>
              <a:t>INTEGRATION TEST</a:t>
            </a:r>
          </a:p>
        </p:txBody>
      </p:sp>
      <p:sp>
        <p:nvSpPr>
          <p:cNvPr id="10" name="TextBox 32"/>
          <p:cNvSpPr/>
          <p:nvPr/>
        </p:nvSpPr>
        <p:spPr>
          <a:xfrm>
            <a:off x="6309360" y="2514600"/>
            <a:ext cx="3840480" cy="640080"/>
          </a:xfrm>
          <a:noFill/>
          <a:ln>
            <a:noFill/>
          </a:ln>
        </p:spPr>
        <p:txBody>
          <a:bodyPr lIns="73152" tIns="73152" rIns="73152" bIns="73152" anchor="ctr"/>
          <a:lstStyle/>
          <a:p>
            <a:pPr marL="0" lvl="0" indent="0" algn="l"/>
            <a:r>
              <a:rPr lang="en-US" sz="2166" b="1" i="0">
                <a:solidFill>
                  <a:srgbClr val="172033"/>
                </a:solidFill>
                <a:latin typeface="Courier New"/>
              </a:rPr>
              <a:t>test_main()</a:t>
            </a:r>
          </a:p>
        </p:txBody>
      </p:sp>
      <p:sp>
        <p:nvSpPr>
          <p:cNvPr id="11" name="TextBox 33"/>
          <p:cNvSpPr/>
          <p:nvPr/>
        </p:nvSpPr>
        <p:spPr>
          <a:xfrm>
            <a:off x="6309360" y="3310128"/>
            <a:ext cx="3840480" cy="1005840"/>
          </a:xfrm>
          <a:noFill/>
          <a:ln>
            <a:noFill/>
          </a:ln>
        </p:spPr>
        <p:txBody>
          <a:bodyPr lIns="73152" tIns="73152" rIns="73152" bIns="73152" anchor="ctr"/>
          <a:lstStyle/>
          <a:p>
            <a:pPr marL="0" lvl="0" indent="0" algn="l"/>
            <a:r>
              <a:rPr lang="en-US" sz="2000" b="0" i="0" dirty="0">
                <a:solidFill>
                  <a:srgbClr val="172033"/>
                </a:solidFill>
                <a:latin typeface="Aptos"/>
              </a:rPr>
              <a:t>Checks file I/O + orchestration</a:t>
            </a:r>
          </a:p>
          <a:p>
            <a:pPr marL="0" lvl="0" indent="0" algn="l"/>
            <a:r>
              <a:rPr lang="en-US" sz="2000" b="0" i="0" dirty="0">
                <a:solidFill>
                  <a:srgbClr val="172033"/>
                </a:solidFill>
                <a:latin typeface="Aptos"/>
              </a:rPr>
              <a:t>through the entry point.</a:t>
            </a:r>
          </a:p>
        </p:txBody>
      </p:sp>
      <p:sp>
        <p:nvSpPr>
          <p:cNvPr id="12" name="Line 40"/>
          <p:cNvSpPr/>
          <p:nvPr/>
        </p:nvSpPr>
        <p:spPr>
          <a:xfrm>
            <a:off x="5696712" y="3337560"/>
            <a:ext cx="320039" cy="9144"/>
          </a:xfrm>
          <a:ln w="38100">
            <a:solidFill>
              <a:srgbClr val="D5DDE7"/>
            </a:solidFill>
          </a:ln>
        </p:spPr>
        <p:txBody>
          <a:bodyPr/>
          <a:lstStyle/>
          <a:p>
            <a:endParaRPr lang="en-US"/>
          </a:p>
        </p:txBody>
      </p:sp>
      <p:sp>
        <p:nvSpPr>
          <p:cNvPr id="13" name="TextBox 41"/>
          <p:cNvSpPr/>
          <p:nvPr/>
        </p:nvSpPr>
        <p:spPr>
          <a:xfrm>
            <a:off x="594360" y="5669280"/>
            <a:ext cx="10789920" cy="457200"/>
          </a:xfrm>
          <a:noFill/>
          <a:ln>
            <a:noFill/>
          </a:ln>
        </p:spPr>
        <p:txBody>
          <a:bodyPr lIns="73152" tIns="73152" rIns="73152" bIns="73152" anchor="ctr"/>
          <a:lstStyle/>
          <a:p>
            <a:pPr marL="0" lvl="0" indent="0" algn="l"/>
            <a:r>
              <a:rPr lang="en-US" sz="2000" b="1" i="0" dirty="0">
                <a:solidFill>
                  <a:srgbClr val="172033"/>
                </a:solidFill>
                <a:latin typeface="Aptos"/>
              </a:rPr>
              <a:t>Together: confidence in the building block and the assembled flow.</a:t>
            </a:r>
          </a:p>
        </p:txBody>
      </p:sp>
      <p:sp>
        <p:nvSpPr>
          <p:cNvPr id="14" name="Line 907"/>
          <p:cNvSpPr/>
          <p:nvPr/>
        </p:nvSpPr>
        <p:spPr>
          <a:xfrm>
            <a:off x="594360" y="6446520"/>
            <a:ext cx="10972800" cy="9144"/>
          </a:xfrm>
          <a:ln w="12700">
            <a:solidFill>
              <a:srgbClr val="D5DDE7"/>
            </a:solidFill>
          </a:ln>
        </p:spPr>
        <p:txBody>
          <a:bodyPr/>
          <a:lstStyle/>
          <a:p>
            <a:endParaRPr lang="en-US"/>
          </a:p>
        </p:txBody>
      </p:sp>
      <p:sp>
        <p:nvSpPr>
          <p:cNvPr id="15" name="TextBox 908"/>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6" name="TextBox 909"/>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825A2811-C511-0869-C386-9394DC5CE78E}"/>
              </a:ext>
            </a:extLst>
          </p:cNvPr>
          <p:cNvPicPr>
            <a:picLocks noChangeAspect="1"/>
          </p:cNvPicPr>
          <p:nvPr/>
        </p:nvPicPr>
        <p:blipFill>
          <a:blip r:embed="rId3"/>
          <a:stretch>
            <a:fillRect/>
          </a:stretch>
        </p:blipFill>
        <p:spPr>
          <a:xfrm>
            <a:off x="10623841" y="0"/>
            <a:ext cx="1568159" cy="1195721"/>
          </a:xfrm>
          <a:prstGeom prst="rect">
            <a:avLst/>
          </a:prstGeom>
        </p:spPr>
      </p:pic>
      <p:pic>
        <p:nvPicPr>
          <p:cNvPr id="17" name="Picture 16">
            <a:extLst>
              <a:ext uri="{FF2B5EF4-FFF2-40B4-BE49-F238E27FC236}">
                <a16:creationId xmlns:a16="http://schemas.microsoft.com/office/drawing/2014/main" id="{FE6B9550-CDB8-8CA3-FB10-64C77A8E2ADA}"/>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Let </a:t>
            </a:r>
            <a:r>
              <a:rPr lang="en-US" sz="3080" b="1" i="0" dirty="0" err="1">
                <a:solidFill>
                  <a:srgbClr val="172033"/>
                </a:solidFill>
                <a:latin typeface="Courier New" panose="02070309020205020404" pitchFamily="49" charset="0"/>
                <a:cs typeface="Courier New" panose="02070309020205020404" pitchFamily="49" charset="0"/>
              </a:rPr>
              <a:t>pytest</a:t>
            </a:r>
            <a:r>
              <a:rPr lang="en-US" sz="3080" b="1" i="0" dirty="0">
                <a:solidFill>
                  <a:srgbClr val="172033"/>
                </a:solidFill>
                <a:latin typeface="Aptos"/>
              </a:rPr>
              <a:t> run the test</a:t>
            </a:r>
          </a:p>
        </p:txBody>
      </p:sp>
      <p:sp>
        <p:nvSpPr>
          <p:cNvPr id="6" name="Rect 22"/>
          <p:cNvSpPr/>
          <p:nvPr/>
        </p:nvSpPr>
        <p:spPr>
          <a:xfrm>
            <a:off x="868680" y="2423160"/>
            <a:ext cx="4846320" cy="219456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102" b="0" i="0" dirty="0">
                <a:solidFill>
                  <a:srgbClr val="172033"/>
                </a:solidFill>
                <a:latin typeface="Courier New"/>
              </a:rPr>
              <a:t>$ </a:t>
            </a:r>
            <a:r>
              <a:rPr lang="en-US" sz="1102" b="0" i="0" dirty="0" err="1">
                <a:solidFill>
                  <a:srgbClr val="172033"/>
                </a:solidFill>
                <a:latin typeface="Courier New"/>
              </a:rPr>
              <a:t>pytest</a:t>
            </a:r>
            <a:endParaRPr lang="en-US" sz="1102" b="0" i="0" dirty="0">
              <a:solidFill>
                <a:srgbClr val="172033"/>
              </a:solidFill>
              <a:latin typeface="Courier New"/>
            </a:endParaRPr>
          </a:p>
          <a:p>
            <a:pPr marL="0" lvl="0" indent="0" algn="l"/>
            <a:r>
              <a:rPr lang="en-US" sz="1102" b="0" i="0" dirty="0">
                <a:solidFill>
                  <a:srgbClr val="172033"/>
                </a:solidFill>
                <a:latin typeface="Courier New"/>
              </a:rPr>
              <a:t>============== test session starts =====+=========</a:t>
            </a:r>
          </a:p>
          <a:p>
            <a:pPr marL="0" lvl="0" indent="0" algn="l"/>
            <a:r>
              <a:rPr lang="en-US" sz="1102" b="0" i="0" dirty="0">
                <a:solidFill>
                  <a:srgbClr val="172033"/>
                </a:solidFill>
                <a:latin typeface="Courier New"/>
              </a:rPr>
              <a:t>my_ols/tests/</a:t>
            </a:r>
            <a:r>
              <a:rPr lang="en-US" sz="1102" b="0" i="0" dirty="0" err="1">
                <a:solidFill>
                  <a:srgbClr val="172033"/>
                </a:solidFill>
                <a:latin typeface="Courier New"/>
              </a:rPr>
              <a:t>test_ols.py</a:t>
            </a:r>
            <a:r>
              <a:rPr lang="en-US" sz="1102" b="0" i="0" dirty="0">
                <a:solidFill>
                  <a:srgbClr val="172033"/>
                </a:solidFill>
                <a:latin typeface="Courier New"/>
              </a:rPr>
              <a:t>::</a:t>
            </a:r>
            <a:r>
              <a:rPr lang="en-US" sz="1102" b="0" i="0" dirty="0" err="1">
                <a:solidFill>
                  <a:srgbClr val="172033"/>
                </a:solidFill>
                <a:latin typeface="Courier New"/>
              </a:rPr>
              <a:t>test_ols</a:t>
            </a:r>
            <a:r>
              <a:rPr lang="en-US" sz="1102" b="0" i="0" dirty="0">
                <a:solidFill>
                  <a:srgbClr val="172033"/>
                </a:solidFill>
                <a:latin typeface="Courier New"/>
              </a:rPr>
              <a:t> PASSED       </a:t>
            </a:r>
          </a:p>
          <a:p>
            <a:pPr marL="0" lvl="0" indent="0" algn="l"/>
            <a:r>
              <a:rPr lang="en-US" sz="1102" b="0" i="0" dirty="0">
                <a:solidFill>
                  <a:srgbClr val="172033"/>
                </a:solidFill>
                <a:latin typeface="Courier New"/>
              </a:rPr>
              <a:t>[ 50%]</a:t>
            </a:r>
          </a:p>
          <a:p>
            <a:pPr marL="0" lvl="0" indent="0" algn="l"/>
            <a:r>
              <a:rPr lang="en-US" sz="1102" b="0" i="0" dirty="0">
                <a:solidFill>
                  <a:srgbClr val="172033"/>
                </a:solidFill>
                <a:latin typeface="Courier New"/>
              </a:rPr>
              <a:t>my_ols/tests/</a:t>
            </a:r>
            <a:r>
              <a:rPr lang="en-US" sz="1102" b="0" i="0" dirty="0" err="1">
                <a:solidFill>
                  <a:srgbClr val="172033"/>
                </a:solidFill>
                <a:latin typeface="Courier New"/>
              </a:rPr>
              <a:t>test_ols.py</a:t>
            </a:r>
            <a:r>
              <a:rPr lang="en-US" sz="1102" b="0" i="0" dirty="0">
                <a:solidFill>
                  <a:srgbClr val="172033"/>
                </a:solidFill>
                <a:latin typeface="Courier New"/>
              </a:rPr>
              <a:t>::</a:t>
            </a:r>
            <a:r>
              <a:rPr lang="en-US" sz="1102" b="0" i="0" dirty="0" err="1">
                <a:solidFill>
                  <a:srgbClr val="172033"/>
                </a:solidFill>
                <a:latin typeface="Courier New"/>
              </a:rPr>
              <a:t>test_main</a:t>
            </a:r>
            <a:r>
              <a:rPr lang="en-US" sz="1102" b="0" i="0" dirty="0">
                <a:solidFill>
                  <a:srgbClr val="172033"/>
                </a:solidFill>
                <a:latin typeface="Courier New"/>
              </a:rPr>
              <a:t> PASSED      [100%]</a:t>
            </a:r>
          </a:p>
          <a:p>
            <a:pPr marL="0" lvl="0" indent="0" algn="l"/>
            <a:endParaRPr lang="en-US" sz="1102" b="0" i="0" dirty="0">
              <a:solidFill>
                <a:srgbClr val="172033"/>
              </a:solidFill>
              <a:latin typeface="Courier New"/>
            </a:endParaRPr>
          </a:p>
          <a:p>
            <a:pPr marL="0" lvl="0" indent="0" algn="l"/>
            <a:r>
              <a:rPr lang="en-US" sz="1102" b="0" i="0" dirty="0">
                <a:solidFill>
                  <a:srgbClr val="172033"/>
                </a:solidFill>
                <a:latin typeface="Courier New"/>
              </a:rPr>
              <a:t>================ 2 passed in 0.06s ===============</a:t>
            </a:r>
          </a:p>
        </p:txBody>
      </p:sp>
      <p:sp>
        <p:nvSpPr>
          <p:cNvPr id="9" name="TextBox 32"/>
          <p:cNvSpPr/>
          <p:nvPr/>
        </p:nvSpPr>
        <p:spPr>
          <a:xfrm>
            <a:off x="6675120" y="2542032"/>
            <a:ext cx="3977639" cy="502920"/>
          </a:xfrm>
          <a:noFill/>
          <a:ln>
            <a:noFill/>
          </a:ln>
        </p:spPr>
        <p:txBody>
          <a:bodyPr lIns="73152" tIns="73152" rIns="73152" bIns="73152" anchor="ctr"/>
          <a:lstStyle/>
          <a:p>
            <a:pPr marL="0" lvl="0" indent="0" algn="l"/>
            <a:r>
              <a:rPr lang="en-US" sz="1600" b="0" i="0">
                <a:solidFill>
                  <a:srgbClr val="172033"/>
                </a:solidFill>
                <a:latin typeface="Aptos"/>
              </a:rPr>
              <a:t>•  Discovers test_* functions</a:t>
            </a:r>
          </a:p>
        </p:txBody>
      </p:sp>
      <p:sp>
        <p:nvSpPr>
          <p:cNvPr id="10" name="TextBox 33"/>
          <p:cNvSpPr/>
          <p:nvPr/>
        </p:nvSpPr>
        <p:spPr>
          <a:xfrm>
            <a:off x="6675120" y="3200400"/>
            <a:ext cx="3977639" cy="502920"/>
          </a:xfrm>
          <a:noFill/>
          <a:ln>
            <a:noFill/>
          </a:ln>
        </p:spPr>
        <p:txBody>
          <a:bodyPr lIns="73152" tIns="73152" rIns="73152" bIns="73152" anchor="ctr"/>
          <a:lstStyle/>
          <a:p>
            <a:pPr marL="0" lvl="0" indent="0" algn="l"/>
            <a:r>
              <a:rPr lang="en-US" sz="1600" b="0" i="0" dirty="0">
                <a:solidFill>
                  <a:srgbClr val="172033"/>
                </a:solidFill>
                <a:latin typeface="Aptos"/>
              </a:rPr>
              <a:t>•  Runs </a:t>
            </a:r>
            <a:r>
              <a:rPr lang="en-US" sz="1600" dirty="0">
                <a:solidFill>
                  <a:srgbClr val="172033"/>
                </a:solidFill>
                <a:latin typeface="Aptos"/>
              </a:rPr>
              <a:t>all tests </a:t>
            </a:r>
            <a:r>
              <a:rPr lang="en-US" sz="1600" b="0" i="0" dirty="0">
                <a:solidFill>
                  <a:srgbClr val="172033"/>
                </a:solidFill>
                <a:latin typeface="Aptos"/>
              </a:rPr>
              <a:t>consistently</a:t>
            </a:r>
          </a:p>
        </p:txBody>
      </p:sp>
      <p:sp>
        <p:nvSpPr>
          <p:cNvPr id="11" name="TextBox 34"/>
          <p:cNvSpPr/>
          <p:nvPr/>
        </p:nvSpPr>
        <p:spPr>
          <a:xfrm>
            <a:off x="6675120" y="3858768"/>
            <a:ext cx="3977639" cy="502920"/>
          </a:xfrm>
          <a:noFill/>
          <a:ln>
            <a:noFill/>
          </a:ln>
        </p:spPr>
        <p:txBody>
          <a:bodyPr lIns="73152" tIns="73152" rIns="73152" bIns="73152" anchor="ctr"/>
          <a:lstStyle/>
          <a:p>
            <a:pPr marL="0" lvl="0" indent="0" algn="l"/>
            <a:r>
              <a:rPr lang="en-US" sz="1600" b="0" i="0">
                <a:solidFill>
                  <a:srgbClr val="172033"/>
                </a:solidFill>
                <a:latin typeface="Aptos"/>
              </a:rPr>
              <a:t>•  Supports focused runs: pytest -k test_ols</a:t>
            </a:r>
          </a:p>
        </p:txBody>
      </p:sp>
      <p:sp>
        <p:nvSpPr>
          <p:cNvPr id="13" name="Line 908"/>
          <p:cNvSpPr/>
          <p:nvPr/>
        </p:nvSpPr>
        <p:spPr>
          <a:xfrm>
            <a:off x="594360" y="6446520"/>
            <a:ext cx="10972800" cy="9144"/>
          </a:xfrm>
          <a:ln w="12700">
            <a:solidFill>
              <a:srgbClr val="D5DDE7"/>
            </a:solidFill>
          </a:ln>
        </p:spPr>
        <p:txBody>
          <a:bodyPr/>
          <a:lstStyle/>
          <a:p>
            <a:endParaRPr lang="en-US"/>
          </a:p>
        </p:txBody>
      </p:sp>
      <p:sp>
        <p:nvSpPr>
          <p:cNvPr id="14" name="TextBox 909"/>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5" name="TextBox 910"/>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B95CC955-7832-9159-A1D5-3F3D56AA3202}"/>
              </a:ext>
            </a:extLst>
          </p:cNvPr>
          <p:cNvPicPr>
            <a:picLocks noChangeAspect="1"/>
          </p:cNvPicPr>
          <p:nvPr/>
        </p:nvPicPr>
        <p:blipFill>
          <a:blip r:embed="rId3"/>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1E66E004-4DD8-FED8-41B2-5EE085B2EA0B}"/>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Coverage shows </a:t>
            </a:r>
            <a:r>
              <a:rPr lang="en-US" sz="3080" b="1">
                <a:solidFill>
                  <a:srgbClr val="172033"/>
                </a:solidFill>
                <a:latin typeface="Aptos"/>
              </a:rPr>
              <a:t>if you are missing something</a:t>
            </a:r>
            <a:endParaRPr lang="en-US" sz="3080" b="1" i="0">
              <a:solidFill>
                <a:srgbClr val="172033"/>
              </a:solidFill>
              <a:latin typeface="Aptos"/>
            </a:endParaRPr>
          </a:p>
        </p:txBody>
      </p:sp>
      <p:sp>
        <p:nvSpPr>
          <p:cNvPr id="4" name="Rect 20"/>
          <p:cNvSpPr/>
          <p:nvPr/>
        </p:nvSpPr>
        <p:spPr>
          <a:xfrm>
            <a:off x="594360" y="1645920"/>
            <a:ext cx="4937760" cy="3566160"/>
          </a:xfrm>
          <a:prstGeom prst="roundRect">
            <a:avLst/>
          </a:prstGeom>
          <a:solidFill>
            <a:srgbClr val="FFFFFF"/>
          </a:solidFill>
          <a:ln>
            <a:solidFill>
              <a:srgbClr val="D5DDE7"/>
            </a:solidFill>
            <a:prstDash val="solid"/>
          </a:ln>
        </p:spPr>
        <p:txBody>
          <a:bodyPr/>
          <a:lstStyle/>
          <a:p>
            <a:endParaRPr lang="en-US"/>
          </a:p>
        </p:txBody>
      </p:sp>
      <p:sp>
        <p:nvSpPr>
          <p:cNvPr id="5" name="TextBox 21"/>
          <p:cNvSpPr/>
          <p:nvPr/>
        </p:nvSpPr>
        <p:spPr>
          <a:xfrm>
            <a:off x="868680" y="1938528"/>
            <a:ext cx="4297680" cy="411480"/>
          </a:xfrm>
          <a:noFill/>
          <a:ln>
            <a:noFill/>
          </a:ln>
        </p:spPr>
        <p:txBody>
          <a:bodyPr lIns="73152" tIns="73152" rIns="73152" bIns="73152" anchor="ctr"/>
          <a:lstStyle/>
          <a:p>
            <a:pPr marL="0" lvl="0" indent="0" algn="l"/>
            <a:r>
              <a:rPr lang="en-US" sz="1155" b="1" i="0">
                <a:solidFill>
                  <a:srgbClr val="172033"/>
                </a:solidFill>
                <a:latin typeface="Aptos"/>
              </a:rPr>
              <a:t>EXAMPLE REPORT</a:t>
            </a:r>
          </a:p>
        </p:txBody>
      </p:sp>
      <p:sp>
        <p:nvSpPr>
          <p:cNvPr id="6" name="TextBox 22"/>
          <p:cNvSpPr/>
          <p:nvPr/>
        </p:nvSpPr>
        <p:spPr>
          <a:xfrm>
            <a:off x="868680" y="2542032"/>
            <a:ext cx="4297680" cy="1417320"/>
          </a:xfrm>
          <a:noFill/>
          <a:ln>
            <a:noFill/>
          </a:ln>
        </p:spPr>
        <p:txBody>
          <a:bodyPr lIns="73152" tIns="73152" rIns="73152" bIns="73152" anchor="ctr"/>
          <a:lstStyle/>
          <a:p>
            <a:pPr marL="0" lvl="0" indent="0" algn="l"/>
            <a:r>
              <a:rPr lang="en-US" sz="1155" b="0" i="0">
                <a:solidFill>
                  <a:srgbClr val="172033"/>
                </a:solidFill>
                <a:latin typeface="Courier New"/>
              </a:rPr>
              <a:t>Name                 Stmts   Miss  Cover</a:t>
            </a:r>
          </a:p>
          <a:p>
            <a:pPr marL="0" lvl="0" indent="0" algn="l"/>
            <a:r>
              <a:rPr lang="en-US" sz="1155" b="0" i="0">
                <a:solidFill>
                  <a:srgbClr val="172033"/>
                </a:solidFill>
                <a:latin typeface="Courier New"/>
              </a:rPr>
              <a:t>----------------------------------------</a:t>
            </a:r>
          </a:p>
          <a:p>
            <a:pPr marL="0" lvl="0" indent="0" algn="l"/>
            <a:r>
              <a:rPr lang="en-US" sz="1155" b="0" i="0">
                <a:solidFill>
                  <a:srgbClr val="172033"/>
                </a:solidFill>
                <a:latin typeface="Courier New"/>
              </a:rPr>
              <a:t>my_ols/main.py          20      2    90%</a:t>
            </a:r>
          </a:p>
          <a:p>
            <a:pPr marL="0" lvl="0" indent="0" algn="l"/>
            <a:r>
              <a:rPr lang="en-US" sz="1155" b="0" i="0">
                <a:solidFill>
                  <a:srgbClr val="172033"/>
                </a:solidFill>
                <a:latin typeface="Courier New"/>
              </a:rPr>
              <a:t>----------------------------------------</a:t>
            </a:r>
          </a:p>
          <a:p>
            <a:pPr marL="0" lvl="0" indent="0" algn="l"/>
            <a:r>
              <a:rPr lang="en-US" sz="1155" b="0" i="0">
                <a:solidFill>
                  <a:srgbClr val="172033"/>
                </a:solidFill>
                <a:latin typeface="Courier New"/>
              </a:rPr>
              <a:t>TOTAL                   20      2    90%</a:t>
            </a:r>
          </a:p>
        </p:txBody>
      </p:sp>
      <p:sp>
        <p:nvSpPr>
          <p:cNvPr id="7" name="TextBox 23"/>
          <p:cNvSpPr/>
          <p:nvPr/>
        </p:nvSpPr>
        <p:spPr>
          <a:xfrm>
            <a:off x="868680" y="4315968"/>
            <a:ext cx="4206240" cy="502920"/>
          </a:xfrm>
          <a:noFill/>
          <a:ln>
            <a:noFill/>
          </a:ln>
        </p:spPr>
        <p:txBody>
          <a:bodyPr lIns="73152" tIns="73152" rIns="73152" bIns="73152" anchor="ctr"/>
          <a:lstStyle/>
          <a:p>
            <a:pPr marL="0" lvl="0" indent="0" algn="l"/>
            <a:r>
              <a:rPr lang="en-US" sz="1155" b="1" i="0">
                <a:solidFill>
                  <a:srgbClr val="172033"/>
                </a:solidFill>
                <a:latin typeface="Courier New"/>
              </a:rPr>
              <a:t>pytest --cov-report=html</a:t>
            </a:r>
          </a:p>
        </p:txBody>
      </p:sp>
      <p:sp>
        <p:nvSpPr>
          <p:cNvPr id="9" name="TextBox 31"/>
          <p:cNvSpPr/>
          <p:nvPr/>
        </p:nvSpPr>
        <p:spPr>
          <a:xfrm>
            <a:off x="6217920" y="1938528"/>
            <a:ext cx="3931920" cy="411480"/>
          </a:xfrm>
          <a:noFill/>
          <a:ln>
            <a:noFill/>
          </a:ln>
        </p:spPr>
        <p:txBody>
          <a:bodyPr lIns="73152" tIns="73152" rIns="73152" bIns="73152" anchor="ctr"/>
          <a:lstStyle/>
          <a:p>
            <a:pPr marL="0" lvl="0" indent="0" algn="l"/>
            <a:r>
              <a:rPr lang="en-US" sz="1375" b="1" i="0">
                <a:solidFill>
                  <a:srgbClr val="172033"/>
                </a:solidFill>
                <a:latin typeface="Aptos"/>
              </a:rPr>
              <a:t>USE IT TO FIND GAPS</a:t>
            </a:r>
          </a:p>
        </p:txBody>
      </p:sp>
      <p:sp>
        <p:nvSpPr>
          <p:cNvPr id="12" name="TextBox 34"/>
          <p:cNvSpPr/>
          <p:nvPr/>
        </p:nvSpPr>
        <p:spPr>
          <a:xfrm>
            <a:off x="6217920" y="3218688"/>
            <a:ext cx="3749039" cy="502920"/>
          </a:xfrm>
          <a:noFill/>
          <a:ln>
            <a:noFill/>
          </a:ln>
        </p:spPr>
        <p:txBody>
          <a:bodyPr lIns="73152" tIns="73152" rIns="73152" bIns="73152" anchor="ctr"/>
          <a:lstStyle/>
          <a:p>
            <a:pPr marL="0" lvl="0" indent="0" algn="l"/>
            <a:r>
              <a:rPr lang="en-US" sz="2508" b="1" i="0" dirty="0">
                <a:solidFill>
                  <a:srgbClr val="172033"/>
                </a:solidFill>
                <a:latin typeface="Aptos"/>
              </a:rPr>
              <a:t>90% covered</a:t>
            </a:r>
          </a:p>
        </p:txBody>
      </p:sp>
      <p:sp>
        <p:nvSpPr>
          <p:cNvPr id="13" name="TextBox 35"/>
          <p:cNvSpPr/>
          <p:nvPr/>
        </p:nvSpPr>
        <p:spPr>
          <a:xfrm>
            <a:off x="6217920" y="4023360"/>
            <a:ext cx="3794760" cy="914400"/>
          </a:xfrm>
          <a:noFill/>
          <a:ln>
            <a:noFill/>
          </a:ln>
        </p:spPr>
        <p:txBody>
          <a:bodyPr lIns="73152" tIns="73152" rIns="73152" bIns="73152" anchor="ctr"/>
          <a:lstStyle/>
          <a:p>
            <a:pPr marL="0" lvl="0" indent="0" algn="l"/>
            <a:r>
              <a:rPr lang="en-US" b="0" i="0" dirty="0">
                <a:solidFill>
                  <a:srgbClr val="172033"/>
                </a:solidFill>
                <a:latin typeface="Aptos"/>
              </a:rPr>
              <a:t>Coverage shows tested code, not whether </a:t>
            </a:r>
            <a:r>
              <a:rPr lang="en-US" b="0" i="0" dirty="0" err="1">
                <a:solidFill>
                  <a:srgbClr val="172033"/>
                </a:solidFill>
                <a:latin typeface="Aptos"/>
              </a:rPr>
              <a:t>behaviour</a:t>
            </a:r>
            <a:r>
              <a:rPr lang="en-US" b="0" i="0" dirty="0">
                <a:solidFill>
                  <a:srgbClr val="172033"/>
                </a:solidFill>
                <a:latin typeface="Aptos"/>
              </a:rPr>
              <a:t> is correct.</a:t>
            </a:r>
          </a:p>
        </p:txBody>
      </p:sp>
      <p:sp>
        <p:nvSpPr>
          <p:cNvPr id="14" name="TextBox 40"/>
          <p:cNvSpPr/>
          <p:nvPr/>
        </p:nvSpPr>
        <p:spPr>
          <a:xfrm>
            <a:off x="594360" y="5669280"/>
            <a:ext cx="10972800" cy="411480"/>
          </a:xfrm>
          <a:noFill/>
          <a:ln>
            <a:noFill/>
          </a:ln>
        </p:spPr>
        <p:txBody>
          <a:bodyPr lIns="73152" tIns="73152" rIns="73152" bIns="73152" anchor="ctr"/>
          <a:lstStyle/>
          <a:p>
            <a:pPr marL="0" lvl="0" indent="0" algn="l"/>
            <a:r>
              <a:rPr lang="en-US" b="1" i="0" dirty="0">
                <a:solidFill>
                  <a:srgbClr val="172033"/>
                </a:solidFill>
                <a:latin typeface="Aptos"/>
              </a:rPr>
              <a:t>Pair tests with coverage to see both correctness checks and untested code pieces.</a:t>
            </a:r>
          </a:p>
        </p:txBody>
      </p:sp>
      <p:sp>
        <p:nvSpPr>
          <p:cNvPr id="15" name="Line 909"/>
          <p:cNvSpPr/>
          <p:nvPr/>
        </p:nvSpPr>
        <p:spPr>
          <a:xfrm>
            <a:off x="594360" y="6446520"/>
            <a:ext cx="10972800" cy="9144"/>
          </a:xfrm>
          <a:ln w="12700">
            <a:solidFill>
              <a:srgbClr val="D5DDE7"/>
            </a:solidFill>
          </a:ln>
        </p:spPr>
        <p:txBody>
          <a:bodyPr/>
          <a:lstStyle/>
          <a:p>
            <a:endParaRPr lang="en-US"/>
          </a:p>
        </p:txBody>
      </p:sp>
      <p:sp>
        <p:nvSpPr>
          <p:cNvPr id="16" name="TextBox 910"/>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7" name="TextBox 911"/>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019E0F11-B649-177C-92D3-61E9EFA05658}"/>
              </a:ext>
            </a:extLst>
          </p:cNvPr>
          <p:cNvPicPr>
            <a:picLocks noChangeAspect="1"/>
          </p:cNvPicPr>
          <p:nvPr/>
        </p:nvPicPr>
        <p:blipFill>
          <a:blip r:embed="rId3"/>
          <a:stretch>
            <a:fillRect/>
          </a:stretch>
        </p:blipFill>
        <p:spPr>
          <a:xfrm>
            <a:off x="10623841" y="0"/>
            <a:ext cx="1568159" cy="1195721"/>
          </a:xfrm>
          <a:prstGeom prst="rect">
            <a:avLst/>
          </a:prstGeom>
        </p:spPr>
      </p:pic>
      <p:pic>
        <p:nvPicPr>
          <p:cNvPr id="8" name="Picture 7">
            <a:extLst>
              <a:ext uri="{FF2B5EF4-FFF2-40B4-BE49-F238E27FC236}">
                <a16:creationId xmlns:a16="http://schemas.microsoft.com/office/drawing/2014/main" id="{51A8F6F8-00DC-67F2-8B6C-4DCE5D5EA05D}"/>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0"/>
          <p:cNvSpPr/>
          <p:nvPr/>
        </p:nvSpPr>
        <p:spPr>
          <a:xfrm>
            <a:off x="594360" y="320040"/>
            <a:ext cx="10972800" cy="256032"/>
          </a:xfrm>
          <a:noFill/>
          <a:ln>
            <a:noFill/>
          </a:ln>
        </p:spPr>
        <p:txBody>
          <a:bodyPr lIns="73152" tIns="73152" rIns="73152" bIns="73152" anchor="ctr"/>
          <a:lstStyle/>
          <a:p>
            <a:pPr marL="0" lvl="0" indent="0" algn="l"/>
            <a:endParaRPr lang="en-US" sz="1050" b="1" i="0" dirty="0">
              <a:solidFill>
                <a:srgbClr val="172033"/>
              </a:solidFill>
              <a:latin typeface="Aptos"/>
            </a:endParaRPr>
          </a:p>
        </p:txBody>
      </p:sp>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Where should tests live?</a:t>
            </a:r>
          </a:p>
        </p:txBody>
      </p:sp>
      <p:sp>
        <p:nvSpPr>
          <p:cNvPr id="5" name="TextBox 30"/>
          <p:cNvSpPr/>
          <p:nvPr/>
        </p:nvSpPr>
        <p:spPr>
          <a:xfrm>
            <a:off x="832104" y="1938528"/>
            <a:ext cx="2880360" cy="438912"/>
          </a:xfrm>
          <a:noFill/>
          <a:ln>
            <a:noFill/>
          </a:ln>
        </p:spPr>
        <p:txBody>
          <a:bodyPr lIns="73152" tIns="73152" rIns="73152" bIns="73152" anchor="ctr"/>
          <a:lstStyle/>
          <a:p>
            <a:pPr marL="0" lvl="0" indent="0" algn="l"/>
            <a:r>
              <a:rPr lang="en-US" sz="1650" b="1" i="0">
                <a:solidFill>
                  <a:srgbClr val="172033"/>
                </a:solidFill>
                <a:latin typeface="Aptos"/>
              </a:rPr>
              <a:t>Separate directory</a:t>
            </a:r>
          </a:p>
        </p:txBody>
      </p:sp>
      <p:sp>
        <p:nvSpPr>
          <p:cNvPr id="6" name="Rect 40"/>
          <p:cNvSpPr/>
          <p:nvPr/>
        </p:nvSpPr>
        <p:spPr>
          <a:xfrm>
            <a:off x="832104" y="2633472"/>
            <a:ext cx="2889504" cy="192024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155" b="0" i="0">
                <a:solidFill>
                  <a:srgbClr val="172033"/>
                </a:solidFill>
                <a:latin typeface="Courier New"/>
              </a:rPr>
              <a:t>my_ols/</a:t>
            </a:r>
          </a:p>
          <a:p>
            <a:pPr marL="0" lvl="0" indent="0" algn="l"/>
            <a:r>
              <a:rPr lang="en-US" sz="1155" b="0" i="0">
                <a:solidFill>
                  <a:srgbClr val="172033"/>
                </a:solidFill>
                <a:latin typeface="Courier New"/>
              </a:rPr>
              <a:t>  main.py</a:t>
            </a:r>
          </a:p>
          <a:p>
            <a:pPr marL="0" lvl="0" indent="0" algn="l"/>
            <a:r>
              <a:rPr lang="en-US" sz="1155" b="0" i="0">
                <a:solidFill>
                  <a:srgbClr val="172033"/>
                </a:solidFill>
                <a:latin typeface="Courier New"/>
              </a:rPr>
              <a:t>tests/</a:t>
            </a:r>
          </a:p>
          <a:p>
            <a:pPr marL="0" lvl="0" indent="0" algn="l"/>
            <a:r>
              <a:rPr lang="en-US" sz="1155" b="0" i="0">
                <a:solidFill>
                  <a:srgbClr val="172033"/>
                </a:solidFill>
                <a:latin typeface="Courier New"/>
              </a:rPr>
              <a:t>  test_ols.py</a:t>
            </a:r>
          </a:p>
        </p:txBody>
      </p:sp>
      <p:sp>
        <p:nvSpPr>
          <p:cNvPr id="8" name="TextBox 31"/>
          <p:cNvSpPr/>
          <p:nvPr/>
        </p:nvSpPr>
        <p:spPr>
          <a:xfrm>
            <a:off x="4599432" y="1938528"/>
            <a:ext cx="2880360" cy="438912"/>
          </a:xfrm>
          <a:noFill/>
          <a:ln>
            <a:noFill/>
          </a:ln>
        </p:spPr>
        <p:txBody>
          <a:bodyPr lIns="73152" tIns="73152" rIns="73152" bIns="73152" anchor="ctr"/>
          <a:lstStyle/>
          <a:p>
            <a:pPr marL="0" lvl="0" indent="0" algn="l"/>
            <a:r>
              <a:rPr lang="en-US" sz="1650" b="1" i="0">
                <a:solidFill>
                  <a:srgbClr val="172033"/>
                </a:solidFill>
                <a:latin typeface="Aptos"/>
              </a:rPr>
              <a:t>Same directory</a:t>
            </a:r>
          </a:p>
        </p:txBody>
      </p:sp>
      <p:sp>
        <p:nvSpPr>
          <p:cNvPr id="9" name="Rect 41"/>
          <p:cNvSpPr/>
          <p:nvPr/>
        </p:nvSpPr>
        <p:spPr>
          <a:xfrm>
            <a:off x="4599432" y="2633472"/>
            <a:ext cx="2889504" cy="192024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155" b="0" i="0">
                <a:solidFill>
                  <a:srgbClr val="172033"/>
                </a:solidFill>
                <a:latin typeface="Courier New"/>
              </a:rPr>
              <a:t>my_ols/</a:t>
            </a:r>
          </a:p>
          <a:p>
            <a:pPr marL="0" lvl="0" indent="0" algn="l"/>
            <a:r>
              <a:rPr lang="en-US" sz="1155" b="0" i="0">
                <a:solidFill>
                  <a:srgbClr val="172033"/>
                </a:solidFill>
                <a:latin typeface="Courier New"/>
              </a:rPr>
              <a:t>  main.py</a:t>
            </a:r>
          </a:p>
          <a:p>
            <a:pPr marL="0" lvl="0" indent="0" algn="l"/>
            <a:r>
              <a:rPr lang="en-US" sz="1155" b="0" i="0">
                <a:solidFill>
                  <a:srgbClr val="172033"/>
                </a:solidFill>
                <a:latin typeface="Courier New"/>
              </a:rPr>
              <a:t>  test_ols.py</a:t>
            </a:r>
          </a:p>
        </p:txBody>
      </p:sp>
      <p:sp>
        <p:nvSpPr>
          <p:cNvPr id="11" name="TextBox 32"/>
          <p:cNvSpPr/>
          <p:nvPr/>
        </p:nvSpPr>
        <p:spPr>
          <a:xfrm>
            <a:off x="8366760" y="1938528"/>
            <a:ext cx="2880360" cy="438912"/>
          </a:xfrm>
          <a:noFill/>
          <a:ln>
            <a:noFill/>
          </a:ln>
        </p:spPr>
        <p:txBody>
          <a:bodyPr lIns="73152" tIns="73152" rIns="73152" bIns="73152" anchor="ctr"/>
          <a:lstStyle/>
          <a:p>
            <a:pPr marL="0" lvl="0" indent="0" algn="l"/>
            <a:r>
              <a:rPr lang="en-US" sz="1650" b="1" i="0">
                <a:solidFill>
                  <a:srgbClr val="172033"/>
                </a:solidFill>
                <a:latin typeface="Aptos"/>
              </a:rPr>
              <a:t>Sub-package</a:t>
            </a:r>
          </a:p>
        </p:txBody>
      </p:sp>
      <p:sp>
        <p:nvSpPr>
          <p:cNvPr id="12" name="Rect 42"/>
          <p:cNvSpPr/>
          <p:nvPr/>
        </p:nvSpPr>
        <p:spPr>
          <a:xfrm>
            <a:off x="8366760" y="2633472"/>
            <a:ext cx="2889504" cy="192024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155" b="0" i="0">
                <a:solidFill>
                  <a:srgbClr val="172033"/>
                </a:solidFill>
                <a:latin typeface="Courier New"/>
              </a:rPr>
              <a:t>my_ols/</a:t>
            </a:r>
          </a:p>
          <a:p>
            <a:pPr marL="0" lvl="0" indent="0" algn="l"/>
            <a:r>
              <a:rPr lang="en-US" sz="1155" b="0" i="0">
                <a:solidFill>
                  <a:srgbClr val="172033"/>
                </a:solidFill>
                <a:latin typeface="Courier New"/>
              </a:rPr>
              <a:t>  main.py</a:t>
            </a:r>
          </a:p>
          <a:p>
            <a:pPr marL="0" lvl="0" indent="0" algn="l"/>
            <a:r>
              <a:rPr lang="en-US" sz="1155" b="0" i="0">
                <a:solidFill>
                  <a:srgbClr val="172033"/>
                </a:solidFill>
                <a:latin typeface="Courier New"/>
              </a:rPr>
              <a:t>  tests/</a:t>
            </a:r>
          </a:p>
          <a:p>
            <a:pPr marL="0" lvl="0" indent="0" algn="l"/>
            <a:r>
              <a:rPr lang="en-US" sz="1155" b="0" i="0">
                <a:solidFill>
                  <a:srgbClr val="172033"/>
                </a:solidFill>
                <a:latin typeface="Courier New"/>
              </a:rPr>
              <a:t>    test_ols.py</a:t>
            </a:r>
          </a:p>
        </p:txBody>
      </p:sp>
      <p:sp>
        <p:nvSpPr>
          <p:cNvPr id="13" name="TextBox 60"/>
          <p:cNvSpPr/>
          <p:nvPr/>
        </p:nvSpPr>
        <p:spPr>
          <a:xfrm>
            <a:off x="594360" y="5715000"/>
            <a:ext cx="10972800" cy="384048"/>
          </a:xfrm>
          <a:noFill/>
          <a:ln>
            <a:noFill/>
          </a:ln>
        </p:spPr>
        <p:txBody>
          <a:bodyPr lIns="73152" tIns="73152" rIns="73152" bIns="73152" anchor="ctr"/>
          <a:lstStyle/>
          <a:p>
            <a:pPr marL="0" lvl="0" indent="0" algn="l"/>
            <a:r>
              <a:rPr lang="en-GB" b="0" i="0" noProof="0" dirty="0">
                <a:solidFill>
                  <a:srgbClr val="172033"/>
                </a:solidFill>
                <a:latin typeface="Aptos"/>
              </a:rPr>
              <a:t>The tutorial favours the sub-directory / sub-package approach, but this is largely preference.</a:t>
            </a:r>
          </a:p>
        </p:txBody>
      </p:sp>
      <p:sp>
        <p:nvSpPr>
          <p:cNvPr id="14" name="Line 910"/>
          <p:cNvSpPr/>
          <p:nvPr/>
        </p:nvSpPr>
        <p:spPr>
          <a:xfrm>
            <a:off x="594360" y="6446520"/>
            <a:ext cx="10972800" cy="9144"/>
          </a:xfrm>
          <a:ln w="12700">
            <a:solidFill>
              <a:srgbClr val="D5DDE7"/>
            </a:solidFill>
          </a:ln>
        </p:spPr>
        <p:txBody>
          <a:bodyPr/>
          <a:lstStyle/>
          <a:p>
            <a:endParaRPr lang="en-US"/>
          </a:p>
        </p:txBody>
      </p:sp>
      <p:sp>
        <p:nvSpPr>
          <p:cNvPr id="15" name="TextBox 911"/>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6" name="TextBox 912"/>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4" name="Picture 3">
            <a:extLst>
              <a:ext uri="{FF2B5EF4-FFF2-40B4-BE49-F238E27FC236}">
                <a16:creationId xmlns:a16="http://schemas.microsoft.com/office/drawing/2014/main" id="{FEC416F7-708E-4E23-4C47-33BE6572BB1F}"/>
              </a:ext>
            </a:extLst>
          </p:cNvPr>
          <p:cNvPicPr>
            <a:picLocks noChangeAspect="1"/>
          </p:cNvPicPr>
          <p:nvPr/>
        </p:nvPicPr>
        <p:blipFill>
          <a:blip r:embed="rId2"/>
          <a:stretch>
            <a:fillRect/>
          </a:stretch>
        </p:blipFill>
        <p:spPr>
          <a:xfrm>
            <a:off x="10623841" y="0"/>
            <a:ext cx="1568159" cy="1195721"/>
          </a:xfrm>
          <a:prstGeom prst="rect">
            <a:avLst/>
          </a:prstGeom>
        </p:spPr>
      </p:pic>
      <p:pic>
        <p:nvPicPr>
          <p:cNvPr id="7" name="Picture 6">
            <a:extLst>
              <a:ext uri="{FF2B5EF4-FFF2-40B4-BE49-F238E27FC236}">
                <a16:creationId xmlns:a16="http://schemas.microsoft.com/office/drawing/2014/main" id="{B36A3803-6765-D40B-972E-361CF441012D}"/>
              </a:ext>
            </a:extLst>
          </p:cNvPr>
          <p:cNvPicPr>
            <a:picLocks noChangeAspect="1"/>
          </p:cNvPicPr>
          <p:nvPr/>
        </p:nvPicPr>
        <p:blipFill>
          <a:blip r:embed="rId3"/>
          <a:srcRect/>
          <a:stretch>
            <a:fillRect/>
          </a:stretch>
        </p:blipFill>
        <p:spPr>
          <a:xfrm>
            <a:off x="9106967" y="0"/>
            <a:ext cx="1516874" cy="119572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Testing external code</a:t>
            </a:r>
          </a:p>
        </p:txBody>
      </p:sp>
      <p:sp>
        <p:nvSpPr>
          <p:cNvPr id="4" name="Rect 20"/>
          <p:cNvSpPr/>
          <p:nvPr/>
        </p:nvSpPr>
        <p:spPr>
          <a:xfrm>
            <a:off x="594359" y="1600200"/>
            <a:ext cx="7455947" cy="420624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342" b="0" i="0" dirty="0">
                <a:solidFill>
                  <a:srgbClr val="172033"/>
                </a:solidFill>
                <a:latin typeface="Courier New"/>
              </a:rPr>
              <a:t>def </a:t>
            </a:r>
            <a:r>
              <a:rPr lang="en-US" sz="1342" b="0" i="0" dirty="0" err="1">
                <a:solidFill>
                  <a:srgbClr val="172033"/>
                </a:solidFill>
                <a:latin typeface="Courier New"/>
              </a:rPr>
              <a:t>load_parameters</a:t>
            </a:r>
            <a:r>
              <a:rPr lang="en-US" sz="1342" b="0" i="0" dirty="0">
                <a:solidFill>
                  <a:srgbClr val="172033"/>
                </a:solidFill>
                <a:latin typeface="Courier New"/>
              </a:rPr>
              <a:t>():</a:t>
            </a:r>
          </a:p>
          <a:p>
            <a:pPr marL="0" lvl="0" indent="0" algn="l"/>
            <a:r>
              <a:rPr lang="en-US" sz="1342" b="0" i="0" dirty="0">
                <a:solidFill>
                  <a:srgbClr val="172033"/>
                </a:solidFill>
                <a:latin typeface="Courier New"/>
              </a:rPr>
              <a:t>    </a:t>
            </a:r>
            <a:endParaRPr lang="en-US" sz="1342" dirty="0">
              <a:solidFill>
                <a:srgbClr val="172033"/>
              </a:solidFill>
              <a:latin typeface="Courier New"/>
            </a:endParaRPr>
          </a:p>
          <a:p>
            <a:pPr marL="0" lvl="0" indent="0" algn="l"/>
            <a:r>
              <a:rPr lang="en-US" sz="1342" b="0" i="0" dirty="0">
                <a:solidFill>
                  <a:srgbClr val="172033"/>
                </a:solidFill>
                <a:latin typeface="Courier New"/>
              </a:rPr>
              <a:t>    resp = </a:t>
            </a:r>
            <a:r>
              <a:rPr lang="en-US" sz="1342" b="0" i="0" dirty="0" err="1">
                <a:solidFill>
                  <a:srgbClr val="172033"/>
                </a:solidFill>
                <a:latin typeface="Courier New"/>
              </a:rPr>
              <a:t>requests.get</a:t>
            </a:r>
            <a:r>
              <a:rPr lang="en-US" sz="1342" b="0" i="0" dirty="0">
                <a:solidFill>
                  <a:srgbClr val="172033"/>
                </a:solidFill>
                <a:latin typeface="Courier New"/>
              </a:rPr>
              <a:t>('https://</a:t>
            </a:r>
            <a:r>
              <a:rPr lang="en-US" sz="1342" b="0" i="0" dirty="0" err="1">
                <a:solidFill>
                  <a:srgbClr val="172033"/>
                </a:solidFill>
                <a:latin typeface="Courier New"/>
              </a:rPr>
              <a:t>www.config.org</a:t>
            </a:r>
            <a:r>
              <a:rPr lang="en-US" sz="1342" b="0" i="0" dirty="0">
                <a:solidFill>
                  <a:srgbClr val="172033"/>
                </a:solidFill>
                <a:latin typeface="Courier New"/>
              </a:rPr>
              <a:t>/</a:t>
            </a:r>
            <a:r>
              <a:rPr lang="en-US" sz="1342" b="0" i="0" dirty="0" err="1">
                <a:solidFill>
                  <a:srgbClr val="172033"/>
                </a:solidFill>
                <a:latin typeface="Courier New"/>
              </a:rPr>
              <a:t>parameters.txt</a:t>
            </a:r>
            <a:r>
              <a:rPr lang="en-US" sz="1342" b="0" i="0" dirty="0">
                <a:solidFill>
                  <a:srgbClr val="172033"/>
                </a:solidFill>
                <a:latin typeface="Courier New"/>
              </a:rPr>
              <a:t>')</a:t>
            </a:r>
          </a:p>
          <a:p>
            <a:pPr marL="0" lvl="0" indent="0" algn="l"/>
            <a:r>
              <a:rPr lang="en-US" sz="1342" b="0" i="0" dirty="0">
                <a:solidFill>
                  <a:srgbClr val="172033"/>
                </a:solidFill>
                <a:latin typeface="Courier New"/>
              </a:rPr>
              <a:t>    config = </a:t>
            </a:r>
            <a:r>
              <a:rPr lang="en-US" sz="1342" b="0" i="0" dirty="0" err="1">
                <a:solidFill>
                  <a:srgbClr val="172033"/>
                </a:solidFill>
                <a:latin typeface="Courier New"/>
              </a:rPr>
              <a:t>resp.text.split</a:t>
            </a:r>
            <a:r>
              <a:rPr lang="en-US" sz="1342" b="0" i="0" dirty="0">
                <a:solidFill>
                  <a:srgbClr val="172033"/>
                </a:solidFill>
                <a:latin typeface="Courier New"/>
              </a:rPr>
              <a:t>('\n')</a:t>
            </a:r>
          </a:p>
          <a:p>
            <a:pPr marL="0" lvl="0" indent="0" algn="l"/>
            <a:r>
              <a:rPr lang="en-US" sz="1342" b="0" i="0" dirty="0">
                <a:solidFill>
                  <a:srgbClr val="172033"/>
                </a:solidFill>
                <a:latin typeface="Courier New"/>
              </a:rPr>
              <a:t>    return int(config[0]), int(config[1]), int(config[2])</a:t>
            </a:r>
          </a:p>
          <a:p>
            <a:pPr marL="0" lvl="0" indent="0" algn="l"/>
            <a:endParaRPr lang="en-US" sz="1342" b="0" i="0" dirty="0">
              <a:solidFill>
                <a:srgbClr val="172033"/>
              </a:solidFill>
              <a:latin typeface="Courier New"/>
            </a:endParaRPr>
          </a:p>
          <a:p>
            <a:pPr marL="0" lvl="0" indent="0" algn="l"/>
            <a:endParaRPr lang="en-US" sz="1342" b="0" i="0" dirty="0">
              <a:solidFill>
                <a:srgbClr val="172033"/>
              </a:solidFill>
              <a:latin typeface="Courier New"/>
            </a:endParaRPr>
          </a:p>
          <a:p>
            <a:pPr marL="0" lvl="0" indent="0" algn="l"/>
            <a:r>
              <a:rPr lang="en-US" sz="1342" b="0" i="0" dirty="0">
                <a:solidFill>
                  <a:srgbClr val="172033"/>
                </a:solidFill>
                <a:latin typeface="Courier New"/>
              </a:rPr>
              <a:t>def </a:t>
            </a:r>
            <a:r>
              <a:rPr lang="en-US" sz="1342" b="0" i="0" dirty="0" err="1">
                <a:solidFill>
                  <a:srgbClr val="172033"/>
                </a:solidFill>
                <a:latin typeface="Courier New"/>
              </a:rPr>
              <a:t>run_preprocessing</a:t>
            </a:r>
            <a:r>
              <a:rPr lang="en-US" sz="1342" b="0" i="0" dirty="0">
                <a:solidFill>
                  <a:srgbClr val="172033"/>
                </a:solidFill>
                <a:latin typeface="Courier New"/>
              </a:rPr>
              <a:t>(data):</a:t>
            </a:r>
          </a:p>
          <a:p>
            <a:pPr marL="0" lvl="0" indent="0" algn="l"/>
            <a:r>
              <a:rPr lang="en-US" sz="1342" b="0" i="0" dirty="0">
                <a:solidFill>
                  <a:srgbClr val="172033"/>
                </a:solidFill>
                <a:latin typeface="Courier New"/>
              </a:rPr>
              <a:t>    </a:t>
            </a:r>
          </a:p>
          <a:p>
            <a:pPr marL="0" lvl="0" indent="0" algn="l"/>
            <a:r>
              <a:rPr lang="en-US" sz="1342" dirty="0">
                <a:solidFill>
                  <a:srgbClr val="172033"/>
                </a:solidFill>
                <a:latin typeface="Courier New"/>
              </a:rPr>
              <a:t>    </a:t>
            </a:r>
            <a:r>
              <a:rPr lang="en-US" sz="1342" b="0" i="0" dirty="0">
                <a:solidFill>
                  <a:srgbClr val="172033"/>
                </a:solidFill>
                <a:latin typeface="Courier New"/>
              </a:rPr>
              <a:t>p1, p2, p3 = </a:t>
            </a:r>
            <a:r>
              <a:rPr lang="en-US" sz="1342" b="0" i="0" dirty="0" err="1">
                <a:solidFill>
                  <a:srgbClr val="172033"/>
                </a:solidFill>
                <a:latin typeface="Courier New"/>
              </a:rPr>
              <a:t>load_parameters</a:t>
            </a:r>
            <a:r>
              <a:rPr lang="en-US" sz="1342" b="0" i="0" dirty="0">
                <a:solidFill>
                  <a:srgbClr val="172033"/>
                </a:solidFill>
                <a:latin typeface="Courier New"/>
              </a:rPr>
              <a:t>()</a:t>
            </a:r>
          </a:p>
          <a:p>
            <a:pPr marL="0" lvl="0" indent="0" algn="l"/>
            <a:r>
              <a:rPr lang="en-US" sz="1342" b="0" i="0" dirty="0">
                <a:solidFill>
                  <a:srgbClr val="172033"/>
                </a:solidFill>
                <a:latin typeface="Courier New"/>
              </a:rPr>
              <a:t>    return data * p1 * p2 / p3</a:t>
            </a:r>
          </a:p>
        </p:txBody>
      </p:sp>
      <p:sp>
        <p:nvSpPr>
          <p:cNvPr id="6" name="TextBox 31"/>
          <p:cNvSpPr/>
          <p:nvPr/>
        </p:nvSpPr>
        <p:spPr>
          <a:xfrm>
            <a:off x="8168641" y="1835801"/>
            <a:ext cx="3429000" cy="384048"/>
          </a:xfrm>
          <a:noFill/>
          <a:ln>
            <a:noFill/>
          </a:ln>
        </p:spPr>
        <p:txBody>
          <a:bodyPr lIns="73152" tIns="73152" rIns="73152" bIns="73152" anchor="ctr"/>
          <a:lstStyle/>
          <a:p>
            <a:pPr marL="0" lvl="0" indent="0" algn="l"/>
            <a:r>
              <a:rPr lang="en-US" b="1" i="0" dirty="0">
                <a:solidFill>
                  <a:srgbClr val="172033"/>
                </a:solidFill>
                <a:latin typeface="Aptos"/>
              </a:rPr>
              <a:t>Problem: external state</a:t>
            </a:r>
          </a:p>
        </p:txBody>
      </p:sp>
      <p:sp>
        <p:nvSpPr>
          <p:cNvPr id="7" name="TextBox 32"/>
          <p:cNvSpPr/>
          <p:nvPr/>
        </p:nvSpPr>
        <p:spPr>
          <a:xfrm>
            <a:off x="8168640" y="2293001"/>
            <a:ext cx="3428999" cy="329184"/>
          </a:xfrm>
          <a:noFill/>
          <a:ln>
            <a:noFill/>
          </a:ln>
        </p:spPr>
        <p:txBody>
          <a:bodyPr lIns="73152" tIns="73152" rIns="73152" bIns="73152" anchor="ctr"/>
          <a:lstStyle/>
          <a:p>
            <a:pPr marL="0" lvl="0" indent="0" algn="l"/>
            <a:r>
              <a:rPr lang="en-US" sz="1400" b="0" i="0" dirty="0">
                <a:solidFill>
                  <a:srgbClr val="172033"/>
                </a:solidFill>
                <a:latin typeface="Aptos"/>
              </a:rPr>
              <a:t>The response is outside the test’s control.</a:t>
            </a:r>
          </a:p>
        </p:txBody>
      </p:sp>
      <p:sp>
        <p:nvSpPr>
          <p:cNvPr id="12" name="Line 912"/>
          <p:cNvSpPr/>
          <p:nvPr/>
        </p:nvSpPr>
        <p:spPr>
          <a:xfrm>
            <a:off x="594360" y="6446520"/>
            <a:ext cx="10972800" cy="9144"/>
          </a:xfrm>
          <a:ln w="12700">
            <a:solidFill>
              <a:srgbClr val="D5DDE7"/>
            </a:solidFill>
          </a:ln>
        </p:spPr>
        <p:txBody>
          <a:bodyPr/>
          <a:lstStyle/>
          <a:p>
            <a:endParaRPr lang="en-US"/>
          </a:p>
        </p:txBody>
      </p:sp>
      <p:sp>
        <p:nvSpPr>
          <p:cNvPr id="13" name="TextBox 913"/>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4" name="TextBox 914"/>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EA015CE5-EAD0-8003-1243-F3CF6D8EAC10}"/>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CDF3EF88-6923-A174-31CB-D7E311E50A30}"/>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Mock the dependency when </a:t>
            </a:r>
          </a:p>
          <a:p>
            <a:pPr marL="0" lvl="0" indent="0" algn="l"/>
            <a:r>
              <a:rPr lang="en-US" sz="3080" b="1" i="0" dirty="0">
                <a:solidFill>
                  <a:srgbClr val="172033"/>
                </a:solidFill>
                <a:latin typeface="Aptos"/>
              </a:rPr>
              <a:t>refactoring is not practical</a:t>
            </a:r>
          </a:p>
        </p:txBody>
      </p:sp>
      <p:sp>
        <p:nvSpPr>
          <p:cNvPr id="4" name="Rect 20"/>
          <p:cNvSpPr/>
          <p:nvPr/>
        </p:nvSpPr>
        <p:spPr>
          <a:xfrm>
            <a:off x="594360" y="1600200"/>
            <a:ext cx="7315200" cy="2846251"/>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176" b="0" i="0">
                <a:solidFill>
                  <a:srgbClr val="172033"/>
                </a:solidFill>
                <a:latin typeface="Courier New"/>
              </a:rPr>
              <a:t>with mock.patch(</a:t>
            </a:r>
          </a:p>
          <a:p>
            <a:pPr marL="0" lvl="0" indent="0" algn="l"/>
            <a:r>
              <a:rPr lang="en-US" sz="1176" b="0" i="0">
                <a:solidFill>
                  <a:srgbClr val="172033"/>
                </a:solidFill>
                <a:latin typeface="Courier New"/>
              </a:rPr>
              <a:t>    'my_ols.preprocess.load_parameters',</a:t>
            </a:r>
          </a:p>
          <a:p>
            <a:pPr marL="0" lvl="0" indent="0" algn="l"/>
            <a:r>
              <a:rPr lang="en-US" sz="1176" b="0" i="0">
                <a:solidFill>
                  <a:srgbClr val="172033"/>
                </a:solidFill>
                <a:latin typeface="Courier New"/>
              </a:rPr>
              <a:t>    return_value=(10, 10, 10)</a:t>
            </a:r>
          </a:p>
          <a:p>
            <a:pPr marL="0" lvl="0" indent="0" algn="l"/>
            <a:r>
              <a:rPr lang="en-US" sz="1176" b="0" i="0">
                <a:solidFill>
                  <a:srgbClr val="172033"/>
                </a:solidFill>
                <a:latin typeface="Courier New"/>
              </a:rPr>
              <a:t>):</a:t>
            </a:r>
          </a:p>
          <a:p>
            <a:pPr marL="0" lvl="0" indent="0" algn="l"/>
            <a:r>
              <a:rPr lang="en-US" sz="1176" b="0" i="0">
                <a:solidFill>
                  <a:srgbClr val="172033"/>
                </a:solidFill>
                <a:latin typeface="Courier New"/>
              </a:rPr>
              <a:t>    assert preproc.run_preprocessing(10) == 100</a:t>
            </a:r>
          </a:p>
          <a:p>
            <a:pPr marL="0" lvl="0" indent="0" algn="l"/>
            <a:endParaRPr lang="en-US" sz="1176" b="0" i="0">
              <a:solidFill>
                <a:srgbClr val="172033"/>
              </a:solidFill>
              <a:latin typeface="Courier New"/>
            </a:endParaRPr>
          </a:p>
          <a:p>
            <a:pPr marL="0" lvl="0" indent="0" algn="l"/>
            <a:r>
              <a:rPr lang="en-US" sz="1176" b="0" i="0">
                <a:solidFill>
                  <a:srgbClr val="172033"/>
                </a:solidFill>
                <a:latin typeface="Courier New"/>
              </a:rPr>
              <a:t>with mock.patch(</a:t>
            </a:r>
          </a:p>
          <a:p>
            <a:pPr marL="0" lvl="0" indent="0" algn="l"/>
            <a:r>
              <a:rPr lang="en-US" sz="1176" b="0" i="0">
                <a:solidFill>
                  <a:srgbClr val="172033"/>
                </a:solidFill>
                <a:latin typeface="Courier New"/>
              </a:rPr>
              <a:t>    'my_ols.preprocess.load_parameters',</a:t>
            </a:r>
          </a:p>
          <a:p>
            <a:pPr marL="0" lvl="0" indent="0" algn="l"/>
            <a:r>
              <a:rPr lang="en-US" sz="1176" b="0" i="0">
                <a:solidFill>
                  <a:srgbClr val="172033"/>
                </a:solidFill>
                <a:latin typeface="Courier New"/>
              </a:rPr>
              <a:t>    return_value=(1, 2, 5)</a:t>
            </a:r>
          </a:p>
          <a:p>
            <a:pPr marL="0" lvl="0" indent="0" algn="l"/>
            <a:r>
              <a:rPr lang="en-US" sz="1176" b="0" i="0">
                <a:solidFill>
                  <a:srgbClr val="172033"/>
                </a:solidFill>
                <a:latin typeface="Courier New"/>
              </a:rPr>
              <a:t>):</a:t>
            </a:r>
          </a:p>
          <a:p>
            <a:pPr marL="0" lvl="0" indent="0" algn="l"/>
            <a:r>
              <a:rPr lang="en-US" sz="1176" b="0" i="0">
                <a:solidFill>
                  <a:srgbClr val="172033"/>
                </a:solidFill>
                <a:latin typeface="Courier New"/>
              </a:rPr>
              <a:t>    assert preproc.run_preprocessing(10) == 4</a:t>
            </a:r>
          </a:p>
        </p:txBody>
      </p:sp>
      <p:sp>
        <p:nvSpPr>
          <p:cNvPr id="6" name="TextBox 31"/>
          <p:cNvSpPr/>
          <p:nvPr/>
        </p:nvSpPr>
        <p:spPr>
          <a:xfrm>
            <a:off x="8503920" y="1874519"/>
            <a:ext cx="2697480" cy="411480"/>
          </a:xfrm>
          <a:noFill/>
          <a:ln>
            <a:noFill/>
          </a:ln>
        </p:spPr>
        <p:txBody>
          <a:bodyPr lIns="73152" tIns="73152" rIns="73152" bIns="73152" anchor="ctr"/>
          <a:lstStyle/>
          <a:p>
            <a:pPr marL="0" lvl="0" indent="0" algn="l"/>
            <a:r>
              <a:rPr lang="en-US" sz="1595" b="1" i="0">
                <a:solidFill>
                  <a:srgbClr val="172033"/>
                </a:solidFill>
                <a:latin typeface="Aptos"/>
              </a:rPr>
              <a:t>MOCK</a:t>
            </a:r>
          </a:p>
        </p:txBody>
      </p:sp>
      <p:sp>
        <p:nvSpPr>
          <p:cNvPr id="7" name="TextBox 32"/>
          <p:cNvSpPr/>
          <p:nvPr/>
        </p:nvSpPr>
        <p:spPr>
          <a:xfrm>
            <a:off x="8503920" y="2560320"/>
            <a:ext cx="2514600" cy="1188720"/>
          </a:xfrm>
          <a:noFill/>
          <a:ln>
            <a:noFill/>
          </a:ln>
        </p:spPr>
        <p:txBody>
          <a:bodyPr lIns="73152" tIns="73152" rIns="73152" bIns="73152" anchor="ctr"/>
          <a:lstStyle/>
          <a:p>
            <a:pPr marL="0" lvl="0" indent="0" algn="l"/>
            <a:r>
              <a:rPr lang="en-US" sz="1430" b="0" i="0">
                <a:solidFill>
                  <a:srgbClr val="172033"/>
                </a:solidFill>
                <a:latin typeface="Aptos"/>
              </a:rPr>
              <a:t>Replace</a:t>
            </a:r>
          </a:p>
          <a:p>
            <a:pPr marL="0" lvl="0" indent="0" algn="l"/>
            <a:r>
              <a:rPr lang="en-US" sz="1430" b="0" i="0">
                <a:solidFill>
                  <a:srgbClr val="172033"/>
                </a:solidFill>
                <a:latin typeface="Aptos"/>
              </a:rPr>
              <a:t>load_parameters()</a:t>
            </a:r>
          </a:p>
          <a:p>
            <a:pPr marL="0" lvl="0" indent="0" algn="l"/>
            <a:r>
              <a:rPr lang="en-US" sz="1430" b="0" i="0">
                <a:solidFill>
                  <a:srgbClr val="172033"/>
                </a:solidFill>
                <a:latin typeface="Aptos"/>
              </a:rPr>
              <a:t>with known values.</a:t>
            </a:r>
          </a:p>
        </p:txBody>
      </p:sp>
      <p:sp>
        <p:nvSpPr>
          <p:cNvPr id="8" name="Line 33"/>
          <p:cNvSpPr/>
          <p:nvPr/>
        </p:nvSpPr>
        <p:spPr>
          <a:xfrm>
            <a:off x="8503920" y="4160520"/>
            <a:ext cx="2468879" cy="9144"/>
          </a:xfrm>
          <a:ln w="25400">
            <a:solidFill>
              <a:srgbClr val="1D4ED8"/>
            </a:solidFill>
          </a:ln>
        </p:spPr>
        <p:txBody>
          <a:bodyPr/>
          <a:lstStyle/>
          <a:p>
            <a:endParaRPr lang="en-US"/>
          </a:p>
        </p:txBody>
      </p:sp>
      <p:sp>
        <p:nvSpPr>
          <p:cNvPr id="10" name="Line 913"/>
          <p:cNvSpPr/>
          <p:nvPr/>
        </p:nvSpPr>
        <p:spPr>
          <a:xfrm>
            <a:off x="594360" y="6446520"/>
            <a:ext cx="10972800" cy="9144"/>
          </a:xfrm>
          <a:ln w="12700">
            <a:solidFill>
              <a:srgbClr val="D5DDE7"/>
            </a:solidFill>
          </a:ln>
        </p:spPr>
        <p:txBody>
          <a:bodyPr/>
          <a:lstStyle/>
          <a:p>
            <a:endParaRPr lang="en-US"/>
          </a:p>
        </p:txBody>
      </p:sp>
      <p:sp>
        <p:nvSpPr>
          <p:cNvPr id="11" name="TextBox 914"/>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2" name="TextBox 915"/>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21C579E2-09EF-0F8A-C259-0DAD914B53F1}"/>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D2AE1EA3-EC60-48B4-6D89-71B2F107D9D7}"/>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14" name="TextBox 40">
            <a:extLst>
              <a:ext uri="{FF2B5EF4-FFF2-40B4-BE49-F238E27FC236}">
                <a16:creationId xmlns:a16="http://schemas.microsoft.com/office/drawing/2014/main" id="{9E9FA66E-9CE1-CF26-A47F-DBE89E4E0591}"/>
              </a:ext>
            </a:extLst>
          </p:cNvPr>
          <p:cNvSpPr/>
          <p:nvPr/>
        </p:nvSpPr>
        <p:spPr>
          <a:xfrm>
            <a:off x="594360" y="5566229"/>
            <a:ext cx="10789920" cy="365760"/>
          </a:xfrm>
          <a:noFill/>
          <a:ln>
            <a:noFill/>
          </a:ln>
        </p:spPr>
        <p:txBody>
          <a:bodyPr lIns="73152" tIns="73152" rIns="73152" bIns="73152" anchor="ctr"/>
          <a:lstStyle/>
          <a:p>
            <a:pPr marL="0" lvl="0" indent="0" algn="l"/>
            <a:r>
              <a:rPr lang="en-US" b="1" i="0" dirty="0">
                <a:solidFill>
                  <a:srgbClr val="172033"/>
                </a:solidFill>
                <a:latin typeface="Aptos"/>
              </a:rPr>
              <a:t>Dependency injection turns “unknown external state” into explicit inputs.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Make tests data-driven</a:t>
            </a:r>
          </a:p>
        </p:txBody>
      </p:sp>
      <p:sp>
        <p:nvSpPr>
          <p:cNvPr id="4" name="Rect 20"/>
          <p:cNvSpPr/>
          <p:nvPr/>
        </p:nvSpPr>
        <p:spPr>
          <a:xfrm>
            <a:off x="594360" y="1600200"/>
            <a:ext cx="6720840" cy="425196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375" b="0" i="0">
                <a:solidFill>
                  <a:srgbClr val="172033"/>
                </a:solidFill>
                <a:latin typeface="Courier New"/>
              </a:rPr>
              <a:t>tests = [</a:t>
            </a:r>
          </a:p>
          <a:p>
            <a:pPr marL="0" lvl="0" indent="0" algn="l"/>
            <a:r>
              <a:rPr lang="en-US" sz="1375" b="0" i="0">
                <a:solidFill>
                  <a:srgbClr val="172033"/>
                </a:solidFill>
                <a:latin typeface="Courier New"/>
              </a:rPr>
              <a:t>    (10, (10, 10, 10), 100),</a:t>
            </a:r>
          </a:p>
          <a:p>
            <a:pPr marL="0" lvl="0" indent="0" algn="l"/>
            <a:r>
              <a:rPr lang="en-US" sz="1375" b="0" i="0">
                <a:solidFill>
                  <a:srgbClr val="172033"/>
                </a:solidFill>
                <a:latin typeface="Courier New"/>
              </a:rPr>
              <a:t>    (10, (1, 2, 4), 5),</a:t>
            </a:r>
          </a:p>
          <a:p>
            <a:pPr marL="0" lvl="0" indent="0" algn="l"/>
            <a:r>
              <a:rPr lang="en-US" sz="1375" b="0" i="0">
                <a:solidFill>
                  <a:srgbClr val="172033"/>
                </a:solidFill>
                <a:latin typeface="Courier New"/>
              </a:rPr>
              <a:t>    (20, (1, 2, 5), 8)</a:t>
            </a:r>
          </a:p>
          <a:p>
            <a:pPr marL="0" lvl="0" indent="0" algn="l"/>
            <a:r>
              <a:rPr lang="en-US" sz="1375" b="0" i="0">
                <a:solidFill>
                  <a:srgbClr val="172033"/>
                </a:solidFill>
                <a:latin typeface="Courier New"/>
              </a:rPr>
              <a:t>]</a:t>
            </a:r>
          </a:p>
          <a:p>
            <a:pPr marL="0" lvl="0" indent="0" algn="l"/>
            <a:endParaRPr lang="en-US" sz="1375" b="0" i="0">
              <a:solidFill>
                <a:srgbClr val="172033"/>
              </a:solidFill>
              <a:latin typeface="Courier New"/>
            </a:endParaRPr>
          </a:p>
          <a:p>
            <a:pPr marL="0" lvl="0" indent="0" algn="l"/>
            <a:r>
              <a:rPr lang="en-US" sz="1375" b="0" i="0">
                <a:solidFill>
                  <a:srgbClr val="172033"/>
                </a:solidFill>
                <a:latin typeface="Courier New"/>
              </a:rPr>
              <a:t>for data, params, result in tests:</a:t>
            </a:r>
          </a:p>
          <a:p>
            <a:pPr marL="0" lvl="0" indent="0" algn="l"/>
            <a:r>
              <a:rPr lang="en-US" sz="1375" b="0" i="0">
                <a:solidFill>
                  <a:srgbClr val="172033"/>
                </a:solidFill>
                <a:latin typeface="Courier New"/>
              </a:rPr>
              <a:t>    with mock.patch(..., return_value=params):</a:t>
            </a:r>
          </a:p>
          <a:p>
            <a:pPr marL="0" lvl="0" indent="0" algn="l"/>
            <a:r>
              <a:rPr lang="en-US" sz="1375" b="0" i="0">
                <a:solidFill>
                  <a:srgbClr val="172033"/>
                </a:solidFill>
                <a:latin typeface="Courier New"/>
              </a:rPr>
              <a:t>        assert preproc.run_preprocessing(data) == result</a:t>
            </a:r>
          </a:p>
        </p:txBody>
      </p:sp>
      <p:sp>
        <p:nvSpPr>
          <p:cNvPr id="7" name="TextBox 32"/>
          <p:cNvSpPr/>
          <p:nvPr/>
        </p:nvSpPr>
        <p:spPr>
          <a:xfrm>
            <a:off x="7909560" y="2395728"/>
            <a:ext cx="3846158" cy="1363112"/>
          </a:xfrm>
          <a:noFill/>
          <a:ln>
            <a:noFill/>
          </a:ln>
        </p:spPr>
        <p:txBody>
          <a:bodyPr lIns="73152" tIns="73152" rIns="73152" bIns="73152" anchor="ctr"/>
          <a:lstStyle/>
          <a:p>
            <a:pPr marL="342900" lvl="0" indent="-342900" algn="l">
              <a:buFont typeface="Arial" panose="020B0604020202020204" pitchFamily="34" charset="0"/>
              <a:buChar char="•"/>
            </a:pPr>
            <a:r>
              <a:rPr lang="en-US" sz="2400" b="0" i="0" dirty="0">
                <a:solidFill>
                  <a:srgbClr val="172033"/>
                </a:solidFill>
                <a:latin typeface="Aptos"/>
              </a:rPr>
              <a:t>input</a:t>
            </a:r>
          </a:p>
          <a:p>
            <a:pPr marL="342900" lvl="0" indent="-342900" algn="l">
              <a:buFont typeface="Arial" panose="020B0604020202020204" pitchFamily="34" charset="0"/>
              <a:buChar char="•"/>
            </a:pPr>
            <a:r>
              <a:rPr lang="en-US" sz="2400" dirty="0">
                <a:solidFill>
                  <a:srgbClr val="172033"/>
                </a:solidFill>
                <a:latin typeface="Aptos"/>
              </a:rPr>
              <a:t>p</a:t>
            </a:r>
            <a:r>
              <a:rPr lang="en-US" sz="2400" b="0" i="0" dirty="0">
                <a:solidFill>
                  <a:srgbClr val="172033"/>
                </a:solidFill>
                <a:latin typeface="Aptos"/>
              </a:rPr>
              <a:t>arameters for mocking</a:t>
            </a:r>
          </a:p>
          <a:p>
            <a:pPr marL="342900" lvl="0" indent="-342900" algn="l">
              <a:buFont typeface="Arial" panose="020B0604020202020204" pitchFamily="34" charset="0"/>
              <a:buChar char="•"/>
            </a:pPr>
            <a:r>
              <a:rPr lang="en-US" sz="2400" b="0" i="0" dirty="0">
                <a:solidFill>
                  <a:srgbClr val="172033"/>
                </a:solidFill>
                <a:latin typeface="Aptos"/>
              </a:rPr>
              <a:t>expected result</a:t>
            </a:r>
            <a:endParaRPr lang="en-US" sz="1320" b="0" i="0" dirty="0">
              <a:solidFill>
                <a:srgbClr val="172033"/>
              </a:solidFill>
              <a:latin typeface="Aptos"/>
            </a:endParaRPr>
          </a:p>
        </p:txBody>
      </p:sp>
      <p:sp>
        <p:nvSpPr>
          <p:cNvPr id="12" name="Line 914"/>
          <p:cNvSpPr/>
          <p:nvPr/>
        </p:nvSpPr>
        <p:spPr>
          <a:xfrm>
            <a:off x="594360" y="6446520"/>
            <a:ext cx="10972800" cy="9144"/>
          </a:xfrm>
          <a:ln w="12700">
            <a:solidFill>
              <a:srgbClr val="D5DDE7"/>
            </a:solidFill>
          </a:ln>
        </p:spPr>
        <p:txBody>
          <a:bodyPr/>
          <a:lstStyle/>
          <a:p>
            <a:endParaRPr lang="en-US"/>
          </a:p>
        </p:txBody>
      </p:sp>
      <p:sp>
        <p:nvSpPr>
          <p:cNvPr id="13" name="TextBox 915"/>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14" name="TextBox 916"/>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43BD18C1-F158-F878-51CB-47EAED91DD20}"/>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C0F36C02-7541-20FA-15B1-6092BFA698CB}"/>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Test continuously as the code evolves</a:t>
            </a:r>
          </a:p>
        </p:txBody>
      </p:sp>
      <p:sp>
        <p:nvSpPr>
          <p:cNvPr id="4" name="TextBox 20"/>
          <p:cNvSpPr/>
          <p:nvPr/>
        </p:nvSpPr>
        <p:spPr>
          <a:xfrm>
            <a:off x="658368" y="1572768"/>
            <a:ext cx="502920" cy="329184"/>
          </a:xfrm>
          <a:noFill/>
          <a:ln>
            <a:noFill/>
          </a:ln>
        </p:spPr>
        <p:txBody>
          <a:bodyPr lIns="73152" tIns="73152" rIns="73152" bIns="73152" anchor="ctr"/>
          <a:lstStyle/>
          <a:p>
            <a:pPr marL="0" lvl="0" indent="0" algn="l"/>
            <a:r>
              <a:rPr lang="en-US" sz="1102" b="1" i="0">
                <a:solidFill>
                  <a:srgbClr val="172033"/>
                </a:solidFill>
                <a:latin typeface="Aptos"/>
              </a:rPr>
              <a:t>01</a:t>
            </a:r>
          </a:p>
        </p:txBody>
      </p:sp>
      <p:sp>
        <p:nvSpPr>
          <p:cNvPr id="6" name="TextBox 40"/>
          <p:cNvSpPr/>
          <p:nvPr/>
        </p:nvSpPr>
        <p:spPr>
          <a:xfrm>
            <a:off x="2057400" y="1554480"/>
            <a:ext cx="8961120" cy="640080"/>
          </a:xfrm>
          <a:noFill/>
          <a:ln>
            <a:noFill/>
          </a:ln>
        </p:spPr>
        <p:txBody>
          <a:bodyPr lIns="73152" tIns="73152" rIns="73152" bIns="73152" anchor="ctr"/>
          <a:lstStyle/>
          <a:p>
            <a:pPr marL="0" lvl="0" indent="0" algn="l"/>
            <a:r>
              <a:rPr lang="en-US" sz="1650" b="1" i="0" dirty="0">
                <a:solidFill>
                  <a:srgbClr val="172033"/>
                </a:solidFill>
                <a:latin typeface="Aptos"/>
              </a:rPr>
              <a:t>Write tests alongside code</a:t>
            </a:r>
          </a:p>
          <a:p>
            <a:pPr marL="0" lvl="0" indent="0" algn="l"/>
            <a:r>
              <a:rPr lang="en-US" sz="1650" b="1" dirty="0">
                <a:solidFill>
                  <a:srgbClr val="172033"/>
                </a:solidFill>
                <a:latin typeface="Aptos"/>
              </a:rPr>
              <a:t>	</a:t>
            </a:r>
            <a:endParaRPr lang="en-US" sz="1650" b="1" i="0" dirty="0">
              <a:solidFill>
                <a:srgbClr val="172033"/>
              </a:solidFill>
              <a:latin typeface="Aptos"/>
            </a:endParaRPr>
          </a:p>
        </p:txBody>
      </p:sp>
      <p:sp>
        <p:nvSpPr>
          <p:cNvPr id="7" name="TextBox 21"/>
          <p:cNvSpPr/>
          <p:nvPr/>
        </p:nvSpPr>
        <p:spPr>
          <a:xfrm>
            <a:off x="658368" y="2395728"/>
            <a:ext cx="502920" cy="329184"/>
          </a:xfrm>
          <a:noFill/>
          <a:ln>
            <a:noFill/>
          </a:ln>
        </p:spPr>
        <p:txBody>
          <a:bodyPr lIns="73152" tIns="73152" rIns="73152" bIns="73152" anchor="ctr"/>
          <a:lstStyle/>
          <a:p>
            <a:pPr marL="0" lvl="0" indent="0" algn="l"/>
            <a:r>
              <a:rPr lang="en-US" sz="1102" b="1" i="0">
                <a:solidFill>
                  <a:srgbClr val="172033"/>
                </a:solidFill>
                <a:latin typeface="Aptos"/>
              </a:rPr>
              <a:t>02</a:t>
            </a:r>
          </a:p>
        </p:txBody>
      </p:sp>
      <p:sp>
        <p:nvSpPr>
          <p:cNvPr id="9" name="TextBox 41"/>
          <p:cNvSpPr/>
          <p:nvPr/>
        </p:nvSpPr>
        <p:spPr>
          <a:xfrm>
            <a:off x="2057400" y="2377440"/>
            <a:ext cx="8961120" cy="546630"/>
          </a:xfrm>
          <a:noFill/>
          <a:ln>
            <a:noFill/>
          </a:ln>
        </p:spPr>
        <p:txBody>
          <a:bodyPr lIns="73152" tIns="73152" rIns="73152" bIns="73152" anchor="ctr"/>
          <a:lstStyle/>
          <a:p>
            <a:pPr marL="0" lvl="0" indent="0" algn="l"/>
            <a:r>
              <a:rPr lang="en-US" sz="1650" b="1" i="0" dirty="0">
                <a:solidFill>
                  <a:srgbClr val="172033"/>
                </a:solidFill>
                <a:latin typeface="Aptos"/>
              </a:rPr>
              <a:t>Keep tests fast</a:t>
            </a:r>
          </a:p>
          <a:p>
            <a:pPr marL="0" lvl="0" indent="0" algn="l"/>
            <a:r>
              <a:rPr lang="en-US" sz="1650" b="1" dirty="0">
                <a:solidFill>
                  <a:srgbClr val="172033"/>
                </a:solidFill>
                <a:latin typeface="Aptos"/>
              </a:rPr>
              <a:t>	small units</a:t>
            </a:r>
            <a:endParaRPr lang="en-US" sz="1650" b="1" i="0" dirty="0">
              <a:solidFill>
                <a:srgbClr val="172033"/>
              </a:solidFill>
              <a:latin typeface="Aptos"/>
            </a:endParaRPr>
          </a:p>
        </p:txBody>
      </p:sp>
      <p:sp>
        <p:nvSpPr>
          <p:cNvPr id="10" name="TextBox 22"/>
          <p:cNvSpPr/>
          <p:nvPr/>
        </p:nvSpPr>
        <p:spPr>
          <a:xfrm>
            <a:off x="658368" y="3218688"/>
            <a:ext cx="502920" cy="329184"/>
          </a:xfrm>
          <a:noFill/>
          <a:ln>
            <a:noFill/>
          </a:ln>
        </p:spPr>
        <p:txBody>
          <a:bodyPr lIns="73152" tIns="73152" rIns="73152" bIns="73152" anchor="ctr"/>
          <a:lstStyle/>
          <a:p>
            <a:pPr marL="0" lvl="0" indent="0" algn="l"/>
            <a:r>
              <a:rPr lang="en-US" sz="1102" b="1" i="0">
                <a:solidFill>
                  <a:srgbClr val="172033"/>
                </a:solidFill>
                <a:latin typeface="Aptos"/>
              </a:rPr>
              <a:t>03</a:t>
            </a:r>
          </a:p>
        </p:txBody>
      </p:sp>
      <p:sp>
        <p:nvSpPr>
          <p:cNvPr id="12" name="TextBox 42"/>
          <p:cNvSpPr/>
          <p:nvPr/>
        </p:nvSpPr>
        <p:spPr>
          <a:xfrm>
            <a:off x="2057400" y="3200400"/>
            <a:ext cx="8961120" cy="420624"/>
          </a:xfrm>
          <a:noFill/>
          <a:ln>
            <a:noFill/>
          </a:ln>
        </p:spPr>
        <p:txBody>
          <a:bodyPr lIns="73152" tIns="73152" rIns="73152" bIns="73152" anchor="ctr"/>
          <a:lstStyle/>
          <a:p>
            <a:pPr marL="0" lvl="0" indent="0" algn="l"/>
            <a:r>
              <a:rPr lang="en-US" sz="1650" b="1" i="0">
                <a:solidFill>
                  <a:srgbClr val="172033"/>
                </a:solidFill>
                <a:latin typeface="Aptos"/>
              </a:rPr>
              <a:t>Test individual functions</a:t>
            </a:r>
          </a:p>
        </p:txBody>
      </p:sp>
      <p:sp>
        <p:nvSpPr>
          <p:cNvPr id="13" name="TextBox 23"/>
          <p:cNvSpPr/>
          <p:nvPr/>
        </p:nvSpPr>
        <p:spPr>
          <a:xfrm>
            <a:off x="658368" y="4041648"/>
            <a:ext cx="502920" cy="329184"/>
          </a:xfrm>
          <a:noFill/>
          <a:ln>
            <a:noFill/>
          </a:ln>
        </p:spPr>
        <p:txBody>
          <a:bodyPr lIns="73152" tIns="73152" rIns="73152" bIns="73152" anchor="ctr"/>
          <a:lstStyle/>
          <a:p>
            <a:pPr marL="0" lvl="0" indent="0" algn="l"/>
            <a:r>
              <a:rPr lang="en-US" sz="1102" b="1" i="0">
                <a:solidFill>
                  <a:srgbClr val="172033"/>
                </a:solidFill>
                <a:latin typeface="Aptos"/>
              </a:rPr>
              <a:t>04</a:t>
            </a:r>
          </a:p>
        </p:txBody>
      </p:sp>
      <p:sp>
        <p:nvSpPr>
          <p:cNvPr id="15" name="TextBox 43"/>
          <p:cNvSpPr/>
          <p:nvPr/>
        </p:nvSpPr>
        <p:spPr>
          <a:xfrm>
            <a:off x="2057400" y="4023360"/>
            <a:ext cx="8961120" cy="515782"/>
          </a:xfrm>
          <a:noFill/>
          <a:ln>
            <a:noFill/>
          </a:ln>
        </p:spPr>
        <p:txBody>
          <a:bodyPr lIns="73152" tIns="73152" rIns="73152" bIns="73152" anchor="ctr"/>
          <a:lstStyle/>
          <a:p>
            <a:pPr marL="0" lvl="0" indent="0" algn="l"/>
            <a:r>
              <a:rPr lang="en-US" sz="1650" b="1" i="0" dirty="0">
                <a:solidFill>
                  <a:srgbClr val="172033"/>
                </a:solidFill>
                <a:latin typeface="Aptos"/>
              </a:rPr>
              <a:t>Add a test for every bug fix</a:t>
            </a:r>
          </a:p>
          <a:p>
            <a:pPr marL="0" lvl="0" indent="0" algn="l"/>
            <a:r>
              <a:rPr lang="en-US" sz="1650" b="1" dirty="0">
                <a:solidFill>
                  <a:srgbClr val="172033"/>
                </a:solidFill>
                <a:latin typeface="Aptos"/>
              </a:rPr>
              <a:t>	 regression test; bugs cannot return</a:t>
            </a:r>
            <a:endParaRPr lang="en-US" sz="1650" b="1" i="0" dirty="0">
              <a:solidFill>
                <a:srgbClr val="172033"/>
              </a:solidFill>
              <a:latin typeface="Aptos"/>
            </a:endParaRPr>
          </a:p>
        </p:txBody>
      </p:sp>
      <p:sp>
        <p:nvSpPr>
          <p:cNvPr id="16" name="TextBox 24"/>
          <p:cNvSpPr/>
          <p:nvPr/>
        </p:nvSpPr>
        <p:spPr>
          <a:xfrm>
            <a:off x="658368" y="4864608"/>
            <a:ext cx="502920" cy="329184"/>
          </a:xfrm>
          <a:noFill/>
          <a:ln>
            <a:noFill/>
          </a:ln>
        </p:spPr>
        <p:txBody>
          <a:bodyPr lIns="73152" tIns="73152" rIns="73152" bIns="73152" anchor="ctr"/>
          <a:lstStyle/>
          <a:p>
            <a:pPr marL="0" lvl="0" indent="0" algn="l"/>
            <a:r>
              <a:rPr lang="en-US" sz="1102" b="1" i="0">
                <a:solidFill>
                  <a:srgbClr val="172033"/>
                </a:solidFill>
                <a:latin typeface="Aptos"/>
              </a:rPr>
              <a:t>05</a:t>
            </a:r>
          </a:p>
        </p:txBody>
      </p:sp>
      <p:sp>
        <p:nvSpPr>
          <p:cNvPr id="18" name="TextBox 44"/>
          <p:cNvSpPr/>
          <p:nvPr/>
        </p:nvSpPr>
        <p:spPr>
          <a:xfrm>
            <a:off x="2057400" y="4846320"/>
            <a:ext cx="8961120" cy="682082"/>
          </a:xfrm>
          <a:noFill/>
          <a:ln>
            <a:noFill/>
          </a:ln>
        </p:spPr>
        <p:txBody>
          <a:bodyPr lIns="73152" tIns="73152" rIns="73152" bIns="73152" anchor="ctr"/>
          <a:lstStyle/>
          <a:p>
            <a:pPr marL="0" lvl="0" indent="0" algn="l"/>
            <a:r>
              <a:rPr lang="en-US" sz="1650" b="1" i="0" dirty="0">
                <a:solidFill>
                  <a:srgbClr val="172033"/>
                </a:solidFill>
                <a:latin typeface="Aptos"/>
              </a:rPr>
              <a:t>Add smoke tests for releases</a:t>
            </a:r>
          </a:p>
          <a:p>
            <a:pPr marL="0" lvl="0" indent="0" algn="l"/>
            <a:r>
              <a:rPr lang="en-US" sz="1650" b="1" dirty="0">
                <a:solidFill>
                  <a:srgbClr val="172033"/>
                </a:solidFill>
                <a:latin typeface="Aptos"/>
              </a:rPr>
              <a:t>	protects against silly mistakes</a:t>
            </a:r>
            <a:endParaRPr lang="en-US" sz="1650" b="1" i="0" dirty="0">
              <a:solidFill>
                <a:srgbClr val="172033"/>
              </a:solidFill>
              <a:latin typeface="Aptos"/>
            </a:endParaRPr>
          </a:p>
        </p:txBody>
      </p:sp>
      <p:sp>
        <p:nvSpPr>
          <p:cNvPr id="21" name="Line 911"/>
          <p:cNvSpPr/>
          <p:nvPr/>
        </p:nvSpPr>
        <p:spPr>
          <a:xfrm>
            <a:off x="594360" y="6446520"/>
            <a:ext cx="10972800" cy="9144"/>
          </a:xfrm>
          <a:ln w="12700">
            <a:solidFill>
              <a:srgbClr val="D5DDE7"/>
            </a:solidFill>
          </a:ln>
        </p:spPr>
        <p:txBody>
          <a:bodyPr/>
          <a:lstStyle/>
          <a:p>
            <a:endParaRPr lang="en-US"/>
          </a:p>
        </p:txBody>
      </p:sp>
      <p:sp>
        <p:nvSpPr>
          <p:cNvPr id="22" name="TextBox 912"/>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3" name="TextBox 913"/>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3396C0F8-5F6A-8354-03E3-647DD8B8E13B}"/>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E4B9EEEF-E393-192C-CFB7-29A7CD490DA4}"/>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Set up a local development environment</a:t>
            </a:r>
          </a:p>
        </p:txBody>
      </p:sp>
      <p:sp>
        <p:nvSpPr>
          <p:cNvPr id="4" name="TextBox 20"/>
          <p:cNvSpPr/>
          <p:nvPr/>
        </p:nvSpPr>
        <p:spPr>
          <a:xfrm>
            <a:off x="640080" y="1527048"/>
            <a:ext cx="457200" cy="329184"/>
          </a:xfrm>
          <a:noFill/>
          <a:ln>
            <a:noFill/>
          </a:ln>
        </p:spPr>
        <p:txBody>
          <a:bodyPr lIns="73152" tIns="73152" rIns="73152" bIns="73152" anchor="ctr"/>
          <a:lstStyle/>
          <a:p>
            <a:pPr marL="0" lvl="0" indent="0" algn="l"/>
            <a:r>
              <a:rPr lang="en-US" b="1" i="0">
                <a:solidFill>
                  <a:srgbClr val="172033"/>
                </a:solidFill>
                <a:latin typeface="Aptos"/>
              </a:rPr>
              <a:t>01</a:t>
            </a:r>
          </a:p>
        </p:txBody>
      </p:sp>
      <p:sp>
        <p:nvSpPr>
          <p:cNvPr id="5" name="TextBox 30"/>
          <p:cNvSpPr/>
          <p:nvPr/>
        </p:nvSpPr>
        <p:spPr>
          <a:xfrm>
            <a:off x="1325880" y="1508760"/>
            <a:ext cx="9875520" cy="475488"/>
          </a:xfrm>
          <a:noFill/>
          <a:ln>
            <a:noFill/>
          </a:ln>
        </p:spPr>
        <p:txBody>
          <a:bodyPr lIns="73152" tIns="73152" rIns="73152" bIns="73152" anchor="ctr"/>
          <a:lstStyle/>
          <a:p>
            <a:pPr marL="0" lvl="0" indent="0" algn="l"/>
            <a:r>
              <a:rPr lang="en-US" sz="2400" b="0" i="0" dirty="0">
                <a:solidFill>
                  <a:srgbClr val="172033"/>
                </a:solidFill>
                <a:latin typeface="Aptos"/>
              </a:rPr>
              <a:t>Install Python environment + </a:t>
            </a:r>
            <a:r>
              <a:rPr lang="en-US" sz="2400" b="0" i="0" dirty="0" err="1">
                <a:solidFill>
                  <a:srgbClr val="172033"/>
                </a:solidFill>
                <a:latin typeface="Courier New" panose="02070309020205020404" pitchFamily="49" charset="0"/>
                <a:cs typeface="Courier New" panose="02070309020205020404" pitchFamily="49" charset="0"/>
              </a:rPr>
              <a:t>pytest</a:t>
            </a:r>
            <a:r>
              <a:rPr lang="en-US" sz="2400" b="0" i="0" dirty="0">
                <a:solidFill>
                  <a:srgbClr val="172033"/>
                </a:solidFill>
                <a:latin typeface="Aptos"/>
              </a:rPr>
              <a:t> + </a:t>
            </a:r>
            <a:r>
              <a:rPr lang="en-US" sz="2400" b="0" i="0" dirty="0">
                <a:solidFill>
                  <a:srgbClr val="172033"/>
                </a:solidFill>
                <a:latin typeface="Courier New" panose="02070309020205020404" pitchFamily="49" charset="0"/>
                <a:cs typeface="Courier New" panose="02070309020205020404" pitchFamily="49" charset="0"/>
              </a:rPr>
              <a:t>coverage</a:t>
            </a:r>
            <a:r>
              <a:rPr lang="en-US" sz="2400" b="0" i="0" dirty="0">
                <a:solidFill>
                  <a:srgbClr val="172033"/>
                </a:solidFill>
                <a:latin typeface="Aptos"/>
              </a:rPr>
              <a:t> + </a:t>
            </a:r>
            <a:r>
              <a:rPr lang="en-US" sz="2400" b="0" i="0" dirty="0" err="1">
                <a:solidFill>
                  <a:srgbClr val="172033"/>
                </a:solidFill>
                <a:latin typeface="Courier New" panose="02070309020205020404" pitchFamily="49" charset="0"/>
                <a:cs typeface="Courier New" panose="02070309020205020404" pitchFamily="49" charset="0"/>
              </a:rPr>
              <a:t>uv</a:t>
            </a:r>
            <a:endParaRPr lang="en-US" sz="2400" b="0" i="0" dirty="0">
              <a:solidFill>
                <a:srgbClr val="172033"/>
              </a:solidFill>
              <a:latin typeface="Courier New" panose="02070309020205020404" pitchFamily="49" charset="0"/>
              <a:cs typeface="Courier New" panose="02070309020205020404" pitchFamily="49" charset="0"/>
            </a:endParaRPr>
          </a:p>
        </p:txBody>
      </p:sp>
      <p:sp>
        <p:nvSpPr>
          <p:cNvPr id="6" name="Line 40"/>
          <p:cNvSpPr/>
          <p:nvPr/>
        </p:nvSpPr>
        <p:spPr>
          <a:xfrm>
            <a:off x="1143000" y="1682495"/>
            <a:ext cx="91440" cy="9144"/>
          </a:xfrm>
          <a:ln w="25400">
            <a:solidFill>
              <a:srgbClr val="D5DDE7"/>
            </a:solidFill>
          </a:ln>
        </p:spPr>
        <p:txBody>
          <a:bodyPr/>
          <a:lstStyle/>
          <a:p>
            <a:endParaRPr lang="en-US" sz="3200"/>
          </a:p>
        </p:txBody>
      </p:sp>
      <p:sp>
        <p:nvSpPr>
          <p:cNvPr id="7" name="TextBox 21"/>
          <p:cNvSpPr/>
          <p:nvPr/>
        </p:nvSpPr>
        <p:spPr>
          <a:xfrm>
            <a:off x="640080" y="2368296"/>
            <a:ext cx="457200" cy="329184"/>
          </a:xfrm>
          <a:noFill/>
          <a:ln>
            <a:noFill/>
          </a:ln>
        </p:spPr>
        <p:txBody>
          <a:bodyPr lIns="73152" tIns="73152" rIns="73152" bIns="73152" anchor="ctr"/>
          <a:lstStyle/>
          <a:p>
            <a:pPr marL="0" lvl="0" indent="0" algn="l"/>
            <a:r>
              <a:rPr lang="en-US" b="1" i="0">
                <a:solidFill>
                  <a:srgbClr val="172033"/>
                </a:solidFill>
                <a:latin typeface="Aptos"/>
              </a:rPr>
              <a:t>02</a:t>
            </a:r>
          </a:p>
        </p:txBody>
      </p:sp>
      <p:sp>
        <p:nvSpPr>
          <p:cNvPr id="8" name="TextBox 31"/>
          <p:cNvSpPr/>
          <p:nvPr/>
        </p:nvSpPr>
        <p:spPr>
          <a:xfrm>
            <a:off x="1325880" y="2350008"/>
            <a:ext cx="9875520" cy="475488"/>
          </a:xfrm>
          <a:noFill/>
          <a:ln>
            <a:noFill/>
          </a:ln>
        </p:spPr>
        <p:txBody>
          <a:bodyPr lIns="73152" tIns="73152" rIns="73152" bIns="73152" anchor="ctr"/>
          <a:lstStyle/>
          <a:p>
            <a:pPr marL="0" lvl="0" indent="0" algn="l"/>
            <a:r>
              <a:rPr lang="en-US" sz="2400" b="0" i="0" dirty="0">
                <a:solidFill>
                  <a:srgbClr val="172033"/>
                </a:solidFill>
                <a:latin typeface="Aptos"/>
              </a:rPr>
              <a:t>(optional) Fork the </a:t>
            </a:r>
            <a:r>
              <a:rPr lang="en-US" sz="2400" b="0" i="0" dirty="0">
                <a:solidFill>
                  <a:srgbClr val="172033"/>
                </a:solidFill>
                <a:latin typeface="Courier New" panose="02070309020205020404" pitchFamily="49" charset="0"/>
                <a:cs typeface="Courier New" panose="02070309020205020404" pitchFamily="49" charset="0"/>
              </a:rPr>
              <a:t>my_ols</a:t>
            </a:r>
            <a:r>
              <a:rPr lang="en-US" sz="2400" b="0" i="0" dirty="0">
                <a:solidFill>
                  <a:srgbClr val="172033"/>
                </a:solidFill>
                <a:latin typeface="Aptos"/>
              </a:rPr>
              <a:t> repository</a:t>
            </a:r>
          </a:p>
        </p:txBody>
      </p:sp>
      <p:sp>
        <p:nvSpPr>
          <p:cNvPr id="9" name="Line 41"/>
          <p:cNvSpPr/>
          <p:nvPr/>
        </p:nvSpPr>
        <p:spPr>
          <a:xfrm>
            <a:off x="1143000" y="2523744"/>
            <a:ext cx="91440" cy="9144"/>
          </a:xfrm>
          <a:ln w="25400">
            <a:solidFill>
              <a:srgbClr val="D5DDE7"/>
            </a:solidFill>
          </a:ln>
        </p:spPr>
        <p:txBody>
          <a:bodyPr/>
          <a:lstStyle/>
          <a:p>
            <a:endParaRPr lang="en-US" sz="3200"/>
          </a:p>
        </p:txBody>
      </p:sp>
      <p:sp>
        <p:nvSpPr>
          <p:cNvPr id="10" name="TextBox 22"/>
          <p:cNvSpPr/>
          <p:nvPr/>
        </p:nvSpPr>
        <p:spPr>
          <a:xfrm>
            <a:off x="640080" y="3209544"/>
            <a:ext cx="457200" cy="329184"/>
          </a:xfrm>
          <a:noFill/>
          <a:ln>
            <a:noFill/>
          </a:ln>
        </p:spPr>
        <p:txBody>
          <a:bodyPr lIns="73152" tIns="73152" rIns="73152" bIns="73152" anchor="ctr"/>
          <a:lstStyle/>
          <a:p>
            <a:pPr marL="0" lvl="0" indent="0" algn="l"/>
            <a:r>
              <a:rPr lang="en-US" b="1" i="0" dirty="0">
                <a:solidFill>
                  <a:srgbClr val="172033"/>
                </a:solidFill>
                <a:latin typeface="Aptos"/>
              </a:rPr>
              <a:t>03</a:t>
            </a:r>
          </a:p>
        </p:txBody>
      </p:sp>
      <p:sp>
        <p:nvSpPr>
          <p:cNvPr id="11" name="TextBox 32"/>
          <p:cNvSpPr/>
          <p:nvPr/>
        </p:nvSpPr>
        <p:spPr>
          <a:xfrm>
            <a:off x="1325880" y="3191256"/>
            <a:ext cx="9875520" cy="475488"/>
          </a:xfrm>
          <a:noFill/>
          <a:ln>
            <a:noFill/>
          </a:ln>
        </p:spPr>
        <p:txBody>
          <a:bodyPr lIns="73152" tIns="73152" rIns="73152" bIns="73152" anchor="ctr"/>
          <a:lstStyle/>
          <a:p>
            <a:pPr marL="0" lvl="0" indent="0" algn="l"/>
            <a:r>
              <a:rPr lang="en-US" sz="2400" b="0" i="0" dirty="0">
                <a:solidFill>
                  <a:srgbClr val="172033"/>
                </a:solidFill>
                <a:latin typeface="Aptos"/>
              </a:rPr>
              <a:t>Clone </a:t>
            </a:r>
            <a:r>
              <a:rPr lang="en-US" sz="2400" b="0" i="0" dirty="0" err="1">
                <a:solidFill>
                  <a:srgbClr val="172033"/>
                </a:solidFill>
                <a:latin typeface="Courier New" panose="02070309020205020404" pitchFamily="49" charset="0"/>
                <a:cs typeface="Courier New" panose="02070309020205020404" pitchFamily="49" charset="0"/>
              </a:rPr>
              <a:t>my_ols</a:t>
            </a:r>
            <a:endParaRPr lang="en-US" sz="2400" b="0" i="0" dirty="0">
              <a:solidFill>
                <a:srgbClr val="172033"/>
              </a:solidFill>
              <a:latin typeface="Courier New" panose="02070309020205020404" pitchFamily="49" charset="0"/>
              <a:cs typeface="Courier New" panose="02070309020205020404" pitchFamily="49" charset="0"/>
            </a:endParaRPr>
          </a:p>
        </p:txBody>
      </p:sp>
      <p:sp>
        <p:nvSpPr>
          <p:cNvPr id="12" name="Line 42"/>
          <p:cNvSpPr/>
          <p:nvPr/>
        </p:nvSpPr>
        <p:spPr>
          <a:xfrm>
            <a:off x="1143000" y="3364991"/>
            <a:ext cx="91440" cy="9144"/>
          </a:xfrm>
          <a:ln w="25400">
            <a:solidFill>
              <a:srgbClr val="D5DDE7"/>
            </a:solidFill>
          </a:ln>
        </p:spPr>
        <p:txBody>
          <a:bodyPr/>
          <a:lstStyle/>
          <a:p>
            <a:endParaRPr lang="en-US" sz="3200"/>
          </a:p>
        </p:txBody>
      </p:sp>
      <p:sp>
        <p:nvSpPr>
          <p:cNvPr id="13" name="TextBox 23"/>
          <p:cNvSpPr/>
          <p:nvPr/>
        </p:nvSpPr>
        <p:spPr>
          <a:xfrm>
            <a:off x="640080" y="4050791"/>
            <a:ext cx="457200" cy="329184"/>
          </a:xfrm>
          <a:noFill/>
          <a:ln>
            <a:noFill/>
          </a:ln>
        </p:spPr>
        <p:txBody>
          <a:bodyPr lIns="73152" tIns="73152" rIns="73152" bIns="73152" anchor="ctr"/>
          <a:lstStyle/>
          <a:p>
            <a:pPr marL="0" lvl="0" indent="0" algn="l"/>
            <a:r>
              <a:rPr lang="en-US" b="1" i="0">
                <a:solidFill>
                  <a:srgbClr val="172033"/>
                </a:solidFill>
                <a:latin typeface="Aptos"/>
              </a:rPr>
              <a:t>04</a:t>
            </a:r>
          </a:p>
        </p:txBody>
      </p:sp>
      <p:sp>
        <p:nvSpPr>
          <p:cNvPr id="14" name="TextBox 33"/>
          <p:cNvSpPr/>
          <p:nvPr/>
        </p:nvSpPr>
        <p:spPr>
          <a:xfrm>
            <a:off x="1325880" y="4032504"/>
            <a:ext cx="9875520" cy="475488"/>
          </a:xfrm>
          <a:noFill/>
          <a:ln>
            <a:noFill/>
          </a:ln>
        </p:spPr>
        <p:txBody>
          <a:bodyPr lIns="73152" tIns="73152" rIns="73152" bIns="73152" anchor="ctr"/>
          <a:lstStyle/>
          <a:p>
            <a:pPr marL="0" lvl="0" indent="0" algn="l"/>
            <a:r>
              <a:rPr lang="en-US" sz="2400" b="0" i="0" dirty="0">
                <a:solidFill>
                  <a:srgbClr val="172033"/>
                </a:solidFill>
                <a:latin typeface="Aptos"/>
              </a:rPr>
              <a:t>Install dependencies with </a:t>
            </a:r>
            <a:r>
              <a:rPr lang="en-US" sz="2400" b="0" i="0" dirty="0" err="1">
                <a:solidFill>
                  <a:srgbClr val="172033"/>
                </a:solidFill>
                <a:latin typeface="Courier New" panose="02070309020205020404" pitchFamily="49" charset="0"/>
                <a:cs typeface="Courier New" panose="02070309020205020404" pitchFamily="49" charset="0"/>
              </a:rPr>
              <a:t>uv</a:t>
            </a:r>
            <a:r>
              <a:rPr lang="en-US" sz="2400" b="0" i="0" dirty="0">
                <a:solidFill>
                  <a:srgbClr val="172033"/>
                </a:solidFill>
                <a:latin typeface="Courier New" panose="02070309020205020404" pitchFamily="49" charset="0"/>
                <a:cs typeface="Courier New" panose="02070309020205020404" pitchFamily="49" charset="0"/>
              </a:rPr>
              <a:t> sync --all-extras</a:t>
            </a:r>
          </a:p>
        </p:txBody>
      </p:sp>
      <p:sp>
        <p:nvSpPr>
          <p:cNvPr id="15" name="Line 43"/>
          <p:cNvSpPr/>
          <p:nvPr/>
        </p:nvSpPr>
        <p:spPr>
          <a:xfrm>
            <a:off x="1143000" y="4206240"/>
            <a:ext cx="91440" cy="9144"/>
          </a:xfrm>
          <a:ln w="25400">
            <a:solidFill>
              <a:srgbClr val="D5DDE7"/>
            </a:solidFill>
          </a:ln>
        </p:spPr>
        <p:txBody>
          <a:bodyPr/>
          <a:lstStyle/>
          <a:p>
            <a:endParaRPr lang="en-US" sz="3200"/>
          </a:p>
        </p:txBody>
      </p:sp>
      <p:sp>
        <p:nvSpPr>
          <p:cNvPr id="16" name="TextBox 24"/>
          <p:cNvSpPr/>
          <p:nvPr/>
        </p:nvSpPr>
        <p:spPr>
          <a:xfrm>
            <a:off x="640080" y="4892040"/>
            <a:ext cx="457200" cy="329184"/>
          </a:xfrm>
          <a:noFill/>
          <a:ln>
            <a:noFill/>
          </a:ln>
        </p:spPr>
        <p:txBody>
          <a:bodyPr lIns="73152" tIns="73152" rIns="73152" bIns="73152" anchor="ctr"/>
          <a:lstStyle/>
          <a:p>
            <a:pPr marL="0" lvl="0" indent="0" algn="l"/>
            <a:r>
              <a:rPr lang="en-US" b="1" i="0">
                <a:solidFill>
                  <a:srgbClr val="172033"/>
                </a:solidFill>
                <a:latin typeface="Aptos"/>
              </a:rPr>
              <a:t>05</a:t>
            </a:r>
          </a:p>
        </p:txBody>
      </p:sp>
      <p:sp>
        <p:nvSpPr>
          <p:cNvPr id="17" name="TextBox 34"/>
          <p:cNvSpPr/>
          <p:nvPr/>
        </p:nvSpPr>
        <p:spPr>
          <a:xfrm>
            <a:off x="1325880" y="4873752"/>
            <a:ext cx="9875520" cy="475488"/>
          </a:xfrm>
          <a:noFill/>
          <a:ln>
            <a:noFill/>
          </a:ln>
        </p:spPr>
        <p:txBody>
          <a:bodyPr lIns="73152" tIns="73152" rIns="73152" bIns="73152" anchor="ctr"/>
          <a:lstStyle/>
          <a:p>
            <a:pPr marL="0" lvl="0" indent="0" algn="l"/>
            <a:r>
              <a:rPr lang="en-US" sz="2400" b="0" i="0" dirty="0">
                <a:solidFill>
                  <a:srgbClr val="172033"/>
                </a:solidFill>
                <a:latin typeface="Aptos"/>
              </a:rPr>
              <a:t>Run </a:t>
            </a:r>
            <a:r>
              <a:rPr lang="en-US" sz="2400" b="0" i="0" dirty="0" err="1">
                <a:solidFill>
                  <a:srgbClr val="172033"/>
                </a:solidFill>
                <a:latin typeface="Courier New" panose="02070309020205020404" pitchFamily="49" charset="0"/>
                <a:cs typeface="Courier New" panose="02070309020205020404" pitchFamily="49" charset="0"/>
              </a:rPr>
              <a:t>uv</a:t>
            </a:r>
            <a:r>
              <a:rPr lang="en-US" sz="2400" b="0" i="0" dirty="0">
                <a:solidFill>
                  <a:srgbClr val="172033"/>
                </a:solidFill>
                <a:latin typeface="Courier New" panose="02070309020205020404" pitchFamily="49" charset="0"/>
                <a:cs typeface="Courier New" panose="02070309020205020404" pitchFamily="49" charset="0"/>
              </a:rPr>
              <a:t> run </a:t>
            </a:r>
            <a:r>
              <a:rPr lang="en-US" sz="2400" b="0" i="0" dirty="0" err="1">
                <a:solidFill>
                  <a:srgbClr val="172033"/>
                </a:solidFill>
                <a:latin typeface="Courier New" panose="02070309020205020404" pitchFamily="49" charset="0"/>
                <a:cs typeface="Courier New" panose="02070309020205020404" pitchFamily="49" charset="0"/>
              </a:rPr>
              <a:t>my_ols</a:t>
            </a:r>
            <a:r>
              <a:rPr lang="en-US" sz="2400" b="0" i="0" dirty="0">
                <a:solidFill>
                  <a:srgbClr val="172033"/>
                </a:solidFill>
                <a:latin typeface="Aptos"/>
              </a:rPr>
              <a:t> and </a:t>
            </a:r>
            <a:r>
              <a:rPr lang="en-US" sz="2400" b="0" i="0" dirty="0" err="1">
                <a:solidFill>
                  <a:srgbClr val="172033"/>
                </a:solidFill>
                <a:latin typeface="Courier New" panose="02070309020205020404" pitchFamily="49" charset="0"/>
                <a:cs typeface="Courier New" panose="02070309020205020404" pitchFamily="49" charset="0"/>
              </a:rPr>
              <a:t>uv</a:t>
            </a:r>
            <a:r>
              <a:rPr lang="en-US" sz="2400" b="0" i="0" dirty="0">
                <a:solidFill>
                  <a:srgbClr val="172033"/>
                </a:solidFill>
                <a:latin typeface="Courier New" panose="02070309020205020404" pitchFamily="49" charset="0"/>
                <a:cs typeface="Courier New" panose="02070309020205020404" pitchFamily="49" charset="0"/>
              </a:rPr>
              <a:t> run </a:t>
            </a:r>
            <a:r>
              <a:rPr lang="en-US" sz="2400" b="0" i="0" dirty="0" err="1">
                <a:solidFill>
                  <a:srgbClr val="172033"/>
                </a:solidFill>
                <a:latin typeface="Courier New" panose="02070309020205020404" pitchFamily="49" charset="0"/>
                <a:cs typeface="Courier New" panose="02070309020205020404" pitchFamily="49" charset="0"/>
              </a:rPr>
              <a:t>pytest</a:t>
            </a:r>
            <a:endParaRPr lang="en-US" sz="2400" b="0" i="0" dirty="0">
              <a:solidFill>
                <a:srgbClr val="172033"/>
              </a:solidFill>
              <a:latin typeface="Courier New" panose="02070309020205020404" pitchFamily="49" charset="0"/>
              <a:cs typeface="Courier New" panose="02070309020205020404" pitchFamily="49" charset="0"/>
            </a:endParaRPr>
          </a:p>
        </p:txBody>
      </p:sp>
      <p:sp>
        <p:nvSpPr>
          <p:cNvPr id="18" name="Line 44"/>
          <p:cNvSpPr/>
          <p:nvPr/>
        </p:nvSpPr>
        <p:spPr>
          <a:xfrm>
            <a:off x="1143000" y="5047488"/>
            <a:ext cx="91440" cy="9144"/>
          </a:xfrm>
          <a:ln w="25400">
            <a:solidFill>
              <a:srgbClr val="D5DDE7"/>
            </a:solidFill>
          </a:ln>
        </p:spPr>
        <p:txBody>
          <a:bodyPr/>
          <a:lstStyle/>
          <a:p>
            <a:endParaRPr lang="en-US" sz="3200"/>
          </a:p>
        </p:txBody>
      </p:sp>
      <p:sp>
        <p:nvSpPr>
          <p:cNvPr id="20" name="Line 916"/>
          <p:cNvSpPr/>
          <p:nvPr/>
        </p:nvSpPr>
        <p:spPr>
          <a:xfrm>
            <a:off x="594360" y="6446520"/>
            <a:ext cx="10972800" cy="9144"/>
          </a:xfrm>
          <a:ln w="12700">
            <a:solidFill>
              <a:srgbClr val="D5DDE7"/>
            </a:solidFill>
          </a:ln>
        </p:spPr>
        <p:txBody>
          <a:bodyPr/>
          <a:lstStyle/>
          <a:p>
            <a:endParaRPr lang="en-US"/>
          </a:p>
        </p:txBody>
      </p:sp>
      <p:sp>
        <p:nvSpPr>
          <p:cNvPr id="21" name="TextBox 917"/>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2" name="TextBox 918"/>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sp>
        <p:nvSpPr>
          <p:cNvPr id="23" name="TextBox 22">
            <a:extLst>
              <a:ext uri="{FF2B5EF4-FFF2-40B4-BE49-F238E27FC236}">
                <a16:creationId xmlns:a16="http://schemas.microsoft.com/office/drawing/2014/main" id="{B7E53580-EA8F-DE0C-3DAC-3B86ED0BCB1D}"/>
              </a:ext>
            </a:extLst>
          </p:cNvPr>
          <p:cNvSpPr txBox="1"/>
          <p:nvPr/>
        </p:nvSpPr>
        <p:spPr>
          <a:xfrm>
            <a:off x="7993380" y="1270230"/>
            <a:ext cx="3967753" cy="369332"/>
          </a:xfrm>
          <a:prstGeom prst="rect">
            <a:avLst/>
          </a:prstGeom>
          <a:noFill/>
        </p:spPr>
        <p:txBody>
          <a:bodyPr wrap="none" rtlCol="0">
            <a:spAutoFit/>
          </a:bodyPr>
          <a:lstStyle/>
          <a:p>
            <a:r>
              <a:rPr lang="en-US" dirty="0">
                <a:solidFill>
                  <a:srgbClr val="FF0000"/>
                </a:solidFill>
              </a:rPr>
              <a:t>Complete working example in tutorial</a:t>
            </a:r>
          </a:p>
        </p:txBody>
      </p:sp>
      <p:pic>
        <p:nvPicPr>
          <p:cNvPr id="2" name="Picture 1">
            <a:extLst>
              <a:ext uri="{FF2B5EF4-FFF2-40B4-BE49-F238E27FC236}">
                <a16:creationId xmlns:a16="http://schemas.microsoft.com/office/drawing/2014/main" id="{BA415F64-9174-5D79-9225-10674C6C4128}"/>
              </a:ext>
            </a:extLst>
          </p:cNvPr>
          <p:cNvPicPr>
            <a:picLocks noChangeAspect="1"/>
          </p:cNvPicPr>
          <p:nvPr/>
        </p:nvPicPr>
        <p:blipFill>
          <a:blip r:embed="rId3"/>
          <a:stretch>
            <a:fillRect/>
          </a:stretch>
        </p:blipFill>
        <p:spPr>
          <a:xfrm>
            <a:off x="10623841" y="0"/>
            <a:ext cx="1568159" cy="1195721"/>
          </a:xfrm>
          <a:prstGeom prst="rect">
            <a:avLst/>
          </a:prstGeom>
        </p:spPr>
      </p:pic>
      <p:pic>
        <p:nvPicPr>
          <p:cNvPr id="19" name="Picture 18">
            <a:extLst>
              <a:ext uri="{FF2B5EF4-FFF2-40B4-BE49-F238E27FC236}">
                <a16:creationId xmlns:a16="http://schemas.microsoft.com/office/drawing/2014/main" id="{47F3FF8A-0BAD-EEAD-84F7-37FDDD16D68A}"/>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CI/CD for automation</a:t>
            </a:r>
          </a:p>
        </p:txBody>
      </p:sp>
      <p:sp>
        <p:nvSpPr>
          <p:cNvPr id="4" name="Rect 20"/>
          <p:cNvSpPr/>
          <p:nvPr/>
        </p:nvSpPr>
        <p:spPr>
          <a:xfrm>
            <a:off x="594360" y="1783080"/>
            <a:ext cx="2468880" cy="3246120"/>
          </a:xfrm>
          <a:prstGeom prst="roundRect">
            <a:avLst/>
          </a:prstGeom>
          <a:solidFill>
            <a:srgbClr val="FFFFFF"/>
          </a:solidFill>
          <a:ln>
            <a:solidFill>
              <a:srgbClr val="D5DDE7"/>
            </a:solidFill>
            <a:prstDash val="solid"/>
          </a:ln>
        </p:spPr>
        <p:txBody>
          <a:bodyPr/>
          <a:lstStyle/>
          <a:p>
            <a:endParaRPr lang="en-US" dirty="0"/>
          </a:p>
        </p:txBody>
      </p:sp>
      <p:sp>
        <p:nvSpPr>
          <p:cNvPr id="6" name="TextBox 40"/>
          <p:cNvSpPr/>
          <p:nvPr/>
        </p:nvSpPr>
        <p:spPr>
          <a:xfrm>
            <a:off x="813816" y="2633472"/>
            <a:ext cx="2011680" cy="594360"/>
          </a:xfrm>
          <a:noFill/>
          <a:ln>
            <a:noFill/>
          </a:ln>
        </p:spPr>
        <p:txBody>
          <a:bodyPr lIns="73152" tIns="73152" rIns="73152" bIns="73152" anchor="ctr"/>
          <a:lstStyle/>
          <a:p>
            <a:pPr marL="0" lvl="0" indent="0" algn="l"/>
            <a:r>
              <a:rPr lang="en-US" sz="2000" b="1" i="0">
                <a:solidFill>
                  <a:srgbClr val="172033"/>
                </a:solidFill>
                <a:latin typeface="Aptos"/>
              </a:rPr>
              <a:t>Push changes</a:t>
            </a:r>
          </a:p>
        </p:txBody>
      </p:sp>
      <p:sp>
        <p:nvSpPr>
          <p:cNvPr id="7" name="TextBox 50"/>
          <p:cNvSpPr/>
          <p:nvPr/>
        </p:nvSpPr>
        <p:spPr>
          <a:xfrm>
            <a:off x="813816" y="3401568"/>
            <a:ext cx="1993392" cy="868680"/>
          </a:xfrm>
          <a:noFill/>
          <a:ln>
            <a:noFill/>
          </a:ln>
        </p:spPr>
        <p:txBody>
          <a:bodyPr lIns="73152" tIns="73152" rIns="73152" bIns="73152" anchor="ctr"/>
          <a:lstStyle/>
          <a:p>
            <a:pPr marL="0" lvl="0" indent="0" algn="l"/>
            <a:r>
              <a:rPr lang="en-US" sz="1600" b="0" i="0" dirty="0">
                <a:solidFill>
                  <a:srgbClr val="172033"/>
                </a:solidFill>
                <a:latin typeface="Aptos"/>
              </a:rPr>
              <a:t>Repository main branch</a:t>
            </a:r>
          </a:p>
        </p:txBody>
      </p:sp>
      <p:sp>
        <p:nvSpPr>
          <p:cNvPr id="8" name="Line 60"/>
          <p:cNvSpPr/>
          <p:nvPr/>
        </p:nvSpPr>
        <p:spPr>
          <a:xfrm>
            <a:off x="3081528" y="3154680"/>
            <a:ext cx="283463" cy="9144"/>
          </a:xfrm>
          <a:ln w="38100">
            <a:solidFill>
              <a:srgbClr val="176B5A"/>
            </a:solidFill>
          </a:ln>
        </p:spPr>
        <p:txBody>
          <a:bodyPr/>
          <a:lstStyle/>
          <a:p>
            <a:endParaRPr lang="en-US" sz="2400"/>
          </a:p>
        </p:txBody>
      </p:sp>
      <p:sp>
        <p:nvSpPr>
          <p:cNvPr id="9" name="Rect 21"/>
          <p:cNvSpPr/>
          <p:nvPr/>
        </p:nvSpPr>
        <p:spPr>
          <a:xfrm>
            <a:off x="3429000" y="1783080"/>
            <a:ext cx="2468880" cy="3246120"/>
          </a:xfrm>
          <a:prstGeom prst="roundRect">
            <a:avLst/>
          </a:prstGeom>
          <a:solidFill>
            <a:srgbClr val="FFFFFF"/>
          </a:solidFill>
          <a:ln>
            <a:solidFill>
              <a:srgbClr val="D5DDE7"/>
            </a:solidFill>
            <a:prstDash val="solid"/>
          </a:ln>
        </p:spPr>
        <p:txBody>
          <a:bodyPr/>
          <a:lstStyle/>
          <a:p>
            <a:endParaRPr lang="en-US"/>
          </a:p>
        </p:txBody>
      </p:sp>
      <p:sp>
        <p:nvSpPr>
          <p:cNvPr id="11" name="TextBox 41"/>
          <p:cNvSpPr/>
          <p:nvPr/>
        </p:nvSpPr>
        <p:spPr>
          <a:xfrm>
            <a:off x="3648456" y="2633472"/>
            <a:ext cx="2011680" cy="594360"/>
          </a:xfrm>
          <a:noFill/>
          <a:ln>
            <a:noFill/>
          </a:ln>
        </p:spPr>
        <p:txBody>
          <a:bodyPr lIns="73152" tIns="73152" rIns="73152" bIns="73152" anchor="ctr"/>
          <a:lstStyle/>
          <a:p>
            <a:pPr marL="0" lvl="0" indent="0" algn="l"/>
            <a:r>
              <a:rPr lang="en-US" sz="2000" b="1" i="0">
                <a:solidFill>
                  <a:srgbClr val="172033"/>
                </a:solidFill>
                <a:latin typeface="Aptos"/>
              </a:rPr>
              <a:t>Trigger CI</a:t>
            </a:r>
          </a:p>
        </p:txBody>
      </p:sp>
      <p:sp>
        <p:nvSpPr>
          <p:cNvPr id="12" name="TextBox 51"/>
          <p:cNvSpPr/>
          <p:nvPr/>
        </p:nvSpPr>
        <p:spPr>
          <a:xfrm>
            <a:off x="3648456" y="3401568"/>
            <a:ext cx="1993392" cy="868680"/>
          </a:xfrm>
          <a:noFill/>
          <a:ln>
            <a:noFill/>
          </a:ln>
        </p:spPr>
        <p:txBody>
          <a:bodyPr lIns="73152" tIns="73152" rIns="73152" bIns="73152" anchor="ctr"/>
          <a:lstStyle/>
          <a:p>
            <a:pPr marL="0" lvl="0" indent="0" algn="l"/>
            <a:r>
              <a:rPr lang="en-US" sz="1600" b="0" i="0" dirty="0">
                <a:solidFill>
                  <a:srgbClr val="172033"/>
                </a:solidFill>
                <a:latin typeface="Aptos"/>
              </a:rPr>
              <a:t>GitHub starts CI</a:t>
            </a:r>
          </a:p>
        </p:txBody>
      </p:sp>
      <p:sp>
        <p:nvSpPr>
          <p:cNvPr id="13" name="Line 61"/>
          <p:cNvSpPr/>
          <p:nvPr/>
        </p:nvSpPr>
        <p:spPr>
          <a:xfrm>
            <a:off x="5916168" y="3154680"/>
            <a:ext cx="283463" cy="9144"/>
          </a:xfrm>
          <a:ln w="38100">
            <a:solidFill>
              <a:srgbClr val="176B5A"/>
            </a:solidFill>
          </a:ln>
        </p:spPr>
        <p:txBody>
          <a:bodyPr/>
          <a:lstStyle/>
          <a:p>
            <a:endParaRPr lang="en-US" sz="2400"/>
          </a:p>
        </p:txBody>
      </p:sp>
      <p:sp>
        <p:nvSpPr>
          <p:cNvPr id="14" name="Rect 22"/>
          <p:cNvSpPr/>
          <p:nvPr/>
        </p:nvSpPr>
        <p:spPr>
          <a:xfrm>
            <a:off x="6263640" y="1783080"/>
            <a:ext cx="2468880" cy="3246120"/>
          </a:xfrm>
          <a:prstGeom prst="roundRect">
            <a:avLst/>
          </a:prstGeom>
          <a:solidFill>
            <a:srgbClr val="FFFFFF"/>
          </a:solidFill>
          <a:ln>
            <a:solidFill>
              <a:srgbClr val="D5DDE7"/>
            </a:solidFill>
            <a:prstDash val="solid"/>
          </a:ln>
        </p:spPr>
        <p:txBody>
          <a:bodyPr/>
          <a:lstStyle/>
          <a:p>
            <a:endParaRPr lang="en-US"/>
          </a:p>
        </p:txBody>
      </p:sp>
      <p:sp>
        <p:nvSpPr>
          <p:cNvPr id="16" name="TextBox 42"/>
          <p:cNvSpPr/>
          <p:nvPr/>
        </p:nvSpPr>
        <p:spPr>
          <a:xfrm>
            <a:off x="6483096" y="2633472"/>
            <a:ext cx="2011680" cy="594360"/>
          </a:xfrm>
          <a:noFill/>
          <a:ln>
            <a:noFill/>
          </a:ln>
        </p:spPr>
        <p:txBody>
          <a:bodyPr lIns="73152" tIns="73152" rIns="73152" bIns="73152" anchor="ctr"/>
          <a:lstStyle/>
          <a:p>
            <a:pPr marL="0" lvl="0" indent="0" algn="l"/>
            <a:r>
              <a:rPr lang="en-US" sz="2000" b="1" i="0">
                <a:solidFill>
                  <a:srgbClr val="172033"/>
                </a:solidFill>
                <a:latin typeface="Aptos"/>
              </a:rPr>
              <a:t>Run in cloud</a:t>
            </a:r>
          </a:p>
        </p:txBody>
      </p:sp>
      <p:sp>
        <p:nvSpPr>
          <p:cNvPr id="17" name="TextBox 52"/>
          <p:cNvSpPr/>
          <p:nvPr/>
        </p:nvSpPr>
        <p:spPr>
          <a:xfrm>
            <a:off x="6483096" y="3401568"/>
            <a:ext cx="1993392" cy="868680"/>
          </a:xfrm>
          <a:noFill/>
          <a:ln>
            <a:noFill/>
          </a:ln>
        </p:spPr>
        <p:txBody>
          <a:bodyPr lIns="73152" tIns="73152" rIns="73152" bIns="73152" anchor="ctr"/>
          <a:lstStyle/>
          <a:p>
            <a:pPr marL="0" lvl="0" indent="0" algn="l"/>
            <a:r>
              <a:rPr lang="en-US" sz="1600" b="0" i="0">
                <a:solidFill>
                  <a:srgbClr val="172033"/>
                </a:solidFill>
                <a:latin typeface="Aptos"/>
              </a:rPr>
              <a:t>Container / VM</a:t>
            </a:r>
          </a:p>
        </p:txBody>
      </p:sp>
      <p:sp>
        <p:nvSpPr>
          <p:cNvPr id="18" name="Line 62"/>
          <p:cNvSpPr/>
          <p:nvPr/>
        </p:nvSpPr>
        <p:spPr>
          <a:xfrm>
            <a:off x="8750808" y="3154680"/>
            <a:ext cx="283464" cy="9144"/>
          </a:xfrm>
          <a:ln w="38100">
            <a:solidFill>
              <a:srgbClr val="176B5A"/>
            </a:solidFill>
          </a:ln>
        </p:spPr>
        <p:txBody>
          <a:bodyPr/>
          <a:lstStyle/>
          <a:p>
            <a:endParaRPr lang="en-US" sz="2400"/>
          </a:p>
        </p:txBody>
      </p:sp>
      <p:sp>
        <p:nvSpPr>
          <p:cNvPr id="19" name="Rect 23"/>
          <p:cNvSpPr/>
          <p:nvPr/>
        </p:nvSpPr>
        <p:spPr>
          <a:xfrm>
            <a:off x="9098280" y="1783080"/>
            <a:ext cx="2468880" cy="3246120"/>
          </a:xfrm>
          <a:prstGeom prst="roundRect">
            <a:avLst/>
          </a:prstGeom>
          <a:solidFill>
            <a:srgbClr val="FFFFFF"/>
          </a:solidFill>
          <a:ln>
            <a:solidFill>
              <a:srgbClr val="D5DDE7"/>
            </a:solidFill>
            <a:prstDash val="solid"/>
          </a:ln>
        </p:spPr>
        <p:txBody>
          <a:bodyPr/>
          <a:lstStyle/>
          <a:p>
            <a:endParaRPr lang="en-US"/>
          </a:p>
        </p:txBody>
      </p:sp>
      <p:sp>
        <p:nvSpPr>
          <p:cNvPr id="21" name="TextBox 43"/>
          <p:cNvSpPr/>
          <p:nvPr/>
        </p:nvSpPr>
        <p:spPr>
          <a:xfrm>
            <a:off x="9317736" y="2633472"/>
            <a:ext cx="2011680" cy="594360"/>
          </a:xfrm>
          <a:noFill/>
          <a:ln>
            <a:noFill/>
          </a:ln>
        </p:spPr>
        <p:txBody>
          <a:bodyPr lIns="73152" tIns="73152" rIns="73152" bIns="73152" anchor="ctr"/>
          <a:lstStyle/>
          <a:p>
            <a:pPr marL="0" lvl="0" indent="0" algn="l"/>
            <a:r>
              <a:rPr lang="en-US" sz="2000" b="1" i="0">
                <a:solidFill>
                  <a:srgbClr val="172033"/>
                </a:solidFill>
                <a:latin typeface="Aptos"/>
              </a:rPr>
              <a:t>Execute tests</a:t>
            </a:r>
          </a:p>
        </p:txBody>
      </p:sp>
      <p:sp>
        <p:nvSpPr>
          <p:cNvPr id="22" name="TextBox 53"/>
          <p:cNvSpPr/>
          <p:nvPr/>
        </p:nvSpPr>
        <p:spPr>
          <a:xfrm>
            <a:off x="9317736" y="3401568"/>
            <a:ext cx="1993392" cy="868680"/>
          </a:xfrm>
          <a:noFill/>
          <a:ln>
            <a:noFill/>
          </a:ln>
        </p:spPr>
        <p:txBody>
          <a:bodyPr lIns="73152" tIns="73152" rIns="73152" bIns="73152" anchor="ctr"/>
          <a:lstStyle/>
          <a:p>
            <a:pPr marL="0" lvl="0" indent="0" algn="l"/>
            <a:r>
              <a:rPr lang="en-US" sz="1600" b="0" i="0">
                <a:solidFill>
                  <a:srgbClr val="172033"/>
                </a:solidFill>
                <a:latin typeface="Aptos"/>
              </a:rPr>
              <a:t>Script runs pytest</a:t>
            </a:r>
          </a:p>
        </p:txBody>
      </p:sp>
      <p:sp>
        <p:nvSpPr>
          <p:cNvPr id="23" name="TextBox 70"/>
          <p:cNvSpPr/>
          <p:nvPr/>
        </p:nvSpPr>
        <p:spPr>
          <a:xfrm>
            <a:off x="594360" y="5623560"/>
            <a:ext cx="10881360" cy="502920"/>
          </a:xfrm>
          <a:noFill/>
          <a:ln>
            <a:noFill/>
          </a:ln>
        </p:spPr>
        <p:txBody>
          <a:bodyPr lIns="73152" tIns="73152" rIns="73152" bIns="73152" anchor="ctr"/>
          <a:lstStyle/>
          <a:p>
            <a:pPr marL="0" lvl="0" indent="0" algn="l"/>
            <a:r>
              <a:rPr lang="en-US" b="1" i="0" dirty="0">
                <a:solidFill>
                  <a:srgbClr val="172033"/>
                </a:solidFill>
                <a:latin typeface="Aptos"/>
              </a:rPr>
              <a:t>GitHub Actions is GitHub’s built-in CI infrastructure for this workflow.</a:t>
            </a:r>
          </a:p>
        </p:txBody>
      </p:sp>
      <p:sp>
        <p:nvSpPr>
          <p:cNvPr id="24" name="Line 915"/>
          <p:cNvSpPr/>
          <p:nvPr/>
        </p:nvSpPr>
        <p:spPr>
          <a:xfrm>
            <a:off x="594360" y="6446520"/>
            <a:ext cx="10972800" cy="9144"/>
          </a:xfrm>
          <a:ln w="12700">
            <a:solidFill>
              <a:srgbClr val="D5DDE7"/>
            </a:solidFill>
          </a:ln>
        </p:spPr>
        <p:txBody>
          <a:bodyPr/>
          <a:lstStyle/>
          <a:p>
            <a:endParaRPr lang="en-US"/>
          </a:p>
        </p:txBody>
      </p:sp>
      <p:sp>
        <p:nvSpPr>
          <p:cNvPr id="25" name="TextBox 916"/>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6" name="TextBox 917"/>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9C16FA6D-2060-0BD7-BA44-753CAAB2A73A}"/>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A3F18417-B52B-5C1F-B2B8-45C4F910F5B7}"/>
              </a:ext>
            </a:extLst>
          </p:cNvPr>
          <p:cNvPicPr>
            <a:picLocks noChangeAspect="1"/>
          </p:cNvPicPr>
          <p:nvPr/>
        </p:nvPicPr>
        <p:blipFill>
          <a:blip r:embed="rId4"/>
          <a:srcRect/>
          <a:stretch>
            <a:fillRect/>
          </a:stretch>
        </p:blipFill>
        <p:spPr>
          <a:xfrm>
            <a:off x="9106967" y="0"/>
            <a:ext cx="1516874" cy="119572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endParaRPr lang="en-US" sz="1430" b="0" i="0" dirty="0">
              <a:solidFill>
                <a:srgbClr val="172033"/>
              </a:solidFill>
              <a:latin typeface="Courier New"/>
            </a:endParaRPr>
          </a:p>
        </p:txBody>
      </p:sp>
      <p:sp>
        <p:nvSpPr>
          <p:cNvPr id="6" name="TextBox 31"/>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sp>
        <p:nvSpPr>
          <p:cNvPr id="9" name="Line 918"/>
          <p:cNvSpPr/>
          <p:nvPr/>
        </p:nvSpPr>
        <p:spPr>
          <a:xfrm>
            <a:off x="594360" y="6446520"/>
            <a:ext cx="10972800" cy="9144"/>
          </a:xfrm>
          <a:ln w="12700">
            <a:solidFill>
              <a:srgbClr val="D5DDE7"/>
            </a:solidFill>
          </a:ln>
        </p:spPr>
        <p:txBody>
          <a:bodyPr/>
          <a:lstStyle/>
          <a:p>
            <a:endParaRPr lang="en-US"/>
          </a:p>
        </p:txBody>
      </p:sp>
      <p:sp>
        <p:nvSpPr>
          <p:cNvPr id="10" name="TextBox 919"/>
          <p:cNvSpPr/>
          <p:nvPr/>
        </p:nvSpPr>
        <p:spPr>
          <a:xfrm>
            <a:off x="594360" y="6492240"/>
            <a:ext cx="8961120" cy="182880"/>
          </a:xfrm>
          <a:noFill/>
          <a:ln>
            <a:noFill/>
          </a:ln>
        </p:spPr>
        <p:txBody>
          <a:bodyPr lIns="73152" tIns="73152" rIns="73152" bIns="73152" anchor="ctr"/>
          <a:lstStyle/>
          <a:p>
            <a:pPr marL="0" lvl="0" indent="0" algn="l"/>
            <a:endParaRPr lang="en-US" sz="892" b="0" i="0" dirty="0">
              <a:solidFill>
                <a:srgbClr val="172033"/>
              </a:solidFill>
              <a:latin typeface="Aptos"/>
            </a:endParaRPr>
          </a:p>
        </p:txBody>
      </p:sp>
      <p:sp>
        <p:nvSpPr>
          <p:cNvPr id="11" name="TextBox 920"/>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2EE09390-3E2B-5DCE-C74C-627657D9B617}"/>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B0B2A057-495C-0C2D-DD79-71C816A7FEAA}"/>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C78023F1-B7D1-1DAC-8935-199AB978848F}"/>
              </a:ext>
            </a:extLst>
          </p:cNvPr>
          <p:cNvSpPr txBox="1"/>
          <p:nvPr/>
        </p:nvSpPr>
        <p:spPr>
          <a:xfrm>
            <a:off x="7954682" y="2832847"/>
            <a:ext cx="1531188" cy="369332"/>
          </a:xfrm>
          <a:prstGeom prst="rect">
            <a:avLst/>
          </a:prstGeom>
          <a:noFill/>
        </p:spPr>
        <p:txBody>
          <a:bodyPr wrap="none" rtlCol="0">
            <a:spAutoFit/>
          </a:bodyPr>
          <a:lstStyle/>
          <a:p>
            <a:r>
              <a:rPr lang="en-US" dirty="0">
                <a:latin typeface="+mn-lt"/>
              </a:rPr>
              <a:t>push to main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9F1A885A-6F0F-C433-F4E1-9328E19F581A}"/>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D90978D8-D7FE-ABF3-2B9C-D3A6A9FB2A1D}"/>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19500ECF-6662-512C-4B0F-6650792D78C9}"/>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endParaRPr lang="en-US" sz="1430" b="0" i="0" dirty="0">
              <a:solidFill>
                <a:srgbClr val="172033"/>
              </a:solidFill>
              <a:latin typeface="Courier New"/>
            </a:endParaRPr>
          </a:p>
        </p:txBody>
      </p:sp>
      <p:sp>
        <p:nvSpPr>
          <p:cNvPr id="6" name="TextBox 31">
            <a:extLst>
              <a:ext uri="{FF2B5EF4-FFF2-40B4-BE49-F238E27FC236}">
                <a16:creationId xmlns:a16="http://schemas.microsoft.com/office/drawing/2014/main" id="{466C84E6-1646-19DD-3C7C-59A087FE62FC}"/>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562C51CA-298A-FBA8-02AE-19B013BC5FA1}"/>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939D89C7-83B6-41C3-8F11-75CD8217F198}"/>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164B02A2-EA08-51C1-D86F-974B77705DBB}"/>
              </a:ext>
            </a:extLst>
          </p:cNvPr>
          <p:cNvSpPr txBox="1"/>
          <p:nvPr/>
        </p:nvSpPr>
        <p:spPr>
          <a:xfrm>
            <a:off x="7954682" y="2832847"/>
            <a:ext cx="2268570" cy="923330"/>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p:txBody>
      </p:sp>
    </p:spTree>
    <p:extLst>
      <p:ext uri="{BB962C8B-B14F-4D97-AF65-F5344CB8AC3E}">
        <p14:creationId xmlns:p14="http://schemas.microsoft.com/office/powerpoint/2010/main" val="677137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2C8200D7-CEE1-792D-5547-549D5F1AD8B0}"/>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CBD59446-A833-EDBA-39A4-48FDCE2D356E}"/>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E1A64F00-4EBD-FFC3-F5BB-C85529F98648}"/>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r>
              <a:rPr lang="en-US" sz="1430" b="0" i="0" dirty="0">
                <a:solidFill>
                  <a:srgbClr val="172033"/>
                </a:solidFill>
                <a:latin typeface="Courier New"/>
              </a:rPr>
              <a:t>    steps:</a:t>
            </a:r>
          </a:p>
        </p:txBody>
      </p:sp>
      <p:sp>
        <p:nvSpPr>
          <p:cNvPr id="6" name="TextBox 31">
            <a:extLst>
              <a:ext uri="{FF2B5EF4-FFF2-40B4-BE49-F238E27FC236}">
                <a16:creationId xmlns:a16="http://schemas.microsoft.com/office/drawing/2014/main" id="{30A3C619-342E-98DB-3319-1656D7C46F3C}"/>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79108CC4-D3AE-3823-9CFB-DD80E449E3A5}"/>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7032AEBB-17A4-051C-1201-FFA5893AAFA8}"/>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9" name="TextBox 8">
            <a:extLst>
              <a:ext uri="{FF2B5EF4-FFF2-40B4-BE49-F238E27FC236}">
                <a16:creationId xmlns:a16="http://schemas.microsoft.com/office/drawing/2014/main" id="{CE3CA4B1-43FA-F4B3-C221-E0CBCB394EC4}"/>
              </a:ext>
            </a:extLst>
          </p:cNvPr>
          <p:cNvSpPr txBox="1"/>
          <p:nvPr/>
        </p:nvSpPr>
        <p:spPr>
          <a:xfrm>
            <a:off x="7954682" y="2832847"/>
            <a:ext cx="2467342" cy="1477328"/>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a:p>
            <a:endParaRPr lang="en-US" dirty="0">
              <a:latin typeface="+mn-lt"/>
            </a:endParaRPr>
          </a:p>
          <a:p>
            <a:r>
              <a:rPr lang="en-US" dirty="0">
                <a:latin typeface="+mn-lt"/>
              </a:rPr>
              <a:t>do the following steps:</a:t>
            </a:r>
          </a:p>
        </p:txBody>
      </p:sp>
    </p:spTree>
    <p:extLst>
      <p:ext uri="{BB962C8B-B14F-4D97-AF65-F5344CB8AC3E}">
        <p14:creationId xmlns:p14="http://schemas.microsoft.com/office/powerpoint/2010/main" val="19107004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689A62D2-9F04-7241-F0EF-3A82E5D7AB8F}"/>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D4D4C40F-FB3C-4F9F-9F8B-4145CE58FFB4}"/>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97B5BC1B-29C3-2C47-EB79-0583EB4D8AD7}"/>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r>
              <a:rPr lang="en-US" sz="1430" b="0" i="0" dirty="0">
                <a:solidFill>
                  <a:srgbClr val="172033"/>
                </a:solidFill>
                <a:latin typeface="Courier New"/>
              </a:rPr>
              <a:t>    steps:</a:t>
            </a:r>
          </a:p>
          <a:p>
            <a:pPr marL="0" lvl="0" indent="0" algn="l"/>
            <a:r>
              <a:rPr lang="en-US" sz="1430" b="0" i="0" dirty="0">
                <a:solidFill>
                  <a:srgbClr val="172033"/>
                </a:solidFill>
                <a:latin typeface="Courier New"/>
              </a:rPr>
              <a:t>      - uses: actions/checkout@v4</a:t>
            </a:r>
          </a:p>
        </p:txBody>
      </p:sp>
      <p:sp>
        <p:nvSpPr>
          <p:cNvPr id="6" name="TextBox 31">
            <a:extLst>
              <a:ext uri="{FF2B5EF4-FFF2-40B4-BE49-F238E27FC236}">
                <a16:creationId xmlns:a16="http://schemas.microsoft.com/office/drawing/2014/main" id="{14700B4B-E988-57AB-1AB4-2EAD978E9636}"/>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AEF4D727-3615-BFD2-F300-4ACF28F3652E}"/>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6BAF0DF6-D982-923D-08B0-2B71C1C8E7B1}"/>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357A1990-9642-8190-21AA-BA2E54C163FF}"/>
              </a:ext>
            </a:extLst>
          </p:cNvPr>
          <p:cNvSpPr txBox="1"/>
          <p:nvPr/>
        </p:nvSpPr>
        <p:spPr>
          <a:xfrm>
            <a:off x="7954682" y="2832847"/>
            <a:ext cx="2537874" cy="1754326"/>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a:p>
            <a:endParaRPr lang="en-US" dirty="0">
              <a:latin typeface="+mn-lt"/>
            </a:endParaRPr>
          </a:p>
          <a:p>
            <a:r>
              <a:rPr lang="en-US" dirty="0">
                <a:latin typeface="+mn-lt"/>
              </a:rPr>
              <a:t>do the following steps:</a:t>
            </a:r>
          </a:p>
          <a:p>
            <a:pPr marL="285750" indent="-285750">
              <a:buFont typeface="Arial" panose="020B0604020202020204" pitchFamily="34" charset="0"/>
              <a:buChar char="•"/>
            </a:pPr>
            <a:r>
              <a:rPr lang="en-US" dirty="0">
                <a:latin typeface="+mn-lt"/>
              </a:rPr>
              <a:t>check out repository</a:t>
            </a:r>
          </a:p>
        </p:txBody>
      </p:sp>
    </p:spTree>
    <p:extLst>
      <p:ext uri="{BB962C8B-B14F-4D97-AF65-F5344CB8AC3E}">
        <p14:creationId xmlns:p14="http://schemas.microsoft.com/office/powerpoint/2010/main" val="32002347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5511B611-6568-5AAD-87C4-788AEA039226}"/>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337FE5D0-CC33-214B-6575-A2B3D616B1CA}"/>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D78589BE-DFBE-E467-B288-11DC62AE7833}"/>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r>
              <a:rPr lang="en-US" sz="1430" b="0" i="0" dirty="0">
                <a:solidFill>
                  <a:srgbClr val="172033"/>
                </a:solidFill>
                <a:latin typeface="Courier New"/>
              </a:rPr>
              <a:t>    steps:</a:t>
            </a:r>
          </a:p>
          <a:p>
            <a:pPr marL="0" lvl="0" indent="0" algn="l"/>
            <a:r>
              <a:rPr lang="en-US" sz="1430" b="0" i="0" dirty="0">
                <a:solidFill>
                  <a:srgbClr val="172033"/>
                </a:solidFill>
                <a:latin typeface="Courier New"/>
              </a:rPr>
              <a:t>      - uses: actions/checkout@v4</a:t>
            </a:r>
          </a:p>
          <a:p>
            <a:pPr marL="0" lvl="0" indent="0" algn="l"/>
            <a:r>
              <a:rPr lang="en-US" sz="1430" b="0" i="0" dirty="0">
                <a:solidFill>
                  <a:srgbClr val="172033"/>
                </a:solidFill>
                <a:latin typeface="Courier New"/>
              </a:rPr>
              <a:t>      </a:t>
            </a:r>
          </a:p>
          <a:p>
            <a:pPr marL="0" lvl="0" indent="0" algn="l"/>
            <a:r>
              <a:rPr lang="en-US" sz="1430" b="0" i="0" dirty="0">
                <a:solidFill>
                  <a:srgbClr val="172033"/>
                </a:solidFill>
                <a:latin typeface="Courier New"/>
              </a:rPr>
              <a:t>      - name: Set up Python 3.14</a:t>
            </a:r>
          </a:p>
          <a:p>
            <a:pPr marL="0" lvl="0" indent="0" algn="l"/>
            <a:r>
              <a:rPr lang="en-US" sz="1430" b="0" i="0" dirty="0">
                <a:solidFill>
                  <a:srgbClr val="172033"/>
                </a:solidFill>
                <a:latin typeface="Courier New"/>
              </a:rPr>
              <a:t>        uses: actions/setup-python@v6</a:t>
            </a:r>
          </a:p>
          <a:p>
            <a:pPr marL="0" lvl="0" indent="0" algn="l"/>
            <a:r>
              <a:rPr lang="en-US" sz="1400" b="0" i="0" dirty="0">
                <a:solidFill>
                  <a:srgbClr val="172033"/>
                </a:solidFill>
                <a:latin typeface="Courier New"/>
              </a:rPr>
              <a:t>	with:</a:t>
            </a:r>
          </a:p>
          <a:p>
            <a:pPr marL="0" lvl="0" indent="0" algn="l"/>
            <a:r>
              <a:rPr lang="en-US" sz="1400" b="0" i="0" dirty="0">
                <a:solidFill>
                  <a:srgbClr val="172033"/>
                </a:solidFill>
                <a:latin typeface="Courier New"/>
              </a:rPr>
              <a:t>    	    python-version: "3.14"</a:t>
            </a:r>
          </a:p>
          <a:p>
            <a:pPr marL="0" lvl="0" indent="0" algn="l"/>
            <a:endParaRPr lang="en-US" sz="1430" b="0" i="0" dirty="0">
              <a:solidFill>
                <a:srgbClr val="172033"/>
              </a:solidFill>
              <a:latin typeface="Courier New"/>
            </a:endParaRPr>
          </a:p>
        </p:txBody>
      </p:sp>
      <p:sp>
        <p:nvSpPr>
          <p:cNvPr id="6" name="TextBox 31">
            <a:extLst>
              <a:ext uri="{FF2B5EF4-FFF2-40B4-BE49-F238E27FC236}">
                <a16:creationId xmlns:a16="http://schemas.microsoft.com/office/drawing/2014/main" id="{32AF2505-30F0-2426-6A08-B0A3C86C16AB}"/>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BDC77004-291C-8557-BF50-9E0EBD3E0532}"/>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E1231916-3EE1-0854-7A38-870E30DD9B59}"/>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21BEAA89-077E-6B0E-72DD-3BAE42A28B77}"/>
              </a:ext>
            </a:extLst>
          </p:cNvPr>
          <p:cNvSpPr txBox="1"/>
          <p:nvPr/>
        </p:nvSpPr>
        <p:spPr>
          <a:xfrm>
            <a:off x="7954682" y="2832847"/>
            <a:ext cx="3217547" cy="2031325"/>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a:p>
            <a:endParaRPr lang="en-US" dirty="0">
              <a:latin typeface="+mn-lt"/>
            </a:endParaRPr>
          </a:p>
          <a:p>
            <a:r>
              <a:rPr lang="en-US" dirty="0">
                <a:latin typeface="+mn-lt"/>
              </a:rPr>
              <a:t>do the following steps:</a:t>
            </a:r>
          </a:p>
          <a:p>
            <a:pPr marL="285750" indent="-285750">
              <a:buFont typeface="Arial" panose="020B0604020202020204" pitchFamily="34" charset="0"/>
              <a:buChar char="•"/>
            </a:pPr>
            <a:r>
              <a:rPr lang="en-US" dirty="0">
                <a:latin typeface="+mn-lt"/>
              </a:rPr>
              <a:t>check out repository</a:t>
            </a:r>
          </a:p>
          <a:p>
            <a:pPr marL="285750" indent="-285750">
              <a:buFont typeface="Arial" panose="020B0604020202020204" pitchFamily="34" charset="0"/>
              <a:buChar char="•"/>
            </a:pPr>
            <a:r>
              <a:rPr lang="en-US" dirty="0">
                <a:latin typeface="+mn-lt"/>
              </a:rPr>
              <a:t>set up Python environment</a:t>
            </a:r>
          </a:p>
        </p:txBody>
      </p:sp>
    </p:spTree>
    <p:extLst>
      <p:ext uri="{BB962C8B-B14F-4D97-AF65-F5344CB8AC3E}">
        <p14:creationId xmlns:p14="http://schemas.microsoft.com/office/powerpoint/2010/main" val="23988442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9008488B-A849-7156-5BB5-FBA8AC623E83}"/>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11CE65AA-1FCF-F200-D0B3-714818F1B8EA}"/>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0B33EF5E-CE3A-1058-29F8-6D19266416BB}"/>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r>
              <a:rPr lang="en-US" sz="1430" b="0" i="0" dirty="0">
                <a:solidFill>
                  <a:srgbClr val="172033"/>
                </a:solidFill>
                <a:latin typeface="Courier New"/>
              </a:rPr>
              <a:t>    steps:</a:t>
            </a:r>
          </a:p>
          <a:p>
            <a:pPr marL="0" lvl="0" indent="0" algn="l"/>
            <a:r>
              <a:rPr lang="en-US" sz="1430" b="0" i="0" dirty="0">
                <a:solidFill>
                  <a:srgbClr val="172033"/>
                </a:solidFill>
                <a:latin typeface="Courier New"/>
              </a:rPr>
              <a:t>      - uses: actions/checkout@v4</a:t>
            </a:r>
          </a:p>
          <a:p>
            <a:pPr marL="0" lvl="0" indent="0" algn="l"/>
            <a:r>
              <a:rPr lang="en-US" sz="1430" b="0" i="0" dirty="0">
                <a:solidFill>
                  <a:srgbClr val="172033"/>
                </a:solidFill>
                <a:latin typeface="Courier New"/>
              </a:rPr>
              <a:t>      </a:t>
            </a:r>
          </a:p>
          <a:p>
            <a:pPr marL="0" lvl="0" indent="0" algn="l"/>
            <a:r>
              <a:rPr lang="en-US" sz="1430" b="0" i="0" dirty="0">
                <a:solidFill>
                  <a:srgbClr val="172033"/>
                </a:solidFill>
                <a:latin typeface="Courier New"/>
              </a:rPr>
              <a:t>      - name: Set up Python 3.14</a:t>
            </a:r>
          </a:p>
          <a:p>
            <a:pPr marL="0" lvl="0" indent="0" algn="l"/>
            <a:r>
              <a:rPr lang="en-US" sz="1430" b="0" i="0" dirty="0">
                <a:solidFill>
                  <a:srgbClr val="172033"/>
                </a:solidFill>
                <a:latin typeface="Courier New"/>
              </a:rPr>
              <a:t>        uses: actions/setup-python@v6</a:t>
            </a:r>
          </a:p>
          <a:p>
            <a:pPr marL="0" lvl="0" indent="0" algn="l"/>
            <a:r>
              <a:rPr lang="en-US" sz="1400" b="0" i="0" dirty="0">
                <a:solidFill>
                  <a:srgbClr val="172033"/>
                </a:solidFill>
                <a:latin typeface="Courier New"/>
              </a:rPr>
              <a:t>	with:</a:t>
            </a:r>
          </a:p>
          <a:p>
            <a:pPr marL="0" lvl="0" indent="0" algn="l"/>
            <a:r>
              <a:rPr lang="en-US" sz="1400" b="0" i="0" dirty="0">
                <a:solidFill>
                  <a:srgbClr val="172033"/>
                </a:solidFill>
                <a:latin typeface="Courier New"/>
              </a:rPr>
              <a:t>    	    python-version: "3.14"</a:t>
            </a:r>
          </a:p>
          <a:p>
            <a:pPr marL="0" lvl="0" indent="0" algn="l"/>
            <a:endParaRPr lang="en-US" sz="1400" b="0" i="0" dirty="0">
              <a:solidFill>
                <a:srgbClr val="172033"/>
              </a:solidFill>
              <a:latin typeface="Courier New"/>
            </a:endParaRPr>
          </a:p>
          <a:p>
            <a:pPr marL="0" lvl="0" indent="0" algn="l"/>
            <a:r>
              <a:rPr lang="en-US" sz="1400" b="0" i="0" dirty="0">
                <a:solidFill>
                  <a:srgbClr val="172033"/>
                </a:solidFill>
                <a:latin typeface="Courier New"/>
              </a:rPr>
              <a:t>      - name: Install package and dependencies</a:t>
            </a:r>
          </a:p>
          <a:p>
            <a:pPr marL="0" lvl="0" indent="0" algn="l"/>
            <a:r>
              <a:rPr lang="en-US" sz="1400" b="0" i="0" dirty="0">
                <a:solidFill>
                  <a:srgbClr val="172033"/>
                </a:solidFill>
                <a:latin typeface="Courier New"/>
              </a:rPr>
              <a:t>            run: pip install ".[test]"</a:t>
            </a:r>
          </a:p>
          <a:p>
            <a:pPr marL="0" lvl="0" indent="0" algn="l"/>
            <a:endParaRPr lang="en-US" sz="1430" b="0" i="0" dirty="0">
              <a:solidFill>
                <a:srgbClr val="172033"/>
              </a:solidFill>
              <a:latin typeface="Courier New"/>
            </a:endParaRPr>
          </a:p>
        </p:txBody>
      </p:sp>
      <p:sp>
        <p:nvSpPr>
          <p:cNvPr id="6" name="TextBox 31">
            <a:extLst>
              <a:ext uri="{FF2B5EF4-FFF2-40B4-BE49-F238E27FC236}">
                <a16:creationId xmlns:a16="http://schemas.microsoft.com/office/drawing/2014/main" id="{8F910445-0FD3-A0CB-EE54-7E02C9551C05}"/>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303CF26E-F7B7-EC68-FA81-9052A02A5326}"/>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C19C94C5-CD6D-AC4E-598D-619277640616}"/>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96433114-B201-4327-14AE-F13A8B8A5910}"/>
              </a:ext>
            </a:extLst>
          </p:cNvPr>
          <p:cNvSpPr txBox="1"/>
          <p:nvPr/>
        </p:nvSpPr>
        <p:spPr>
          <a:xfrm>
            <a:off x="7954682" y="2832847"/>
            <a:ext cx="3866764" cy="2308324"/>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a:p>
            <a:endParaRPr lang="en-US" dirty="0">
              <a:latin typeface="+mn-lt"/>
            </a:endParaRPr>
          </a:p>
          <a:p>
            <a:r>
              <a:rPr lang="en-US" dirty="0">
                <a:latin typeface="+mn-lt"/>
              </a:rPr>
              <a:t>do the following steps:</a:t>
            </a:r>
          </a:p>
          <a:p>
            <a:pPr marL="285750" indent="-285750">
              <a:buFont typeface="Arial" panose="020B0604020202020204" pitchFamily="34" charset="0"/>
              <a:buChar char="•"/>
            </a:pPr>
            <a:r>
              <a:rPr lang="en-US" dirty="0">
                <a:latin typeface="+mn-lt"/>
              </a:rPr>
              <a:t>check out repository</a:t>
            </a:r>
          </a:p>
          <a:p>
            <a:pPr marL="285750" indent="-285750">
              <a:buFont typeface="Arial" panose="020B0604020202020204" pitchFamily="34" charset="0"/>
              <a:buChar char="•"/>
            </a:pPr>
            <a:r>
              <a:rPr lang="en-US" dirty="0">
                <a:latin typeface="+mn-lt"/>
              </a:rPr>
              <a:t>set up Python environment</a:t>
            </a:r>
          </a:p>
          <a:p>
            <a:pPr marL="285750" indent="-285750">
              <a:buFont typeface="Arial" panose="020B0604020202020204" pitchFamily="34" charset="0"/>
              <a:buChar char="•"/>
            </a:pPr>
            <a:r>
              <a:rPr lang="en-US" dirty="0">
                <a:latin typeface="+mn-lt"/>
              </a:rPr>
              <a:t>install package and dependencies</a:t>
            </a:r>
          </a:p>
        </p:txBody>
      </p:sp>
    </p:spTree>
    <p:extLst>
      <p:ext uri="{BB962C8B-B14F-4D97-AF65-F5344CB8AC3E}">
        <p14:creationId xmlns:p14="http://schemas.microsoft.com/office/powerpoint/2010/main" val="13028430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192F6649-70B6-4643-9979-DC5288A62DDB}"/>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B9E2B0DC-BE86-5AD5-64AF-71978469761A}"/>
              </a:ext>
            </a:extLst>
          </p:cNvPr>
          <p:cNvSpPr/>
          <p:nvPr/>
        </p:nvSpPr>
        <p:spPr>
          <a:xfrm>
            <a:off x="594360" y="640080"/>
            <a:ext cx="10972800" cy="640080"/>
          </a:xfrm>
          <a:noFill/>
          <a:ln>
            <a:noFill/>
          </a:ln>
        </p:spPr>
        <p:txBody>
          <a:bodyPr lIns="73152" tIns="73152" rIns="73152" bIns="73152" anchor="ctr"/>
          <a:lstStyle/>
          <a:p>
            <a:pPr marL="0" lvl="0" indent="0" algn="l"/>
            <a:r>
              <a:rPr lang="en-US" sz="3080" b="1" i="0">
                <a:solidFill>
                  <a:srgbClr val="172033"/>
                </a:solidFill>
                <a:latin typeface="Aptos"/>
              </a:rPr>
              <a:t>Create a GitHub Actions workflow</a:t>
            </a:r>
          </a:p>
        </p:txBody>
      </p:sp>
      <p:sp>
        <p:nvSpPr>
          <p:cNvPr id="4" name="Rect 20">
            <a:extLst>
              <a:ext uri="{FF2B5EF4-FFF2-40B4-BE49-F238E27FC236}">
                <a16:creationId xmlns:a16="http://schemas.microsoft.com/office/drawing/2014/main" id="{05F19DAF-229B-D78C-C629-C4FB0B4DCA83}"/>
              </a:ext>
            </a:extLst>
          </p:cNvPr>
          <p:cNvSpPr/>
          <p:nvPr/>
        </p:nvSpPr>
        <p:spPr>
          <a:xfrm>
            <a:off x="594360" y="1600200"/>
            <a:ext cx="6629400" cy="5074920"/>
          </a:xfrm>
          <a:prstGeom prst="roundRect">
            <a:avLst/>
          </a:prstGeom>
          <a:solidFill>
            <a:srgbClr val="FFFFFF"/>
          </a:solidFill>
          <a:ln>
            <a:solidFill>
              <a:srgbClr val="D5DDE7"/>
            </a:solidFill>
            <a:prstDash val="solid"/>
          </a:ln>
        </p:spPr>
        <p:txBody>
          <a:bodyPr lIns="164592" tIns="128016" rIns="164592" bIns="128016"/>
          <a:lstStyle/>
          <a:p>
            <a:pPr marL="0" lvl="0" indent="0" algn="l"/>
            <a:r>
              <a:rPr lang="en-US" sz="1430" b="0" i="0" dirty="0">
                <a:solidFill>
                  <a:srgbClr val="172033"/>
                </a:solidFill>
                <a:latin typeface="Courier New"/>
              </a:rPr>
              <a:t>on:</a:t>
            </a:r>
          </a:p>
          <a:p>
            <a:pPr marL="0" lvl="0" indent="0" algn="l"/>
            <a:r>
              <a:rPr lang="en-US" sz="1430" b="0" i="0" dirty="0">
                <a:solidFill>
                  <a:srgbClr val="172033"/>
                </a:solidFill>
                <a:latin typeface="Courier New"/>
              </a:rPr>
              <a:t>  push:</a:t>
            </a:r>
          </a:p>
          <a:p>
            <a:pPr marL="0" lvl="0" indent="0" algn="l"/>
            <a:r>
              <a:rPr lang="en-US" sz="1430" b="0" i="0" dirty="0">
                <a:solidFill>
                  <a:srgbClr val="172033"/>
                </a:solidFill>
                <a:latin typeface="Courier New"/>
              </a:rPr>
              <a:t>    branches: main</a:t>
            </a:r>
          </a:p>
          <a:p>
            <a:pPr marL="0" lvl="0" indent="0" algn="l"/>
            <a:endParaRPr lang="en-US" sz="1430" b="0" i="0" dirty="0">
              <a:solidFill>
                <a:srgbClr val="172033"/>
              </a:solidFill>
              <a:latin typeface="Courier New"/>
            </a:endParaRPr>
          </a:p>
          <a:p>
            <a:pPr marL="0" lvl="0" indent="0" algn="l"/>
            <a:r>
              <a:rPr lang="en-US" sz="1430" b="0" i="0" dirty="0">
                <a:solidFill>
                  <a:srgbClr val="172033"/>
                </a:solidFill>
                <a:latin typeface="Courier New"/>
              </a:rPr>
              <a:t>jobs:</a:t>
            </a:r>
          </a:p>
          <a:p>
            <a:pPr marL="0" lvl="0" indent="0" algn="l"/>
            <a:r>
              <a:rPr lang="en-US" sz="1430" b="0" i="0" dirty="0">
                <a:solidFill>
                  <a:srgbClr val="172033"/>
                </a:solidFill>
                <a:latin typeface="Courier New"/>
              </a:rPr>
              <a:t>  test:</a:t>
            </a:r>
          </a:p>
          <a:p>
            <a:pPr marL="0" lvl="0" indent="0" algn="l"/>
            <a:r>
              <a:rPr lang="en-US" sz="1430" b="0" i="0" dirty="0">
                <a:solidFill>
                  <a:srgbClr val="172033"/>
                </a:solidFill>
                <a:latin typeface="Courier New"/>
              </a:rPr>
              <a:t>    runs-on: ubuntu-latest</a:t>
            </a:r>
          </a:p>
          <a:p>
            <a:pPr marL="0" lvl="0" indent="0" algn="l"/>
            <a:r>
              <a:rPr lang="en-US" sz="1430" b="0" i="0" dirty="0">
                <a:solidFill>
                  <a:srgbClr val="172033"/>
                </a:solidFill>
                <a:latin typeface="Courier New"/>
              </a:rPr>
              <a:t>    steps:</a:t>
            </a:r>
          </a:p>
          <a:p>
            <a:pPr marL="0" lvl="0" indent="0" algn="l"/>
            <a:r>
              <a:rPr lang="en-US" sz="1430" b="0" i="0" dirty="0">
                <a:solidFill>
                  <a:srgbClr val="172033"/>
                </a:solidFill>
                <a:latin typeface="Courier New"/>
              </a:rPr>
              <a:t>      - uses: actions/checkout@v4</a:t>
            </a:r>
          </a:p>
          <a:p>
            <a:pPr marL="0" lvl="0" indent="0" algn="l"/>
            <a:r>
              <a:rPr lang="en-US" sz="1430" b="0" i="0" dirty="0">
                <a:solidFill>
                  <a:srgbClr val="172033"/>
                </a:solidFill>
                <a:latin typeface="Courier New"/>
              </a:rPr>
              <a:t>      </a:t>
            </a:r>
          </a:p>
          <a:p>
            <a:pPr marL="0" lvl="0" indent="0" algn="l"/>
            <a:r>
              <a:rPr lang="en-US" sz="1430" b="0" i="0" dirty="0">
                <a:solidFill>
                  <a:srgbClr val="172033"/>
                </a:solidFill>
                <a:latin typeface="Courier New"/>
              </a:rPr>
              <a:t>      - name: Set up Python 3.14</a:t>
            </a:r>
          </a:p>
          <a:p>
            <a:pPr marL="0" lvl="0" indent="0" algn="l"/>
            <a:r>
              <a:rPr lang="en-US" sz="1430" b="0" i="0" dirty="0">
                <a:solidFill>
                  <a:srgbClr val="172033"/>
                </a:solidFill>
                <a:latin typeface="Courier New"/>
              </a:rPr>
              <a:t>        uses: actions/setup-python@v6</a:t>
            </a:r>
          </a:p>
          <a:p>
            <a:pPr marL="0" lvl="0" indent="0" algn="l"/>
            <a:r>
              <a:rPr lang="en-US" sz="1400" b="0" i="0" dirty="0">
                <a:solidFill>
                  <a:srgbClr val="172033"/>
                </a:solidFill>
                <a:latin typeface="Courier New"/>
              </a:rPr>
              <a:t>	with:</a:t>
            </a:r>
          </a:p>
          <a:p>
            <a:pPr marL="0" lvl="0" indent="0" algn="l"/>
            <a:r>
              <a:rPr lang="en-US" sz="1400" b="0" i="0" dirty="0">
                <a:solidFill>
                  <a:srgbClr val="172033"/>
                </a:solidFill>
                <a:latin typeface="Courier New"/>
              </a:rPr>
              <a:t>    	    python-version: "3.14"</a:t>
            </a:r>
          </a:p>
          <a:p>
            <a:pPr marL="0" lvl="0" indent="0" algn="l"/>
            <a:endParaRPr lang="en-US" sz="1400" b="0" i="0" dirty="0">
              <a:solidFill>
                <a:srgbClr val="172033"/>
              </a:solidFill>
              <a:latin typeface="Courier New"/>
            </a:endParaRPr>
          </a:p>
          <a:p>
            <a:pPr marL="0" lvl="0" indent="0" algn="l"/>
            <a:r>
              <a:rPr lang="en-US" sz="1400" b="0" i="0" dirty="0">
                <a:solidFill>
                  <a:srgbClr val="172033"/>
                </a:solidFill>
                <a:latin typeface="Courier New"/>
              </a:rPr>
              <a:t>      - name: Install package and dependencies</a:t>
            </a:r>
          </a:p>
          <a:p>
            <a:pPr marL="0" lvl="0" indent="0" algn="l"/>
            <a:r>
              <a:rPr lang="en-US" sz="1400" b="0" i="0" dirty="0">
                <a:solidFill>
                  <a:srgbClr val="172033"/>
                </a:solidFill>
                <a:latin typeface="Courier New"/>
              </a:rPr>
              <a:t>            run: pip install ".[test]"</a:t>
            </a:r>
          </a:p>
          <a:p>
            <a:pPr marL="0" lvl="0" indent="0" algn="l"/>
            <a:endParaRPr lang="en-US" sz="1400" b="0" i="0" dirty="0">
              <a:solidFill>
                <a:srgbClr val="172033"/>
              </a:solidFill>
              <a:latin typeface="Courier New"/>
            </a:endParaRPr>
          </a:p>
          <a:p>
            <a:pPr marL="0" lvl="0" indent="0" algn="l"/>
            <a:r>
              <a:rPr lang="en-US" sz="1400" b="0" i="0" dirty="0">
                <a:solidFill>
                  <a:srgbClr val="172033"/>
                </a:solidFill>
                <a:latin typeface="Courier New"/>
              </a:rPr>
              <a:t>      - name: Run tests</a:t>
            </a:r>
          </a:p>
          <a:p>
            <a:pPr marL="0" lvl="0" indent="0" algn="l"/>
            <a:r>
              <a:rPr lang="en-US" sz="1400" b="0" i="0" dirty="0">
                <a:solidFill>
                  <a:srgbClr val="172033"/>
                </a:solidFill>
                <a:latin typeface="Courier New"/>
              </a:rPr>
              <a:t>            run: </a:t>
            </a:r>
            <a:r>
              <a:rPr lang="en-US" sz="1400" b="0" i="0" dirty="0" err="1">
                <a:solidFill>
                  <a:srgbClr val="172033"/>
                </a:solidFill>
                <a:latin typeface="Courier New"/>
              </a:rPr>
              <a:t>pytest</a:t>
            </a:r>
            <a:endParaRPr lang="en-US" sz="1430" b="0" i="0" dirty="0">
              <a:solidFill>
                <a:srgbClr val="172033"/>
              </a:solidFill>
              <a:latin typeface="Courier New"/>
            </a:endParaRPr>
          </a:p>
        </p:txBody>
      </p:sp>
      <p:sp>
        <p:nvSpPr>
          <p:cNvPr id="6" name="TextBox 31">
            <a:extLst>
              <a:ext uri="{FF2B5EF4-FFF2-40B4-BE49-F238E27FC236}">
                <a16:creationId xmlns:a16="http://schemas.microsoft.com/office/drawing/2014/main" id="{7DE40A61-48B4-956D-E106-866C4A966039}"/>
              </a:ext>
            </a:extLst>
          </p:cNvPr>
          <p:cNvSpPr/>
          <p:nvPr/>
        </p:nvSpPr>
        <p:spPr>
          <a:xfrm>
            <a:off x="7790688" y="1883664"/>
            <a:ext cx="3429000" cy="411480"/>
          </a:xfrm>
          <a:noFill/>
          <a:ln>
            <a:noFill/>
          </a:ln>
        </p:spPr>
        <p:txBody>
          <a:bodyPr lIns="73152" tIns="73152" rIns="73152" bIns="73152" anchor="ctr"/>
          <a:lstStyle/>
          <a:p>
            <a:pPr marL="0" lvl="0" indent="0" algn="l"/>
            <a:r>
              <a:rPr lang="en-US" b="1" i="0" dirty="0">
                <a:solidFill>
                  <a:srgbClr val="172033"/>
                </a:solidFill>
                <a:latin typeface="Aptos"/>
              </a:rPr>
              <a:t>WORKFLOW</a:t>
            </a:r>
          </a:p>
        </p:txBody>
      </p:sp>
      <p:pic>
        <p:nvPicPr>
          <p:cNvPr id="2" name="Picture 1">
            <a:extLst>
              <a:ext uri="{FF2B5EF4-FFF2-40B4-BE49-F238E27FC236}">
                <a16:creationId xmlns:a16="http://schemas.microsoft.com/office/drawing/2014/main" id="{9848A8FC-D0C2-C518-5236-FBC5326A2BA4}"/>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21B60F27-FF21-0747-AF68-E8BC925BBBBB}"/>
              </a:ext>
            </a:extLst>
          </p:cNvPr>
          <p:cNvPicPr>
            <a:picLocks noChangeAspect="1"/>
          </p:cNvPicPr>
          <p:nvPr/>
        </p:nvPicPr>
        <p:blipFill>
          <a:blip r:embed="rId4"/>
          <a:srcRect/>
          <a:stretch>
            <a:fillRect/>
          </a:stretch>
        </p:blipFill>
        <p:spPr>
          <a:xfrm>
            <a:off x="9106967" y="0"/>
            <a:ext cx="1516874" cy="1195721"/>
          </a:xfrm>
          <a:prstGeom prst="rect">
            <a:avLst/>
          </a:prstGeom>
        </p:spPr>
      </p:pic>
      <p:sp>
        <p:nvSpPr>
          <p:cNvPr id="8" name="TextBox 7">
            <a:extLst>
              <a:ext uri="{FF2B5EF4-FFF2-40B4-BE49-F238E27FC236}">
                <a16:creationId xmlns:a16="http://schemas.microsoft.com/office/drawing/2014/main" id="{FDF39D15-9A30-EE11-19CB-50A23C083929}"/>
              </a:ext>
            </a:extLst>
          </p:cNvPr>
          <p:cNvSpPr txBox="1"/>
          <p:nvPr/>
        </p:nvSpPr>
        <p:spPr>
          <a:xfrm>
            <a:off x="7954682" y="2832847"/>
            <a:ext cx="3866764" cy="2585323"/>
          </a:xfrm>
          <a:prstGeom prst="rect">
            <a:avLst/>
          </a:prstGeom>
          <a:noFill/>
        </p:spPr>
        <p:txBody>
          <a:bodyPr wrap="none" rtlCol="0">
            <a:spAutoFit/>
          </a:bodyPr>
          <a:lstStyle/>
          <a:p>
            <a:r>
              <a:rPr lang="en-US" dirty="0">
                <a:latin typeface="+mn-lt"/>
              </a:rPr>
              <a:t>push to main</a:t>
            </a:r>
          </a:p>
          <a:p>
            <a:endParaRPr lang="en-US" dirty="0">
              <a:latin typeface="+mn-lt"/>
            </a:endParaRPr>
          </a:p>
          <a:p>
            <a:r>
              <a:rPr lang="en-US" dirty="0">
                <a:latin typeface="+mn-lt"/>
              </a:rPr>
              <a:t>run on an Ubuntu VM</a:t>
            </a:r>
          </a:p>
          <a:p>
            <a:endParaRPr lang="en-US" dirty="0">
              <a:latin typeface="+mn-lt"/>
            </a:endParaRPr>
          </a:p>
          <a:p>
            <a:r>
              <a:rPr lang="en-US" dirty="0">
                <a:latin typeface="+mn-lt"/>
              </a:rPr>
              <a:t>do the following steps:</a:t>
            </a:r>
          </a:p>
          <a:p>
            <a:pPr marL="285750" indent="-285750">
              <a:buFont typeface="Arial" panose="020B0604020202020204" pitchFamily="34" charset="0"/>
              <a:buChar char="•"/>
            </a:pPr>
            <a:r>
              <a:rPr lang="en-US" dirty="0">
                <a:latin typeface="+mn-lt"/>
              </a:rPr>
              <a:t>check out repository</a:t>
            </a:r>
          </a:p>
          <a:p>
            <a:pPr marL="285750" indent="-285750">
              <a:buFont typeface="Arial" panose="020B0604020202020204" pitchFamily="34" charset="0"/>
              <a:buChar char="•"/>
            </a:pPr>
            <a:r>
              <a:rPr lang="en-US" dirty="0">
                <a:latin typeface="+mn-lt"/>
              </a:rPr>
              <a:t>set up Python environment</a:t>
            </a:r>
          </a:p>
          <a:p>
            <a:pPr marL="285750" indent="-285750">
              <a:buFont typeface="Arial" panose="020B0604020202020204" pitchFamily="34" charset="0"/>
              <a:buChar char="•"/>
            </a:pPr>
            <a:r>
              <a:rPr lang="en-US" dirty="0">
                <a:latin typeface="+mn-lt"/>
              </a:rPr>
              <a:t>install package and dependencies</a:t>
            </a:r>
          </a:p>
          <a:p>
            <a:pPr marL="285750" indent="-285750">
              <a:buFont typeface="Arial" panose="020B0604020202020204" pitchFamily="34" charset="0"/>
              <a:buChar char="•"/>
            </a:pPr>
            <a:r>
              <a:rPr lang="en-US" dirty="0">
                <a:latin typeface="+mn-lt"/>
              </a:rPr>
              <a:t>run the tests</a:t>
            </a:r>
          </a:p>
        </p:txBody>
      </p:sp>
    </p:spTree>
    <p:extLst>
      <p:ext uri="{BB962C8B-B14F-4D97-AF65-F5344CB8AC3E}">
        <p14:creationId xmlns:p14="http://schemas.microsoft.com/office/powerpoint/2010/main" val="14091304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F04CF938-D707-DEBD-183D-7C623288726A}"/>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B8016DB9-570D-EC02-D279-20A346A8845F}"/>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GitHub Actions workflow</a:t>
            </a:r>
          </a:p>
        </p:txBody>
      </p:sp>
      <p:pic>
        <p:nvPicPr>
          <p:cNvPr id="2" name="Picture 1">
            <a:extLst>
              <a:ext uri="{FF2B5EF4-FFF2-40B4-BE49-F238E27FC236}">
                <a16:creationId xmlns:a16="http://schemas.microsoft.com/office/drawing/2014/main" id="{A8714EF6-3762-E25D-F4F2-254097446DA6}"/>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791A95CA-ABB5-7232-0CA2-1141CF2DE122}"/>
              </a:ext>
            </a:extLst>
          </p:cNvPr>
          <p:cNvPicPr>
            <a:picLocks noChangeAspect="1"/>
          </p:cNvPicPr>
          <p:nvPr/>
        </p:nvPicPr>
        <p:blipFill>
          <a:blip r:embed="rId4"/>
          <a:srcRect/>
          <a:stretch>
            <a:fillRect/>
          </a:stretch>
        </p:blipFill>
        <p:spPr>
          <a:xfrm>
            <a:off x="9106967" y="0"/>
            <a:ext cx="1516874" cy="1195721"/>
          </a:xfrm>
          <a:prstGeom prst="rect">
            <a:avLst/>
          </a:prstGeom>
        </p:spPr>
      </p:pic>
      <p:pic>
        <p:nvPicPr>
          <p:cNvPr id="9" name="Picture 8">
            <a:extLst>
              <a:ext uri="{FF2B5EF4-FFF2-40B4-BE49-F238E27FC236}">
                <a16:creationId xmlns:a16="http://schemas.microsoft.com/office/drawing/2014/main" id="{D571C00A-A7F4-2211-9CAB-829DFD23898A}"/>
              </a:ext>
            </a:extLst>
          </p:cNvPr>
          <p:cNvPicPr>
            <a:picLocks noChangeAspect="1"/>
          </p:cNvPicPr>
          <p:nvPr/>
        </p:nvPicPr>
        <p:blipFill>
          <a:blip r:embed="rId5"/>
          <a:stretch>
            <a:fillRect/>
          </a:stretch>
        </p:blipFill>
        <p:spPr>
          <a:xfrm>
            <a:off x="3764731" y="1744020"/>
            <a:ext cx="5626239" cy="3723397"/>
          </a:xfrm>
          <a:prstGeom prst="rect">
            <a:avLst/>
          </a:prstGeom>
        </p:spPr>
      </p:pic>
    </p:spTree>
    <p:extLst>
      <p:ext uri="{BB962C8B-B14F-4D97-AF65-F5344CB8AC3E}">
        <p14:creationId xmlns:p14="http://schemas.microsoft.com/office/powerpoint/2010/main" val="30137516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FDBD65FC-08B1-4611-4C98-84C9EC7B0154}"/>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4757AF61-BE8C-92A5-B75D-8FAA2F62C306}"/>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GitHub Actions workflow</a:t>
            </a:r>
          </a:p>
        </p:txBody>
      </p:sp>
      <p:pic>
        <p:nvPicPr>
          <p:cNvPr id="2" name="Picture 1">
            <a:extLst>
              <a:ext uri="{FF2B5EF4-FFF2-40B4-BE49-F238E27FC236}">
                <a16:creationId xmlns:a16="http://schemas.microsoft.com/office/drawing/2014/main" id="{C603AA97-E105-B522-FC2A-C2C7B53A207E}"/>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332EC236-1032-BAAA-FABA-64BE4F05C614}"/>
              </a:ext>
            </a:extLst>
          </p:cNvPr>
          <p:cNvPicPr>
            <a:picLocks noChangeAspect="1"/>
          </p:cNvPicPr>
          <p:nvPr/>
        </p:nvPicPr>
        <p:blipFill>
          <a:blip r:embed="rId4"/>
          <a:srcRect/>
          <a:stretch>
            <a:fillRect/>
          </a:stretch>
        </p:blipFill>
        <p:spPr>
          <a:xfrm>
            <a:off x="9106967" y="0"/>
            <a:ext cx="1516874" cy="1195721"/>
          </a:xfrm>
          <a:prstGeom prst="rect">
            <a:avLst/>
          </a:prstGeom>
        </p:spPr>
      </p:pic>
      <p:pic>
        <p:nvPicPr>
          <p:cNvPr id="9" name="Picture 8">
            <a:extLst>
              <a:ext uri="{FF2B5EF4-FFF2-40B4-BE49-F238E27FC236}">
                <a16:creationId xmlns:a16="http://schemas.microsoft.com/office/drawing/2014/main" id="{8EFCE233-1C47-FC5E-1231-6751C25A04B7}"/>
              </a:ext>
            </a:extLst>
          </p:cNvPr>
          <p:cNvPicPr>
            <a:picLocks noChangeAspect="1"/>
          </p:cNvPicPr>
          <p:nvPr/>
        </p:nvPicPr>
        <p:blipFill>
          <a:blip r:embed="rId5"/>
          <a:srcRect/>
          <a:stretch/>
        </p:blipFill>
        <p:spPr>
          <a:xfrm>
            <a:off x="4062042" y="1744020"/>
            <a:ext cx="5031617" cy="3723397"/>
          </a:xfrm>
          <a:prstGeom prst="rect">
            <a:avLst/>
          </a:prstGeom>
        </p:spPr>
      </p:pic>
    </p:spTree>
    <p:extLst>
      <p:ext uri="{BB962C8B-B14F-4D97-AF65-F5344CB8AC3E}">
        <p14:creationId xmlns:p14="http://schemas.microsoft.com/office/powerpoint/2010/main" val="18377686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2AE14102-77B5-AF27-BABF-B7CF21B042DE}"/>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AE3D0B0F-50D5-3435-5543-29B530148C4F}"/>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GitHub Actions workflow</a:t>
            </a:r>
          </a:p>
        </p:txBody>
      </p:sp>
      <p:pic>
        <p:nvPicPr>
          <p:cNvPr id="2" name="Picture 1">
            <a:extLst>
              <a:ext uri="{FF2B5EF4-FFF2-40B4-BE49-F238E27FC236}">
                <a16:creationId xmlns:a16="http://schemas.microsoft.com/office/drawing/2014/main" id="{5EA99DC8-6928-9A34-EB90-9B7EC73D8F47}"/>
              </a:ext>
            </a:extLst>
          </p:cNvPr>
          <p:cNvPicPr>
            <a:picLocks noChangeAspect="1"/>
          </p:cNvPicPr>
          <p:nvPr/>
        </p:nvPicPr>
        <p:blipFill>
          <a:blip r:embed="rId3"/>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8B293F94-0AF7-2E1E-43E9-98F0C4185C14}"/>
              </a:ext>
            </a:extLst>
          </p:cNvPr>
          <p:cNvPicPr>
            <a:picLocks noChangeAspect="1"/>
          </p:cNvPicPr>
          <p:nvPr/>
        </p:nvPicPr>
        <p:blipFill>
          <a:blip r:embed="rId4"/>
          <a:srcRect/>
          <a:stretch>
            <a:fillRect/>
          </a:stretch>
        </p:blipFill>
        <p:spPr>
          <a:xfrm>
            <a:off x="9106967" y="0"/>
            <a:ext cx="1516874" cy="1195721"/>
          </a:xfrm>
          <a:prstGeom prst="rect">
            <a:avLst/>
          </a:prstGeom>
        </p:spPr>
      </p:pic>
      <p:pic>
        <p:nvPicPr>
          <p:cNvPr id="9" name="Picture 8">
            <a:extLst>
              <a:ext uri="{FF2B5EF4-FFF2-40B4-BE49-F238E27FC236}">
                <a16:creationId xmlns:a16="http://schemas.microsoft.com/office/drawing/2014/main" id="{207A777E-817D-2B36-352A-3E6045930A91}"/>
              </a:ext>
            </a:extLst>
          </p:cNvPr>
          <p:cNvPicPr>
            <a:picLocks noChangeAspect="1"/>
          </p:cNvPicPr>
          <p:nvPr/>
        </p:nvPicPr>
        <p:blipFill>
          <a:blip r:embed="rId5"/>
          <a:srcRect/>
          <a:stretch/>
        </p:blipFill>
        <p:spPr>
          <a:xfrm>
            <a:off x="2329075" y="1195721"/>
            <a:ext cx="7536329" cy="5659074"/>
          </a:xfrm>
          <a:prstGeom prst="rect">
            <a:avLst/>
          </a:prstGeom>
        </p:spPr>
      </p:pic>
    </p:spTree>
    <p:extLst>
      <p:ext uri="{BB962C8B-B14F-4D97-AF65-F5344CB8AC3E}">
        <p14:creationId xmlns:p14="http://schemas.microsoft.com/office/powerpoint/2010/main" val="42059488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11"/>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The testing workflow – keep in mind</a:t>
            </a:r>
          </a:p>
        </p:txBody>
      </p:sp>
      <p:sp>
        <p:nvSpPr>
          <p:cNvPr id="4" name="Rect 20"/>
          <p:cNvSpPr/>
          <p:nvPr/>
        </p:nvSpPr>
        <p:spPr>
          <a:xfrm>
            <a:off x="594360" y="1737360"/>
            <a:ext cx="2011680" cy="3017520"/>
          </a:xfrm>
          <a:prstGeom prst="roundRect">
            <a:avLst/>
          </a:prstGeom>
          <a:solidFill>
            <a:srgbClr val="FFFFFF"/>
          </a:solidFill>
          <a:ln>
            <a:solidFill>
              <a:srgbClr val="D5DDE7"/>
            </a:solidFill>
            <a:prstDash val="solid"/>
          </a:ln>
        </p:spPr>
        <p:txBody>
          <a:bodyPr/>
          <a:lstStyle/>
          <a:p>
            <a:endParaRPr lang="en-US" sz="2800"/>
          </a:p>
        </p:txBody>
      </p:sp>
      <p:sp>
        <p:nvSpPr>
          <p:cNvPr id="5" name="TextBox 30"/>
          <p:cNvSpPr/>
          <p:nvPr/>
        </p:nvSpPr>
        <p:spPr>
          <a:xfrm>
            <a:off x="777240" y="1993392"/>
            <a:ext cx="1645920" cy="320040"/>
          </a:xfrm>
          <a:noFill/>
          <a:ln>
            <a:noFill/>
          </a:ln>
        </p:spPr>
        <p:txBody>
          <a:bodyPr lIns="73152" tIns="73152" rIns="73152" bIns="73152" anchor="ctr"/>
          <a:lstStyle/>
          <a:p>
            <a:pPr marL="0" lvl="0" indent="0" algn="l"/>
            <a:r>
              <a:rPr lang="en-US" sz="1600" b="1" i="0">
                <a:solidFill>
                  <a:srgbClr val="172033"/>
                </a:solidFill>
                <a:latin typeface="Aptos"/>
              </a:rPr>
              <a:t>DESIGN</a:t>
            </a:r>
          </a:p>
        </p:txBody>
      </p:sp>
      <p:sp>
        <p:nvSpPr>
          <p:cNvPr id="6" name="TextBox 40"/>
          <p:cNvSpPr/>
          <p:nvPr/>
        </p:nvSpPr>
        <p:spPr>
          <a:xfrm>
            <a:off x="777240" y="2523744"/>
            <a:ext cx="1627632" cy="1280160"/>
          </a:xfrm>
          <a:noFill/>
          <a:ln>
            <a:noFill/>
          </a:ln>
        </p:spPr>
        <p:txBody>
          <a:bodyPr lIns="73152" tIns="73152" rIns="73152" bIns="73152" anchor="ctr"/>
          <a:lstStyle/>
          <a:p>
            <a:pPr marL="0" lvl="0" indent="0" algn="l"/>
            <a:r>
              <a:rPr lang="en-US" b="1" i="0">
                <a:solidFill>
                  <a:srgbClr val="172033"/>
                </a:solidFill>
                <a:latin typeface="Aptos"/>
              </a:rPr>
              <a:t>Separate logic from I/O</a:t>
            </a:r>
          </a:p>
        </p:txBody>
      </p:sp>
      <p:sp>
        <p:nvSpPr>
          <p:cNvPr id="7" name="Rect 21"/>
          <p:cNvSpPr/>
          <p:nvPr/>
        </p:nvSpPr>
        <p:spPr>
          <a:xfrm>
            <a:off x="2862072" y="1737360"/>
            <a:ext cx="2011680" cy="3017520"/>
          </a:xfrm>
          <a:prstGeom prst="roundRect">
            <a:avLst/>
          </a:prstGeom>
          <a:solidFill>
            <a:srgbClr val="FFFFFF"/>
          </a:solidFill>
          <a:ln>
            <a:solidFill>
              <a:srgbClr val="D5DDE7"/>
            </a:solidFill>
            <a:prstDash val="solid"/>
          </a:ln>
        </p:spPr>
        <p:txBody>
          <a:bodyPr/>
          <a:lstStyle/>
          <a:p>
            <a:endParaRPr lang="en-US" sz="2800"/>
          </a:p>
        </p:txBody>
      </p:sp>
      <p:sp>
        <p:nvSpPr>
          <p:cNvPr id="8" name="TextBox 31"/>
          <p:cNvSpPr/>
          <p:nvPr/>
        </p:nvSpPr>
        <p:spPr>
          <a:xfrm>
            <a:off x="3044952" y="1993392"/>
            <a:ext cx="1645920" cy="320040"/>
          </a:xfrm>
          <a:noFill/>
          <a:ln>
            <a:noFill/>
          </a:ln>
        </p:spPr>
        <p:txBody>
          <a:bodyPr lIns="73152" tIns="73152" rIns="73152" bIns="73152" anchor="ctr"/>
          <a:lstStyle/>
          <a:p>
            <a:pPr marL="0" lvl="0" indent="0" algn="l"/>
            <a:r>
              <a:rPr lang="en-US" sz="1600" b="1" i="0">
                <a:solidFill>
                  <a:srgbClr val="172033"/>
                </a:solidFill>
                <a:latin typeface="Aptos"/>
              </a:rPr>
              <a:t>TEST</a:t>
            </a:r>
          </a:p>
        </p:txBody>
      </p:sp>
      <p:sp>
        <p:nvSpPr>
          <p:cNvPr id="9" name="TextBox 41"/>
          <p:cNvSpPr/>
          <p:nvPr/>
        </p:nvSpPr>
        <p:spPr>
          <a:xfrm>
            <a:off x="3044952" y="2523744"/>
            <a:ext cx="1627632" cy="1280160"/>
          </a:xfrm>
          <a:noFill/>
          <a:ln>
            <a:noFill/>
          </a:ln>
        </p:spPr>
        <p:txBody>
          <a:bodyPr lIns="73152" tIns="73152" rIns="73152" bIns="73152" anchor="ctr"/>
          <a:lstStyle/>
          <a:p>
            <a:pPr marL="0" lvl="0" indent="0" algn="l"/>
            <a:r>
              <a:rPr lang="en-US" b="1" i="0">
                <a:solidFill>
                  <a:srgbClr val="172033"/>
                </a:solidFill>
                <a:latin typeface="Aptos"/>
              </a:rPr>
              <a:t>Use unit + integration tests</a:t>
            </a:r>
          </a:p>
        </p:txBody>
      </p:sp>
      <p:sp>
        <p:nvSpPr>
          <p:cNvPr id="10" name="Rect 22"/>
          <p:cNvSpPr/>
          <p:nvPr/>
        </p:nvSpPr>
        <p:spPr>
          <a:xfrm>
            <a:off x="5129784" y="1737360"/>
            <a:ext cx="2011680" cy="3017520"/>
          </a:xfrm>
          <a:prstGeom prst="roundRect">
            <a:avLst/>
          </a:prstGeom>
          <a:solidFill>
            <a:srgbClr val="FFFFFF"/>
          </a:solidFill>
          <a:ln>
            <a:solidFill>
              <a:srgbClr val="D5DDE7"/>
            </a:solidFill>
            <a:prstDash val="solid"/>
          </a:ln>
        </p:spPr>
        <p:txBody>
          <a:bodyPr/>
          <a:lstStyle/>
          <a:p>
            <a:endParaRPr lang="en-US" sz="2800"/>
          </a:p>
        </p:txBody>
      </p:sp>
      <p:sp>
        <p:nvSpPr>
          <p:cNvPr id="11" name="TextBox 32"/>
          <p:cNvSpPr/>
          <p:nvPr/>
        </p:nvSpPr>
        <p:spPr>
          <a:xfrm>
            <a:off x="5312664" y="1993392"/>
            <a:ext cx="1645920" cy="320040"/>
          </a:xfrm>
          <a:noFill/>
          <a:ln>
            <a:noFill/>
          </a:ln>
        </p:spPr>
        <p:txBody>
          <a:bodyPr lIns="73152" tIns="73152" rIns="73152" bIns="73152" anchor="ctr"/>
          <a:lstStyle/>
          <a:p>
            <a:pPr marL="0" lvl="0" indent="0" algn="l"/>
            <a:r>
              <a:rPr lang="en-US" sz="1600" b="1" i="0">
                <a:solidFill>
                  <a:srgbClr val="172033"/>
                </a:solidFill>
                <a:latin typeface="Aptos"/>
              </a:rPr>
              <a:t>CONTROL</a:t>
            </a:r>
          </a:p>
        </p:txBody>
      </p:sp>
      <p:sp>
        <p:nvSpPr>
          <p:cNvPr id="12" name="TextBox 42"/>
          <p:cNvSpPr/>
          <p:nvPr/>
        </p:nvSpPr>
        <p:spPr>
          <a:xfrm>
            <a:off x="5312664" y="2523744"/>
            <a:ext cx="1627632" cy="1280160"/>
          </a:xfrm>
          <a:noFill/>
          <a:ln>
            <a:noFill/>
          </a:ln>
        </p:spPr>
        <p:txBody>
          <a:bodyPr lIns="73152" tIns="73152" rIns="73152" bIns="73152" anchor="ctr"/>
          <a:lstStyle/>
          <a:p>
            <a:pPr marL="0" lvl="0" indent="0" algn="l"/>
            <a:r>
              <a:rPr lang="en-US" b="1" i="0">
                <a:solidFill>
                  <a:srgbClr val="172033"/>
                </a:solidFill>
                <a:latin typeface="Aptos"/>
              </a:rPr>
              <a:t>Inject or mock dependencies</a:t>
            </a:r>
          </a:p>
        </p:txBody>
      </p:sp>
      <p:sp>
        <p:nvSpPr>
          <p:cNvPr id="13" name="Rect 23"/>
          <p:cNvSpPr/>
          <p:nvPr/>
        </p:nvSpPr>
        <p:spPr>
          <a:xfrm>
            <a:off x="7397496" y="1737360"/>
            <a:ext cx="2011680" cy="3017520"/>
          </a:xfrm>
          <a:prstGeom prst="roundRect">
            <a:avLst/>
          </a:prstGeom>
          <a:solidFill>
            <a:srgbClr val="FFFFFF"/>
          </a:solidFill>
          <a:ln>
            <a:solidFill>
              <a:srgbClr val="D5DDE7"/>
            </a:solidFill>
            <a:prstDash val="solid"/>
          </a:ln>
        </p:spPr>
        <p:txBody>
          <a:bodyPr/>
          <a:lstStyle/>
          <a:p>
            <a:endParaRPr lang="en-US" sz="2800"/>
          </a:p>
        </p:txBody>
      </p:sp>
      <p:sp>
        <p:nvSpPr>
          <p:cNvPr id="14" name="TextBox 33"/>
          <p:cNvSpPr/>
          <p:nvPr/>
        </p:nvSpPr>
        <p:spPr>
          <a:xfrm>
            <a:off x="7580375" y="1993392"/>
            <a:ext cx="1645920" cy="320040"/>
          </a:xfrm>
          <a:noFill/>
          <a:ln>
            <a:noFill/>
          </a:ln>
        </p:spPr>
        <p:txBody>
          <a:bodyPr lIns="73152" tIns="73152" rIns="73152" bIns="73152" anchor="ctr"/>
          <a:lstStyle/>
          <a:p>
            <a:pPr marL="0" lvl="0" indent="0" algn="l"/>
            <a:r>
              <a:rPr lang="en-US" sz="1600" b="1" i="0">
                <a:solidFill>
                  <a:srgbClr val="172033"/>
                </a:solidFill>
                <a:latin typeface="Aptos"/>
              </a:rPr>
              <a:t>SCALE</a:t>
            </a:r>
          </a:p>
        </p:txBody>
      </p:sp>
      <p:sp>
        <p:nvSpPr>
          <p:cNvPr id="15" name="TextBox 43"/>
          <p:cNvSpPr/>
          <p:nvPr/>
        </p:nvSpPr>
        <p:spPr>
          <a:xfrm>
            <a:off x="7580375" y="2523744"/>
            <a:ext cx="1627632" cy="1280160"/>
          </a:xfrm>
          <a:noFill/>
          <a:ln>
            <a:noFill/>
          </a:ln>
        </p:spPr>
        <p:txBody>
          <a:bodyPr lIns="73152" tIns="73152" rIns="73152" bIns="73152" anchor="ctr"/>
          <a:lstStyle/>
          <a:p>
            <a:pPr marL="0" lvl="0" indent="0" algn="l"/>
            <a:r>
              <a:rPr lang="en-US" b="1" i="0">
                <a:solidFill>
                  <a:srgbClr val="172033"/>
                </a:solidFill>
                <a:latin typeface="Aptos"/>
              </a:rPr>
              <a:t>Make cases data-driven</a:t>
            </a:r>
          </a:p>
        </p:txBody>
      </p:sp>
      <p:sp>
        <p:nvSpPr>
          <p:cNvPr id="16" name="Rect 24"/>
          <p:cNvSpPr/>
          <p:nvPr/>
        </p:nvSpPr>
        <p:spPr>
          <a:xfrm>
            <a:off x="9665208" y="1737360"/>
            <a:ext cx="2011680" cy="3017520"/>
          </a:xfrm>
          <a:prstGeom prst="roundRect">
            <a:avLst/>
          </a:prstGeom>
          <a:solidFill>
            <a:srgbClr val="FFFFFF"/>
          </a:solidFill>
          <a:ln>
            <a:solidFill>
              <a:srgbClr val="D5DDE7"/>
            </a:solidFill>
            <a:prstDash val="solid"/>
          </a:ln>
        </p:spPr>
        <p:txBody>
          <a:bodyPr/>
          <a:lstStyle/>
          <a:p>
            <a:endParaRPr lang="en-US" sz="2800"/>
          </a:p>
        </p:txBody>
      </p:sp>
      <p:sp>
        <p:nvSpPr>
          <p:cNvPr id="17" name="TextBox 34"/>
          <p:cNvSpPr/>
          <p:nvPr/>
        </p:nvSpPr>
        <p:spPr>
          <a:xfrm>
            <a:off x="9848088" y="1993392"/>
            <a:ext cx="1645920" cy="320040"/>
          </a:xfrm>
          <a:noFill/>
          <a:ln>
            <a:noFill/>
          </a:ln>
        </p:spPr>
        <p:txBody>
          <a:bodyPr lIns="73152" tIns="73152" rIns="73152" bIns="73152" anchor="ctr"/>
          <a:lstStyle/>
          <a:p>
            <a:pPr marL="0" lvl="0" indent="0" algn="l"/>
            <a:r>
              <a:rPr lang="en-US" sz="1600" b="1" i="0">
                <a:solidFill>
                  <a:srgbClr val="172033"/>
                </a:solidFill>
                <a:latin typeface="Aptos"/>
              </a:rPr>
              <a:t>AUTOMATE</a:t>
            </a:r>
          </a:p>
        </p:txBody>
      </p:sp>
      <p:sp>
        <p:nvSpPr>
          <p:cNvPr id="18" name="TextBox 44"/>
          <p:cNvSpPr/>
          <p:nvPr/>
        </p:nvSpPr>
        <p:spPr>
          <a:xfrm>
            <a:off x="9848088" y="2523744"/>
            <a:ext cx="1627632" cy="1280160"/>
          </a:xfrm>
          <a:noFill/>
          <a:ln>
            <a:noFill/>
          </a:ln>
        </p:spPr>
        <p:txBody>
          <a:bodyPr lIns="73152" tIns="73152" rIns="73152" bIns="73152" anchor="ctr"/>
          <a:lstStyle/>
          <a:p>
            <a:pPr marL="0" lvl="0" indent="0" algn="l"/>
            <a:r>
              <a:rPr lang="en-US" b="1" i="0" dirty="0">
                <a:solidFill>
                  <a:srgbClr val="172033"/>
                </a:solidFill>
                <a:latin typeface="Aptos"/>
              </a:rPr>
              <a:t>Run tests in CI</a:t>
            </a:r>
          </a:p>
        </p:txBody>
      </p:sp>
      <p:sp>
        <p:nvSpPr>
          <p:cNvPr id="20" name="TextBox 51"/>
          <p:cNvSpPr/>
          <p:nvPr/>
        </p:nvSpPr>
        <p:spPr>
          <a:xfrm>
            <a:off x="624840" y="5285232"/>
            <a:ext cx="10869168" cy="384048"/>
          </a:xfrm>
          <a:noFill/>
          <a:ln>
            <a:noFill/>
          </a:ln>
        </p:spPr>
        <p:txBody>
          <a:bodyPr lIns="73152" tIns="73152" rIns="73152" bIns="73152" anchor="ctr"/>
          <a:lstStyle/>
          <a:p>
            <a:pPr marL="0" lvl="0" indent="0" algn="ctr"/>
            <a:r>
              <a:rPr lang="en-US" sz="1600" b="1" i="0" dirty="0">
                <a:solidFill>
                  <a:srgbClr val="172033"/>
                </a:solidFill>
                <a:latin typeface="Aptos"/>
              </a:rPr>
              <a:t>Final mental model: make </a:t>
            </a:r>
            <a:r>
              <a:rPr lang="en-US" sz="1600" b="1" i="0" dirty="0" err="1">
                <a:solidFill>
                  <a:srgbClr val="172033"/>
                </a:solidFill>
                <a:latin typeface="Aptos"/>
              </a:rPr>
              <a:t>behaviour</a:t>
            </a:r>
            <a:r>
              <a:rPr lang="en-US" sz="1600" b="1" i="0" dirty="0">
                <a:solidFill>
                  <a:srgbClr val="172033"/>
                </a:solidFill>
                <a:latin typeface="Aptos"/>
              </a:rPr>
              <a:t> callable → test it cheaply → automate the same checks on every change.</a:t>
            </a:r>
          </a:p>
        </p:txBody>
      </p:sp>
      <p:sp>
        <p:nvSpPr>
          <p:cNvPr id="21" name="TextBox 60"/>
          <p:cNvSpPr/>
          <p:nvPr/>
        </p:nvSpPr>
        <p:spPr>
          <a:xfrm>
            <a:off x="594360" y="6080760"/>
            <a:ext cx="10881360" cy="274320"/>
          </a:xfrm>
          <a:noFill/>
          <a:ln>
            <a:noFill/>
          </a:ln>
        </p:spPr>
        <p:txBody>
          <a:bodyPr lIns="73152" tIns="73152" rIns="73152" bIns="73152" anchor="ctr"/>
          <a:lstStyle/>
          <a:p>
            <a:pPr marL="0" lvl="0" indent="0" algn="ctr"/>
            <a:endParaRPr lang="en-US" sz="1155" b="0" i="0">
              <a:solidFill>
                <a:srgbClr val="172033"/>
              </a:solidFill>
              <a:latin typeface="Aptos"/>
            </a:endParaRPr>
          </a:p>
        </p:txBody>
      </p:sp>
      <p:sp>
        <p:nvSpPr>
          <p:cNvPr id="22" name="Line 928"/>
          <p:cNvSpPr/>
          <p:nvPr/>
        </p:nvSpPr>
        <p:spPr>
          <a:xfrm>
            <a:off x="594360" y="6446520"/>
            <a:ext cx="10972800" cy="9144"/>
          </a:xfrm>
          <a:ln w="12700">
            <a:solidFill>
              <a:srgbClr val="D5DDE7"/>
            </a:solidFill>
          </a:ln>
        </p:spPr>
        <p:txBody>
          <a:bodyPr/>
          <a:lstStyle/>
          <a:p>
            <a:endParaRPr lang="en-US"/>
          </a:p>
        </p:txBody>
      </p:sp>
      <p:sp>
        <p:nvSpPr>
          <p:cNvPr id="23" name="TextBox 929"/>
          <p:cNvSpPr/>
          <p:nvPr/>
        </p:nvSpPr>
        <p:spPr>
          <a:xfrm>
            <a:off x="594360" y="6492240"/>
            <a:ext cx="8961120" cy="182880"/>
          </a:xfrm>
          <a:noFill/>
          <a:ln>
            <a:noFill/>
          </a:ln>
        </p:spPr>
        <p:txBody>
          <a:bodyPr lIns="73152" tIns="73152" rIns="73152" bIns="73152" anchor="ctr"/>
          <a:lstStyle/>
          <a:p>
            <a:pPr marL="0" lvl="0" indent="0" algn="l"/>
            <a:r>
              <a:rPr lang="en-US" sz="892" b="0" i="0">
                <a:solidFill>
                  <a:srgbClr val="172033"/>
                </a:solidFill>
                <a:latin typeface="Aptos"/>
              </a:rPr>
              <a:t>HOW TO TEST YOUR CODE ON GITHUB</a:t>
            </a:r>
          </a:p>
        </p:txBody>
      </p:sp>
      <p:sp>
        <p:nvSpPr>
          <p:cNvPr id="24" name="TextBox 930"/>
          <p:cNvSpPr/>
          <p:nvPr/>
        </p:nvSpPr>
        <p:spPr>
          <a:xfrm>
            <a:off x="10058400" y="6492240"/>
            <a:ext cx="1508760" cy="182880"/>
          </a:xfrm>
          <a:noFill/>
          <a:ln>
            <a:noFill/>
          </a:ln>
        </p:spPr>
        <p:txBody>
          <a:bodyPr lIns="73152" tIns="73152" rIns="73152" bIns="73152" anchor="ctr"/>
          <a:lstStyle/>
          <a:p>
            <a:pPr marL="0" lvl="0" indent="0" algn="r"/>
            <a:endParaRPr lang="en-US" sz="892" b="0" i="0">
              <a:solidFill>
                <a:srgbClr val="172033"/>
              </a:solidFill>
              <a:latin typeface="Aptos"/>
            </a:endParaRPr>
          </a:p>
        </p:txBody>
      </p:sp>
      <p:pic>
        <p:nvPicPr>
          <p:cNvPr id="2" name="Picture 1">
            <a:extLst>
              <a:ext uri="{FF2B5EF4-FFF2-40B4-BE49-F238E27FC236}">
                <a16:creationId xmlns:a16="http://schemas.microsoft.com/office/drawing/2014/main" id="{5177243B-FCD1-4008-8A4B-C6F20AF12274}"/>
              </a:ext>
            </a:extLst>
          </p:cNvPr>
          <p:cNvPicPr>
            <a:picLocks noChangeAspect="1"/>
          </p:cNvPicPr>
          <p:nvPr/>
        </p:nvPicPr>
        <p:blipFill>
          <a:blip r:embed="rId2"/>
          <a:stretch>
            <a:fillRect/>
          </a:stretch>
        </p:blipFill>
        <p:spPr>
          <a:xfrm>
            <a:off x="10623841" y="0"/>
            <a:ext cx="1568159" cy="1195721"/>
          </a:xfrm>
          <a:prstGeom prst="rect">
            <a:avLst/>
          </a:prstGeom>
        </p:spPr>
      </p:pic>
      <p:pic>
        <p:nvPicPr>
          <p:cNvPr id="19" name="Picture 18">
            <a:extLst>
              <a:ext uri="{FF2B5EF4-FFF2-40B4-BE49-F238E27FC236}">
                <a16:creationId xmlns:a16="http://schemas.microsoft.com/office/drawing/2014/main" id="{37B5D9F5-92AB-65D3-782A-DE8E8008A434}"/>
              </a:ext>
            </a:extLst>
          </p:cNvPr>
          <p:cNvPicPr>
            <a:picLocks noChangeAspect="1"/>
          </p:cNvPicPr>
          <p:nvPr/>
        </p:nvPicPr>
        <p:blipFill>
          <a:blip r:embed="rId3"/>
          <a:srcRect/>
          <a:stretch>
            <a:fillRect/>
          </a:stretch>
        </p:blipFill>
        <p:spPr>
          <a:xfrm>
            <a:off x="9106967" y="0"/>
            <a:ext cx="1516874" cy="1195721"/>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34A6D40B-125D-BD49-A1E7-E3FC7A17B7E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A548707-AEFE-0F5F-75AD-502E81FD157A}"/>
              </a:ext>
            </a:extLst>
          </p:cNvPr>
          <p:cNvSpPr txBox="1"/>
          <p:nvPr/>
        </p:nvSpPr>
        <p:spPr>
          <a:xfrm>
            <a:off x="731520" y="749808"/>
            <a:ext cx="10698480" cy="594360"/>
          </a:xfrm>
          <a:prstGeom prst="rect">
            <a:avLst/>
          </a:prstGeom>
          <a:noFill/>
        </p:spPr>
        <p:txBody>
          <a:bodyPr wrap="square">
            <a:spAutoFit/>
          </a:bodyPr>
          <a:lstStyle/>
          <a:p>
            <a:pPr algn="l">
              <a:defRPr sz="2800" b="1">
                <a:solidFill>
                  <a:srgbClr val="0D1117"/>
                </a:solidFill>
                <a:latin typeface="Aptos"/>
              </a:defRPr>
            </a:pPr>
            <a:r>
              <a:t>GitHub Issues: a shared record of development work</a:t>
            </a:r>
          </a:p>
        </p:txBody>
      </p:sp>
      <p:sp>
        <p:nvSpPr>
          <p:cNvPr id="25" name="TextBox 24">
            <a:extLst>
              <a:ext uri="{FF2B5EF4-FFF2-40B4-BE49-F238E27FC236}">
                <a16:creationId xmlns:a16="http://schemas.microsoft.com/office/drawing/2014/main" id="{4F2A880B-D80A-9C25-16AD-D06358102EA2}"/>
              </a:ext>
            </a:extLst>
          </p:cNvPr>
          <p:cNvSpPr txBox="1"/>
          <p:nvPr/>
        </p:nvSpPr>
        <p:spPr>
          <a:xfrm>
            <a:off x="731520" y="1481328"/>
            <a:ext cx="10515600" cy="502920"/>
          </a:xfrm>
          <a:prstGeom prst="rect">
            <a:avLst/>
          </a:prstGeom>
          <a:noFill/>
        </p:spPr>
        <p:txBody>
          <a:bodyPr wrap="square">
            <a:spAutoFit/>
          </a:bodyPr>
          <a:lstStyle/>
          <a:p>
            <a:pPr algn="l">
              <a:defRPr sz="2000" b="0">
                <a:solidFill>
                  <a:srgbClr val="57606A"/>
                </a:solidFill>
                <a:latin typeface="Aptos"/>
              </a:defRPr>
            </a:pPr>
            <a:r>
              <a:t>Issues turn bugs, features and engineering tasks into visible, discussable units of work.</a:t>
            </a:r>
          </a:p>
        </p:txBody>
      </p:sp>
      <p:sp>
        <p:nvSpPr>
          <p:cNvPr id="26" name="Rounded Rectangle 25">
            <a:extLst>
              <a:ext uri="{FF2B5EF4-FFF2-40B4-BE49-F238E27FC236}">
                <a16:creationId xmlns:a16="http://schemas.microsoft.com/office/drawing/2014/main" id="{D70518BB-335C-286B-1018-F28588F161A3}"/>
              </a:ext>
            </a:extLst>
          </p:cNvPr>
          <p:cNvSpPr/>
          <p:nvPr/>
        </p:nvSpPr>
        <p:spPr>
          <a:xfrm>
            <a:off x="731520" y="2423160"/>
            <a:ext cx="3337560" cy="2514600"/>
          </a:xfrm>
          <a:prstGeom prst="round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AEEBCAC9-3602-9274-8A6F-2DF67D78E195}"/>
              </a:ext>
            </a:extLst>
          </p:cNvPr>
          <p:cNvSpPr txBox="1"/>
          <p:nvPr/>
        </p:nvSpPr>
        <p:spPr>
          <a:xfrm>
            <a:off x="987552" y="2697480"/>
            <a:ext cx="2788920" cy="523220"/>
          </a:xfrm>
          <a:prstGeom prst="rect">
            <a:avLst/>
          </a:prstGeom>
          <a:noFill/>
        </p:spPr>
        <p:txBody>
          <a:bodyPr wrap="square">
            <a:spAutoFit/>
          </a:bodyPr>
          <a:lstStyle/>
          <a:p>
            <a:pPr algn="l">
              <a:defRPr sz="1800" b="1">
                <a:solidFill>
                  <a:srgbClr val="0D1117"/>
                </a:solidFill>
                <a:latin typeface="Aptos"/>
              </a:defRPr>
            </a:pPr>
            <a:r>
              <a:rPr sz="2800"/>
              <a:t>Capture</a:t>
            </a:r>
          </a:p>
        </p:txBody>
      </p:sp>
      <p:sp>
        <p:nvSpPr>
          <p:cNvPr id="28" name="TextBox 27">
            <a:extLst>
              <a:ext uri="{FF2B5EF4-FFF2-40B4-BE49-F238E27FC236}">
                <a16:creationId xmlns:a16="http://schemas.microsoft.com/office/drawing/2014/main" id="{367FAEB3-9F9C-15C8-9C1B-B7150DF98877}"/>
              </a:ext>
            </a:extLst>
          </p:cNvPr>
          <p:cNvSpPr txBox="1"/>
          <p:nvPr/>
        </p:nvSpPr>
        <p:spPr>
          <a:xfrm>
            <a:off x="987552" y="3246120"/>
            <a:ext cx="2788920" cy="830997"/>
          </a:xfrm>
          <a:prstGeom prst="rect">
            <a:avLst/>
          </a:prstGeom>
          <a:noFill/>
        </p:spPr>
        <p:txBody>
          <a:bodyPr wrap="square">
            <a:spAutoFit/>
          </a:bodyPr>
          <a:lstStyle/>
          <a:p>
            <a:pPr algn="l">
              <a:defRPr sz="1500" b="0">
                <a:solidFill>
                  <a:srgbClr val="57606A"/>
                </a:solidFill>
                <a:latin typeface="Aptos"/>
              </a:defRPr>
            </a:pPr>
            <a:r>
              <a:rPr sz="1600"/>
              <a:t>Record the problem, goal, context and acceptance criteria before coding starts.</a:t>
            </a:r>
          </a:p>
        </p:txBody>
      </p:sp>
      <p:sp>
        <p:nvSpPr>
          <p:cNvPr id="29" name="Rounded Rectangle 28">
            <a:extLst>
              <a:ext uri="{FF2B5EF4-FFF2-40B4-BE49-F238E27FC236}">
                <a16:creationId xmlns:a16="http://schemas.microsoft.com/office/drawing/2014/main" id="{A75FCFAD-6414-C9CF-11CD-38E84C4D59D5}"/>
              </a:ext>
            </a:extLst>
          </p:cNvPr>
          <p:cNvSpPr/>
          <p:nvPr/>
        </p:nvSpPr>
        <p:spPr>
          <a:xfrm>
            <a:off x="4425696" y="2423160"/>
            <a:ext cx="3337560" cy="2514600"/>
          </a:xfrm>
          <a:prstGeom prst="round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50F2AE52-B8AA-BED1-80B8-18DC8C7B3091}"/>
              </a:ext>
            </a:extLst>
          </p:cNvPr>
          <p:cNvSpPr txBox="1"/>
          <p:nvPr/>
        </p:nvSpPr>
        <p:spPr>
          <a:xfrm>
            <a:off x="4681728" y="2697480"/>
            <a:ext cx="2788920" cy="523220"/>
          </a:xfrm>
          <a:prstGeom prst="rect">
            <a:avLst/>
          </a:prstGeom>
          <a:noFill/>
        </p:spPr>
        <p:txBody>
          <a:bodyPr wrap="square">
            <a:spAutoFit/>
          </a:bodyPr>
          <a:lstStyle/>
          <a:p>
            <a:pPr algn="l">
              <a:defRPr sz="1800" b="1">
                <a:solidFill>
                  <a:srgbClr val="0D1117"/>
                </a:solidFill>
                <a:latin typeface="Aptos"/>
              </a:defRPr>
            </a:pPr>
            <a:r>
              <a:rPr sz="2800"/>
              <a:t>Organise</a:t>
            </a:r>
          </a:p>
        </p:txBody>
      </p:sp>
      <p:sp>
        <p:nvSpPr>
          <p:cNvPr id="31" name="TextBox 30">
            <a:extLst>
              <a:ext uri="{FF2B5EF4-FFF2-40B4-BE49-F238E27FC236}">
                <a16:creationId xmlns:a16="http://schemas.microsoft.com/office/drawing/2014/main" id="{DE878103-7632-4C5A-AF8E-15C505169806}"/>
              </a:ext>
            </a:extLst>
          </p:cNvPr>
          <p:cNvSpPr txBox="1"/>
          <p:nvPr/>
        </p:nvSpPr>
        <p:spPr>
          <a:xfrm>
            <a:off x="4681728" y="3246120"/>
            <a:ext cx="2788920" cy="1077218"/>
          </a:xfrm>
          <a:prstGeom prst="rect">
            <a:avLst/>
          </a:prstGeom>
          <a:noFill/>
        </p:spPr>
        <p:txBody>
          <a:bodyPr wrap="square">
            <a:spAutoFit/>
          </a:bodyPr>
          <a:lstStyle/>
          <a:p>
            <a:pPr algn="l">
              <a:defRPr sz="1500" b="0">
                <a:solidFill>
                  <a:srgbClr val="57606A"/>
                </a:solidFill>
                <a:latin typeface="Aptos"/>
              </a:defRPr>
            </a:pPr>
            <a:r>
              <a:rPr sz="1600"/>
              <a:t>Use assignees, labels, milestones and sub-issues to make ownership and scope visible.</a:t>
            </a:r>
          </a:p>
        </p:txBody>
      </p:sp>
      <p:sp>
        <p:nvSpPr>
          <p:cNvPr id="32" name="Rounded Rectangle 31">
            <a:extLst>
              <a:ext uri="{FF2B5EF4-FFF2-40B4-BE49-F238E27FC236}">
                <a16:creationId xmlns:a16="http://schemas.microsoft.com/office/drawing/2014/main" id="{61106B31-3611-4C15-AA0C-DA9C6F854A4F}"/>
              </a:ext>
            </a:extLst>
          </p:cNvPr>
          <p:cNvSpPr/>
          <p:nvPr/>
        </p:nvSpPr>
        <p:spPr>
          <a:xfrm>
            <a:off x="8119872" y="2423160"/>
            <a:ext cx="3337560" cy="2514600"/>
          </a:xfrm>
          <a:prstGeom prst="roundRect">
            <a:avLst/>
          </a:prstGeom>
          <a:solidFill>
            <a:srgbClr val="FFFFFF"/>
          </a:solidFill>
          <a:ln>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A1E2A873-0716-631B-588A-8E00715D18BE}"/>
              </a:ext>
            </a:extLst>
          </p:cNvPr>
          <p:cNvSpPr txBox="1"/>
          <p:nvPr/>
        </p:nvSpPr>
        <p:spPr>
          <a:xfrm>
            <a:off x="8375904" y="2697480"/>
            <a:ext cx="2788920" cy="523220"/>
          </a:xfrm>
          <a:prstGeom prst="rect">
            <a:avLst/>
          </a:prstGeom>
          <a:noFill/>
        </p:spPr>
        <p:txBody>
          <a:bodyPr wrap="square">
            <a:spAutoFit/>
          </a:bodyPr>
          <a:lstStyle/>
          <a:p>
            <a:pPr algn="l">
              <a:defRPr sz="1800" b="1">
                <a:solidFill>
                  <a:srgbClr val="0D1117"/>
                </a:solidFill>
                <a:latin typeface="Aptos"/>
              </a:defRPr>
            </a:pPr>
            <a:r>
              <a:rPr sz="2800"/>
              <a:t>Discuss</a:t>
            </a:r>
          </a:p>
        </p:txBody>
      </p:sp>
      <p:sp>
        <p:nvSpPr>
          <p:cNvPr id="34" name="TextBox 33">
            <a:extLst>
              <a:ext uri="{FF2B5EF4-FFF2-40B4-BE49-F238E27FC236}">
                <a16:creationId xmlns:a16="http://schemas.microsoft.com/office/drawing/2014/main" id="{01A7DA35-37D1-E550-5A74-0713326D1488}"/>
              </a:ext>
            </a:extLst>
          </p:cNvPr>
          <p:cNvSpPr txBox="1"/>
          <p:nvPr/>
        </p:nvSpPr>
        <p:spPr>
          <a:xfrm>
            <a:off x="8375904" y="3246120"/>
            <a:ext cx="2788920" cy="830997"/>
          </a:xfrm>
          <a:prstGeom prst="rect">
            <a:avLst/>
          </a:prstGeom>
          <a:noFill/>
        </p:spPr>
        <p:txBody>
          <a:bodyPr wrap="square">
            <a:spAutoFit/>
          </a:bodyPr>
          <a:lstStyle/>
          <a:p>
            <a:pPr algn="l">
              <a:defRPr sz="1500" b="0">
                <a:solidFill>
                  <a:srgbClr val="57606A"/>
                </a:solidFill>
                <a:latin typeface="Aptos"/>
              </a:defRPr>
            </a:pPr>
            <a:r>
              <a:rPr sz="1600"/>
              <a:t>Keep questions, decisions and implementation context attached to the work.</a:t>
            </a:r>
          </a:p>
        </p:txBody>
      </p:sp>
      <p:sp>
        <p:nvSpPr>
          <p:cNvPr id="35" name="TextBox 34">
            <a:extLst>
              <a:ext uri="{FF2B5EF4-FFF2-40B4-BE49-F238E27FC236}">
                <a16:creationId xmlns:a16="http://schemas.microsoft.com/office/drawing/2014/main" id="{4A7BAC90-4869-BAA0-72DB-2E77DA978CA6}"/>
              </a:ext>
            </a:extLst>
          </p:cNvPr>
          <p:cNvSpPr txBox="1"/>
          <p:nvPr/>
        </p:nvSpPr>
        <p:spPr>
          <a:xfrm>
            <a:off x="731520" y="5715000"/>
            <a:ext cx="10698480" cy="461665"/>
          </a:xfrm>
          <a:prstGeom prst="rect">
            <a:avLst/>
          </a:prstGeom>
          <a:noFill/>
        </p:spPr>
        <p:txBody>
          <a:bodyPr wrap="square">
            <a:spAutoFit/>
          </a:bodyPr>
          <a:lstStyle/>
          <a:p>
            <a:pPr algn="l">
              <a:defRPr sz="1700" b="1">
                <a:solidFill>
                  <a:srgbClr val="0969DA"/>
                </a:solidFill>
                <a:latin typeface="Aptos"/>
              </a:defRPr>
            </a:pPr>
            <a:r>
              <a:rPr sz="2400" dirty="0">
                <a:solidFill>
                  <a:schemeClr val="tx1"/>
                </a:solidFill>
              </a:rPr>
              <a:t>Key idea: an issue explains why a change is needed.</a:t>
            </a:r>
          </a:p>
        </p:txBody>
      </p:sp>
      <p:pic>
        <p:nvPicPr>
          <p:cNvPr id="3" name="Picture 2">
            <a:extLst>
              <a:ext uri="{FF2B5EF4-FFF2-40B4-BE49-F238E27FC236}">
                <a16:creationId xmlns:a16="http://schemas.microsoft.com/office/drawing/2014/main" id="{79A273A1-0BB9-6F76-C693-001398B3586C}"/>
              </a:ext>
            </a:extLst>
          </p:cNvPr>
          <p:cNvPicPr>
            <a:picLocks noChangeAspect="1"/>
          </p:cNvPicPr>
          <p:nvPr/>
        </p:nvPicPr>
        <p:blipFill>
          <a:blip r:embed="rId2"/>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2941DCF8-D17D-98FB-2674-6CDE1903215C}"/>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15937998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608FE755-A88C-E481-36BF-64F9ED3E4BA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722B1-C594-17BC-32D0-B410068D48DB}"/>
              </a:ext>
            </a:extLst>
          </p:cNvPr>
          <p:cNvSpPr txBox="1"/>
          <p:nvPr/>
        </p:nvSpPr>
        <p:spPr>
          <a:xfrm>
            <a:off x="731520" y="749808"/>
            <a:ext cx="10698480" cy="594360"/>
          </a:xfrm>
          <a:prstGeom prst="rect">
            <a:avLst/>
          </a:prstGeom>
          <a:noFill/>
        </p:spPr>
        <p:txBody>
          <a:bodyPr wrap="square">
            <a:spAutoFit/>
          </a:bodyPr>
          <a:lstStyle/>
          <a:p>
            <a:pPr algn="l">
              <a:defRPr sz="2800" b="1">
                <a:solidFill>
                  <a:srgbClr val="0D1117"/>
                </a:solidFill>
                <a:latin typeface="Aptos"/>
              </a:defRPr>
            </a:pPr>
            <a:r>
              <a:t>Connect the issue to the code that resolves it</a:t>
            </a:r>
          </a:p>
        </p:txBody>
      </p:sp>
      <p:sp>
        <p:nvSpPr>
          <p:cNvPr id="4" name="TextBox 3">
            <a:extLst>
              <a:ext uri="{FF2B5EF4-FFF2-40B4-BE49-F238E27FC236}">
                <a16:creationId xmlns:a16="http://schemas.microsoft.com/office/drawing/2014/main" id="{698FC641-64E3-6DE8-EA18-071DD6B2EDBE}"/>
              </a:ext>
            </a:extLst>
          </p:cNvPr>
          <p:cNvSpPr txBox="1"/>
          <p:nvPr/>
        </p:nvSpPr>
        <p:spPr>
          <a:xfrm>
            <a:off x="731520" y="1417320"/>
            <a:ext cx="10698480" cy="502920"/>
          </a:xfrm>
          <a:prstGeom prst="rect">
            <a:avLst/>
          </a:prstGeom>
          <a:noFill/>
        </p:spPr>
        <p:txBody>
          <a:bodyPr wrap="square">
            <a:spAutoFit/>
          </a:bodyPr>
          <a:lstStyle/>
          <a:p>
            <a:pPr algn="l">
              <a:defRPr sz="2000" b="0">
                <a:solidFill>
                  <a:srgbClr val="57606A"/>
                </a:solidFill>
                <a:latin typeface="Aptos"/>
              </a:defRPr>
            </a:pPr>
            <a:r>
              <a:t>A branch and pull request create traceability from the original task to the final code change.</a:t>
            </a:r>
          </a:p>
        </p:txBody>
      </p:sp>
      <p:sp>
        <p:nvSpPr>
          <p:cNvPr id="5" name="Rounded Rectangle 4">
            <a:extLst>
              <a:ext uri="{FF2B5EF4-FFF2-40B4-BE49-F238E27FC236}">
                <a16:creationId xmlns:a16="http://schemas.microsoft.com/office/drawing/2014/main" id="{0BCAF23E-BD4D-895D-C992-1366654071F3}"/>
              </a:ext>
            </a:extLst>
          </p:cNvPr>
          <p:cNvSpPr/>
          <p:nvPr/>
        </p:nvSpPr>
        <p:spPr>
          <a:xfrm>
            <a:off x="50292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E1DAFA7-4904-9FD8-C479-DA439A82604A}"/>
              </a:ext>
            </a:extLst>
          </p:cNvPr>
          <p:cNvSpPr txBox="1"/>
          <p:nvPr/>
        </p:nvSpPr>
        <p:spPr>
          <a:xfrm>
            <a:off x="57607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#42</a:t>
            </a:r>
          </a:p>
        </p:txBody>
      </p:sp>
      <p:sp>
        <p:nvSpPr>
          <p:cNvPr id="7" name="TextBox 6">
            <a:extLst>
              <a:ext uri="{FF2B5EF4-FFF2-40B4-BE49-F238E27FC236}">
                <a16:creationId xmlns:a16="http://schemas.microsoft.com/office/drawing/2014/main" id="{A5BABEBD-6A55-7D15-FA7B-5E8993EB75B7}"/>
              </a:ext>
            </a:extLst>
          </p:cNvPr>
          <p:cNvSpPr txBox="1"/>
          <p:nvPr/>
        </p:nvSpPr>
        <p:spPr>
          <a:xfrm>
            <a:off x="57607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Issue</a:t>
            </a:r>
          </a:p>
        </p:txBody>
      </p:sp>
      <p:sp>
        <p:nvSpPr>
          <p:cNvPr id="8" name="TextBox 7">
            <a:extLst>
              <a:ext uri="{FF2B5EF4-FFF2-40B4-BE49-F238E27FC236}">
                <a16:creationId xmlns:a16="http://schemas.microsoft.com/office/drawing/2014/main" id="{009B31D3-9A36-5004-E344-119A29CAEC3E}"/>
              </a:ext>
            </a:extLst>
          </p:cNvPr>
          <p:cNvSpPr txBox="1"/>
          <p:nvPr/>
        </p:nvSpPr>
        <p:spPr>
          <a:xfrm>
            <a:off x="57607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Describe</a:t>
            </a:r>
            <a:r>
              <a:rPr lang="en-GB" dirty="0"/>
              <a:t> + Discuss</a:t>
            </a:r>
            <a:endParaRPr dirty="0"/>
          </a:p>
        </p:txBody>
      </p:sp>
      <p:sp>
        <p:nvSpPr>
          <p:cNvPr id="9" name="TextBox 8">
            <a:extLst>
              <a:ext uri="{FF2B5EF4-FFF2-40B4-BE49-F238E27FC236}">
                <a16:creationId xmlns:a16="http://schemas.microsoft.com/office/drawing/2014/main" id="{79A0E0C1-E623-CB04-6B4F-4820B6029D75}"/>
              </a:ext>
            </a:extLst>
          </p:cNvPr>
          <p:cNvSpPr txBox="1"/>
          <p:nvPr/>
        </p:nvSpPr>
        <p:spPr>
          <a:xfrm>
            <a:off x="219456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0" name="Rounded Rectangle 9">
            <a:extLst>
              <a:ext uri="{FF2B5EF4-FFF2-40B4-BE49-F238E27FC236}">
                <a16:creationId xmlns:a16="http://schemas.microsoft.com/office/drawing/2014/main" id="{0A059623-1901-E662-8583-D410753B7AC8}"/>
              </a:ext>
            </a:extLst>
          </p:cNvPr>
          <p:cNvSpPr/>
          <p:nvPr/>
        </p:nvSpPr>
        <p:spPr>
          <a:xfrm>
            <a:off x="288036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02705E1C-6A03-3028-5E29-DE51CF3C63DC}"/>
              </a:ext>
            </a:extLst>
          </p:cNvPr>
          <p:cNvSpPr txBox="1"/>
          <p:nvPr/>
        </p:nvSpPr>
        <p:spPr>
          <a:xfrm>
            <a:off x="2953512" y="2688336"/>
            <a:ext cx="1527048" cy="276999"/>
          </a:xfrm>
          <a:prstGeom prst="rect">
            <a:avLst/>
          </a:prstGeom>
          <a:solidFill>
            <a:schemeClr val="bg1"/>
          </a:solidFill>
          <a:ln>
            <a:noFill/>
          </a:ln>
        </p:spPr>
        <p:txBody>
          <a:bodyPr wrap="square">
            <a:spAutoFit/>
          </a:bodyPr>
          <a:lstStyle/>
          <a:p>
            <a:pPr algn="ctr">
              <a:defRPr sz="1200" b="1">
                <a:solidFill>
                  <a:srgbClr val="0D1117"/>
                </a:solidFill>
                <a:latin typeface="Aptos"/>
              </a:defRPr>
            </a:pPr>
            <a:r>
              <a:rPr dirty="0"/>
              <a:t>42-</a:t>
            </a:r>
            <a:r>
              <a:rPr lang="en-GB" dirty="0"/>
              <a:t>file-opening</a:t>
            </a:r>
            <a:endParaRPr dirty="0"/>
          </a:p>
        </p:txBody>
      </p:sp>
      <p:sp>
        <p:nvSpPr>
          <p:cNvPr id="12" name="TextBox 11">
            <a:extLst>
              <a:ext uri="{FF2B5EF4-FFF2-40B4-BE49-F238E27FC236}">
                <a16:creationId xmlns:a16="http://schemas.microsoft.com/office/drawing/2014/main" id="{BD151218-5301-92CD-3CC9-E7FA84C0DA9C}"/>
              </a:ext>
            </a:extLst>
          </p:cNvPr>
          <p:cNvSpPr txBox="1"/>
          <p:nvPr/>
        </p:nvSpPr>
        <p:spPr>
          <a:xfrm>
            <a:off x="295351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Branch</a:t>
            </a:r>
          </a:p>
        </p:txBody>
      </p:sp>
      <p:sp>
        <p:nvSpPr>
          <p:cNvPr id="13" name="TextBox 12">
            <a:extLst>
              <a:ext uri="{FF2B5EF4-FFF2-40B4-BE49-F238E27FC236}">
                <a16:creationId xmlns:a16="http://schemas.microsoft.com/office/drawing/2014/main" id="{3DFA9A6A-4760-F132-E594-2CEC1EB59334}"/>
              </a:ext>
            </a:extLst>
          </p:cNvPr>
          <p:cNvSpPr txBox="1"/>
          <p:nvPr/>
        </p:nvSpPr>
        <p:spPr>
          <a:xfrm>
            <a:off x="295351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Implement</a:t>
            </a:r>
          </a:p>
        </p:txBody>
      </p:sp>
      <p:sp>
        <p:nvSpPr>
          <p:cNvPr id="14" name="TextBox 13">
            <a:extLst>
              <a:ext uri="{FF2B5EF4-FFF2-40B4-BE49-F238E27FC236}">
                <a16:creationId xmlns:a16="http://schemas.microsoft.com/office/drawing/2014/main" id="{EBA51FD8-273A-0849-F55F-DABAA5A41B1E}"/>
              </a:ext>
            </a:extLst>
          </p:cNvPr>
          <p:cNvSpPr txBox="1"/>
          <p:nvPr/>
        </p:nvSpPr>
        <p:spPr>
          <a:xfrm>
            <a:off x="457200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5" name="Rounded Rectangle 14">
            <a:extLst>
              <a:ext uri="{FF2B5EF4-FFF2-40B4-BE49-F238E27FC236}">
                <a16:creationId xmlns:a16="http://schemas.microsoft.com/office/drawing/2014/main" id="{5DCF4BE2-F71C-6FF0-783E-F58E9C28DA4E}"/>
              </a:ext>
            </a:extLst>
          </p:cNvPr>
          <p:cNvSpPr/>
          <p:nvPr/>
        </p:nvSpPr>
        <p:spPr>
          <a:xfrm>
            <a:off x="525780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B08F29EE-C011-4CCD-C24D-94378A3AE5C6}"/>
              </a:ext>
            </a:extLst>
          </p:cNvPr>
          <p:cNvSpPr txBox="1"/>
          <p:nvPr/>
        </p:nvSpPr>
        <p:spPr>
          <a:xfrm>
            <a:off x="533095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rPr dirty="0"/>
              <a:t>Commit</a:t>
            </a:r>
          </a:p>
        </p:txBody>
      </p:sp>
      <p:sp>
        <p:nvSpPr>
          <p:cNvPr id="17" name="TextBox 16">
            <a:extLst>
              <a:ext uri="{FF2B5EF4-FFF2-40B4-BE49-F238E27FC236}">
                <a16:creationId xmlns:a16="http://schemas.microsoft.com/office/drawing/2014/main" id="{E90D0C9C-2BE4-0EEB-7619-03CBEDCC6D87}"/>
              </a:ext>
            </a:extLst>
          </p:cNvPr>
          <p:cNvSpPr txBox="1"/>
          <p:nvPr/>
        </p:nvSpPr>
        <p:spPr>
          <a:xfrm>
            <a:off x="533095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Changes</a:t>
            </a:r>
          </a:p>
        </p:txBody>
      </p:sp>
      <p:sp>
        <p:nvSpPr>
          <p:cNvPr id="18" name="TextBox 17">
            <a:extLst>
              <a:ext uri="{FF2B5EF4-FFF2-40B4-BE49-F238E27FC236}">
                <a16:creationId xmlns:a16="http://schemas.microsoft.com/office/drawing/2014/main" id="{DF1B11DE-ECA0-9B77-4076-276E9705F6FF}"/>
              </a:ext>
            </a:extLst>
          </p:cNvPr>
          <p:cNvSpPr txBox="1"/>
          <p:nvPr/>
        </p:nvSpPr>
        <p:spPr>
          <a:xfrm>
            <a:off x="533095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Build &amp; test</a:t>
            </a:r>
          </a:p>
        </p:txBody>
      </p:sp>
      <p:sp>
        <p:nvSpPr>
          <p:cNvPr id="19" name="TextBox 18">
            <a:extLst>
              <a:ext uri="{FF2B5EF4-FFF2-40B4-BE49-F238E27FC236}">
                <a16:creationId xmlns:a16="http://schemas.microsoft.com/office/drawing/2014/main" id="{BAB9786F-7CD9-BE0D-6260-D94B5DDAD59F}"/>
              </a:ext>
            </a:extLst>
          </p:cNvPr>
          <p:cNvSpPr txBox="1"/>
          <p:nvPr/>
        </p:nvSpPr>
        <p:spPr>
          <a:xfrm>
            <a:off x="694944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20" name="Rounded Rectangle 19">
            <a:extLst>
              <a:ext uri="{FF2B5EF4-FFF2-40B4-BE49-F238E27FC236}">
                <a16:creationId xmlns:a16="http://schemas.microsoft.com/office/drawing/2014/main" id="{58AC151F-A88A-CFB4-4C02-E8B406FFE113}"/>
              </a:ext>
            </a:extLst>
          </p:cNvPr>
          <p:cNvSpPr/>
          <p:nvPr/>
        </p:nvSpPr>
        <p:spPr>
          <a:xfrm>
            <a:off x="763524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40AAF62-3631-42E5-75F2-D15EB53AB33F}"/>
              </a:ext>
            </a:extLst>
          </p:cNvPr>
          <p:cNvSpPr txBox="1"/>
          <p:nvPr/>
        </p:nvSpPr>
        <p:spPr>
          <a:xfrm>
            <a:off x="770839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PR #61</a:t>
            </a:r>
          </a:p>
        </p:txBody>
      </p:sp>
      <p:sp>
        <p:nvSpPr>
          <p:cNvPr id="22" name="TextBox 21">
            <a:extLst>
              <a:ext uri="{FF2B5EF4-FFF2-40B4-BE49-F238E27FC236}">
                <a16:creationId xmlns:a16="http://schemas.microsoft.com/office/drawing/2014/main" id="{33BC2ECD-6157-E6D3-2DCE-0800C3FF8164}"/>
              </a:ext>
            </a:extLst>
          </p:cNvPr>
          <p:cNvSpPr txBox="1"/>
          <p:nvPr/>
        </p:nvSpPr>
        <p:spPr>
          <a:xfrm>
            <a:off x="770839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Pull </a:t>
            </a:r>
            <a:r>
              <a:rPr lang="en-GB" sz="1600" dirty="0"/>
              <a:t>Request</a:t>
            </a:r>
            <a:endParaRPr sz="1600" dirty="0"/>
          </a:p>
        </p:txBody>
      </p:sp>
      <p:sp>
        <p:nvSpPr>
          <p:cNvPr id="23" name="TextBox 22">
            <a:extLst>
              <a:ext uri="{FF2B5EF4-FFF2-40B4-BE49-F238E27FC236}">
                <a16:creationId xmlns:a16="http://schemas.microsoft.com/office/drawing/2014/main" id="{DC5073A9-F8F6-660E-C23A-9B10349301C0}"/>
              </a:ext>
            </a:extLst>
          </p:cNvPr>
          <p:cNvSpPr txBox="1"/>
          <p:nvPr/>
        </p:nvSpPr>
        <p:spPr>
          <a:xfrm>
            <a:off x="770839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Review</a:t>
            </a:r>
          </a:p>
        </p:txBody>
      </p:sp>
      <p:sp>
        <p:nvSpPr>
          <p:cNvPr id="24" name="TextBox 23">
            <a:extLst>
              <a:ext uri="{FF2B5EF4-FFF2-40B4-BE49-F238E27FC236}">
                <a16:creationId xmlns:a16="http://schemas.microsoft.com/office/drawing/2014/main" id="{DAD5A49B-22C3-767B-D6CE-0259B9B094A6}"/>
              </a:ext>
            </a:extLst>
          </p:cNvPr>
          <p:cNvSpPr txBox="1"/>
          <p:nvPr/>
        </p:nvSpPr>
        <p:spPr>
          <a:xfrm>
            <a:off x="932688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36" name="Rounded Rectangle 35">
            <a:extLst>
              <a:ext uri="{FF2B5EF4-FFF2-40B4-BE49-F238E27FC236}">
                <a16:creationId xmlns:a16="http://schemas.microsoft.com/office/drawing/2014/main" id="{60C2C4FA-1C85-7F7A-2C38-47E2D79983A9}"/>
              </a:ext>
            </a:extLst>
          </p:cNvPr>
          <p:cNvSpPr/>
          <p:nvPr/>
        </p:nvSpPr>
        <p:spPr>
          <a:xfrm>
            <a:off x="1001268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D1932B7D-D620-BC8A-AF97-2EACAEFEB6C0}"/>
              </a:ext>
            </a:extLst>
          </p:cNvPr>
          <p:cNvSpPr txBox="1"/>
          <p:nvPr/>
        </p:nvSpPr>
        <p:spPr>
          <a:xfrm>
            <a:off x="1008583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main</a:t>
            </a:r>
          </a:p>
        </p:txBody>
      </p:sp>
      <p:sp>
        <p:nvSpPr>
          <p:cNvPr id="38" name="TextBox 37">
            <a:extLst>
              <a:ext uri="{FF2B5EF4-FFF2-40B4-BE49-F238E27FC236}">
                <a16:creationId xmlns:a16="http://schemas.microsoft.com/office/drawing/2014/main" id="{285B100E-5962-3560-33AA-1830403AD737}"/>
              </a:ext>
            </a:extLst>
          </p:cNvPr>
          <p:cNvSpPr txBox="1"/>
          <p:nvPr/>
        </p:nvSpPr>
        <p:spPr>
          <a:xfrm>
            <a:off x="10085832" y="3128474"/>
            <a:ext cx="1527048" cy="338554"/>
          </a:xfrm>
          <a:prstGeom prst="rect">
            <a:avLst/>
          </a:prstGeom>
          <a:solidFill>
            <a:schemeClr val="bg1"/>
          </a:solidFill>
          <a:ln>
            <a:noFill/>
          </a:ln>
        </p:spPr>
        <p:txBody>
          <a:bodyPr wrap="square">
            <a:spAutoFit/>
          </a:bodyPr>
          <a:lstStyle/>
          <a:p>
            <a:pPr algn="ctr">
              <a:defRPr sz="1300" b="1">
                <a:solidFill>
                  <a:srgbClr val="1F883D"/>
                </a:solidFill>
                <a:latin typeface="Aptos"/>
              </a:defRPr>
            </a:pPr>
            <a:r>
              <a:rPr sz="1600" dirty="0"/>
              <a:t>Merge</a:t>
            </a:r>
          </a:p>
        </p:txBody>
      </p:sp>
      <p:sp>
        <p:nvSpPr>
          <p:cNvPr id="39" name="TextBox 38">
            <a:extLst>
              <a:ext uri="{FF2B5EF4-FFF2-40B4-BE49-F238E27FC236}">
                <a16:creationId xmlns:a16="http://schemas.microsoft.com/office/drawing/2014/main" id="{F1192B31-C3EC-4CE8-0F0C-7FE8BAC4C329}"/>
              </a:ext>
            </a:extLst>
          </p:cNvPr>
          <p:cNvSpPr txBox="1"/>
          <p:nvPr/>
        </p:nvSpPr>
        <p:spPr>
          <a:xfrm>
            <a:off x="1008583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Close</a:t>
            </a:r>
            <a:r>
              <a:rPr lang="en-GB" dirty="0"/>
              <a:t>s</a:t>
            </a:r>
            <a:r>
              <a:rPr dirty="0"/>
              <a:t> issue</a:t>
            </a:r>
          </a:p>
        </p:txBody>
      </p:sp>
      <p:pic>
        <p:nvPicPr>
          <p:cNvPr id="2" name="Picture 1">
            <a:extLst>
              <a:ext uri="{FF2B5EF4-FFF2-40B4-BE49-F238E27FC236}">
                <a16:creationId xmlns:a16="http://schemas.microsoft.com/office/drawing/2014/main" id="{B8E44F15-9873-C045-3213-F80392F734CC}"/>
              </a:ext>
            </a:extLst>
          </p:cNvPr>
          <p:cNvPicPr>
            <a:picLocks noChangeAspect="1"/>
          </p:cNvPicPr>
          <p:nvPr/>
        </p:nvPicPr>
        <p:blipFill>
          <a:blip r:embed="rId2"/>
          <a:stretch>
            <a:fillRect/>
          </a:stretch>
        </p:blipFill>
        <p:spPr>
          <a:xfrm>
            <a:off x="10623841" y="0"/>
            <a:ext cx="1568159" cy="1195721"/>
          </a:xfrm>
          <a:prstGeom prst="rect">
            <a:avLst/>
          </a:prstGeom>
        </p:spPr>
      </p:pic>
      <p:pic>
        <p:nvPicPr>
          <p:cNvPr id="25" name="Picture 24">
            <a:extLst>
              <a:ext uri="{FF2B5EF4-FFF2-40B4-BE49-F238E27FC236}">
                <a16:creationId xmlns:a16="http://schemas.microsoft.com/office/drawing/2014/main" id="{6A9C2CCB-18ED-7F2E-6878-CB6541B75378}"/>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4881373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50BD7AEA-8DFB-9FE8-ED71-15B3F395185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11B047-2EDF-0008-F8DC-D47473DCF488}"/>
              </a:ext>
            </a:extLst>
          </p:cNvPr>
          <p:cNvSpPr txBox="1"/>
          <p:nvPr/>
        </p:nvSpPr>
        <p:spPr>
          <a:xfrm>
            <a:off x="731520" y="749808"/>
            <a:ext cx="10698480" cy="594360"/>
          </a:xfrm>
          <a:prstGeom prst="rect">
            <a:avLst/>
          </a:prstGeom>
          <a:noFill/>
        </p:spPr>
        <p:txBody>
          <a:bodyPr wrap="square">
            <a:spAutoFit/>
          </a:bodyPr>
          <a:lstStyle/>
          <a:p>
            <a:pPr algn="l">
              <a:defRPr sz="2800" b="1">
                <a:solidFill>
                  <a:srgbClr val="0D1117"/>
                </a:solidFill>
                <a:latin typeface="Aptos"/>
              </a:defRPr>
            </a:pPr>
            <a:r>
              <a:t>Connect the issue to the code that resolves it</a:t>
            </a:r>
          </a:p>
        </p:txBody>
      </p:sp>
      <p:sp>
        <p:nvSpPr>
          <p:cNvPr id="4" name="TextBox 3">
            <a:extLst>
              <a:ext uri="{FF2B5EF4-FFF2-40B4-BE49-F238E27FC236}">
                <a16:creationId xmlns:a16="http://schemas.microsoft.com/office/drawing/2014/main" id="{6C57B90A-9139-AB0B-BBE1-7AC3580404D5}"/>
              </a:ext>
            </a:extLst>
          </p:cNvPr>
          <p:cNvSpPr txBox="1"/>
          <p:nvPr/>
        </p:nvSpPr>
        <p:spPr>
          <a:xfrm>
            <a:off x="731520" y="1417320"/>
            <a:ext cx="10698480" cy="502920"/>
          </a:xfrm>
          <a:prstGeom prst="rect">
            <a:avLst/>
          </a:prstGeom>
          <a:noFill/>
        </p:spPr>
        <p:txBody>
          <a:bodyPr wrap="square">
            <a:spAutoFit/>
          </a:bodyPr>
          <a:lstStyle/>
          <a:p>
            <a:pPr algn="l">
              <a:defRPr sz="2000" b="0">
                <a:solidFill>
                  <a:srgbClr val="57606A"/>
                </a:solidFill>
                <a:latin typeface="Aptos"/>
              </a:defRPr>
            </a:pPr>
            <a:r>
              <a:t>A branch and pull request create traceability from the original task to the final code change.</a:t>
            </a:r>
          </a:p>
        </p:txBody>
      </p:sp>
      <p:sp>
        <p:nvSpPr>
          <p:cNvPr id="5" name="Rounded Rectangle 4">
            <a:extLst>
              <a:ext uri="{FF2B5EF4-FFF2-40B4-BE49-F238E27FC236}">
                <a16:creationId xmlns:a16="http://schemas.microsoft.com/office/drawing/2014/main" id="{6C47C576-AD1B-DEF4-F0B5-D98FEF6E9020}"/>
              </a:ext>
            </a:extLst>
          </p:cNvPr>
          <p:cNvSpPr/>
          <p:nvPr/>
        </p:nvSpPr>
        <p:spPr>
          <a:xfrm>
            <a:off x="50292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74CF18FB-D7BD-17B3-46D2-8AE2CF87B269}"/>
              </a:ext>
            </a:extLst>
          </p:cNvPr>
          <p:cNvSpPr txBox="1"/>
          <p:nvPr/>
        </p:nvSpPr>
        <p:spPr>
          <a:xfrm>
            <a:off x="57607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#42</a:t>
            </a:r>
          </a:p>
        </p:txBody>
      </p:sp>
      <p:sp>
        <p:nvSpPr>
          <p:cNvPr id="7" name="TextBox 6">
            <a:extLst>
              <a:ext uri="{FF2B5EF4-FFF2-40B4-BE49-F238E27FC236}">
                <a16:creationId xmlns:a16="http://schemas.microsoft.com/office/drawing/2014/main" id="{62E923CA-4A1E-C0BC-B882-71C0EA8782C9}"/>
              </a:ext>
            </a:extLst>
          </p:cNvPr>
          <p:cNvSpPr txBox="1"/>
          <p:nvPr/>
        </p:nvSpPr>
        <p:spPr>
          <a:xfrm>
            <a:off x="57607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Issue</a:t>
            </a:r>
          </a:p>
        </p:txBody>
      </p:sp>
      <p:sp>
        <p:nvSpPr>
          <p:cNvPr id="8" name="TextBox 7">
            <a:extLst>
              <a:ext uri="{FF2B5EF4-FFF2-40B4-BE49-F238E27FC236}">
                <a16:creationId xmlns:a16="http://schemas.microsoft.com/office/drawing/2014/main" id="{3A7297E7-5A74-91A5-C2AA-B22AF83D16BD}"/>
              </a:ext>
            </a:extLst>
          </p:cNvPr>
          <p:cNvSpPr txBox="1"/>
          <p:nvPr/>
        </p:nvSpPr>
        <p:spPr>
          <a:xfrm>
            <a:off x="57607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Describe</a:t>
            </a:r>
            <a:r>
              <a:rPr lang="en-GB" dirty="0"/>
              <a:t> + Discuss</a:t>
            </a:r>
            <a:endParaRPr dirty="0"/>
          </a:p>
        </p:txBody>
      </p:sp>
      <p:sp>
        <p:nvSpPr>
          <p:cNvPr id="9" name="TextBox 8">
            <a:extLst>
              <a:ext uri="{FF2B5EF4-FFF2-40B4-BE49-F238E27FC236}">
                <a16:creationId xmlns:a16="http://schemas.microsoft.com/office/drawing/2014/main" id="{6B4F09B7-622E-76F7-743E-D11B92759085}"/>
              </a:ext>
            </a:extLst>
          </p:cNvPr>
          <p:cNvSpPr txBox="1"/>
          <p:nvPr/>
        </p:nvSpPr>
        <p:spPr>
          <a:xfrm>
            <a:off x="219456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0" name="Rounded Rectangle 9">
            <a:extLst>
              <a:ext uri="{FF2B5EF4-FFF2-40B4-BE49-F238E27FC236}">
                <a16:creationId xmlns:a16="http://schemas.microsoft.com/office/drawing/2014/main" id="{C911A45F-033E-4B7F-76B4-FD42965DE0C2}"/>
              </a:ext>
            </a:extLst>
          </p:cNvPr>
          <p:cNvSpPr/>
          <p:nvPr/>
        </p:nvSpPr>
        <p:spPr>
          <a:xfrm>
            <a:off x="288036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DBC74321-C610-7945-5DCE-9D3A5254DFF2}"/>
              </a:ext>
            </a:extLst>
          </p:cNvPr>
          <p:cNvSpPr txBox="1"/>
          <p:nvPr/>
        </p:nvSpPr>
        <p:spPr>
          <a:xfrm>
            <a:off x="2953512" y="2688336"/>
            <a:ext cx="1527048" cy="276999"/>
          </a:xfrm>
          <a:prstGeom prst="rect">
            <a:avLst/>
          </a:prstGeom>
          <a:solidFill>
            <a:schemeClr val="bg1"/>
          </a:solidFill>
          <a:ln>
            <a:noFill/>
          </a:ln>
        </p:spPr>
        <p:txBody>
          <a:bodyPr wrap="square">
            <a:spAutoFit/>
          </a:bodyPr>
          <a:lstStyle/>
          <a:p>
            <a:pPr algn="ctr">
              <a:defRPr sz="1200" b="1">
                <a:solidFill>
                  <a:srgbClr val="0D1117"/>
                </a:solidFill>
                <a:latin typeface="Aptos"/>
              </a:defRPr>
            </a:pPr>
            <a:r>
              <a:rPr dirty="0"/>
              <a:t>42-</a:t>
            </a:r>
            <a:r>
              <a:rPr lang="en-GB" dirty="0"/>
              <a:t>file-opening</a:t>
            </a:r>
            <a:endParaRPr dirty="0"/>
          </a:p>
        </p:txBody>
      </p:sp>
      <p:sp>
        <p:nvSpPr>
          <p:cNvPr id="12" name="TextBox 11">
            <a:extLst>
              <a:ext uri="{FF2B5EF4-FFF2-40B4-BE49-F238E27FC236}">
                <a16:creationId xmlns:a16="http://schemas.microsoft.com/office/drawing/2014/main" id="{263DE7DA-C5D5-51F2-8D1D-D50BE6FE3C30}"/>
              </a:ext>
            </a:extLst>
          </p:cNvPr>
          <p:cNvSpPr txBox="1"/>
          <p:nvPr/>
        </p:nvSpPr>
        <p:spPr>
          <a:xfrm>
            <a:off x="295351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Branch</a:t>
            </a:r>
          </a:p>
        </p:txBody>
      </p:sp>
      <p:sp>
        <p:nvSpPr>
          <p:cNvPr id="13" name="TextBox 12">
            <a:extLst>
              <a:ext uri="{FF2B5EF4-FFF2-40B4-BE49-F238E27FC236}">
                <a16:creationId xmlns:a16="http://schemas.microsoft.com/office/drawing/2014/main" id="{DAEFC2D0-67EB-C4EF-C681-C1189FBE7563}"/>
              </a:ext>
            </a:extLst>
          </p:cNvPr>
          <p:cNvSpPr txBox="1"/>
          <p:nvPr/>
        </p:nvSpPr>
        <p:spPr>
          <a:xfrm>
            <a:off x="295351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Implement</a:t>
            </a:r>
          </a:p>
        </p:txBody>
      </p:sp>
      <p:sp>
        <p:nvSpPr>
          <p:cNvPr id="14" name="TextBox 13">
            <a:extLst>
              <a:ext uri="{FF2B5EF4-FFF2-40B4-BE49-F238E27FC236}">
                <a16:creationId xmlns:a16="http://schemas.microsoft.com/office/drawing/2014/main" id="{EC8A70DC-EE81-223C-AD29-D0F8CFF67BC4}"/>
              </a:ext>
            </a:extLst>
          </p:cNvPr>
          <p:cNvSpPr txBox="1"/>
          <p:nvPr/>
        </p:nvSpPr>
        <p:spPr>
          <a:xfrm>
            <a:off x="457200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5" name="Rounded Rectangle 14">
            <a:extLst>
              <a:ext uri="{FF2B5EF4-FFF2-40B4-BE49-F238E27FC236}">
                <a16:creationId xmlns:a16="http://schemas.microsoft.com/office/drawing/2014/main" id="{A3FB98A9-21BA-81FE-CCC3-0C443EA648FA}"/>
              </a:ext>
            </a:extLst>
          </p:cNvPr>
          <p:cNvSpPr/>
          <p:nvPr/>
        </p:nvSpPr>
        <p:spPr>
          <a:xfrm>
            <a:off x="525780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8AE38D3C-2422-B42F-BE32-27F80846F057}"/>
              </a:ext>
            </a:extLst>
          </p:cNvPr>
          <p:cNvSpPr txBox="1"/>
          <p:nvPr/>
        </p:nvSpPr>
        <p:spPr>
          <a:xfrm>
            <a:off x="533095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rPr dirty="0"/>
              <a:t>Commit</a:t>
            </a:r>
          </a:p>
        </p:txBody>
      </p:sp>
      <p:sp>
        <p:nvSpPr>
          <p:cNvPr id="17" name="TextBox 16">
            <a:extLst>
              <a:ext uri="{FF2B5EF4-FFF2-40B4-BE49-F238E27FC236}">
                <a16:creationId xmlns:a16="http://schemas.microsoft.com/office/drawing/2014/main" id="{69F14385-7ED8-3E0D-2B77-B9DDB93902FF}"/>
              </a:ext>
            </a:extLst>
          </p:cNvPr>
          <p:cNvSpPr txBox="1"/>
          <p:nvPr/>
        </p:nvSpPr>
        <p:spPr>
          <a:xfrm>
            <a:off x="533095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Changes</a:t>
            </a:r>
          </a:p>
        </p:txBody>
      </p:sp>
      <p:sp>
        <p:nvSpPr>
          <p:cNvPr id="18" name="TextBox 17">
            <a:extLst>
              <a:ext uri="{FF2B5EF4-FFF2-40B4-BE49-F238E27FC236}">
                <a16:creationId xmlns:a16="http://schemas.microsoft.com/office/drawing/2014/main" id="{4841ED73-78F6-B061-0EA1-88AA02A219C1}"/>
              </a:ext>
            </a:extLst>
          </p:cNvPr>
          <p:cNvSpPr txBox="1"/>
          <p:nvPr/>
        </p:nvSpPr>
        <p:spPr>
          <a:xfrm>
            <a:off x="533095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Build &amp; test</a:t>
            </a:r>
          </a:p>
        </p:txBody>
      </p:sp>
      <p:sp>
        <p:nvSpPr>
          <p:cNvPr id="19" name="TextBox 18">
            <a:extLst>
              <a:ext uri="{FF2B5EF4-FFF2-40B4-BE49-F238E27FC236}">
                <a16:creationId xmlns:a16="http://schemas.microsoft.com/office/drawing/2014/main" id="{D1149AEE-3406-437A-A4DF-859A4E26535E}"/>
              </a:ext>
            </a:extLst>
          </p:cNvPr>
          <p:cNvSpPr txBox="1"/>
          <p:nvPr/>
        </p:nvSpPr>
        <p:spPr>
          <a:xfrm>
            <a:off x="694944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20" name="Rounded Rectangle 19">
            <a:extLst>
              <a:ext uri="{FF2B5EF4-FFF2-40B4-BE49-F238E27FC236}">
                <a16:creationId xmlns:a16="http://schemas.microsoft.com/office/drawing/2014/main" id="{8F14F320-266E-5831-13D6-BA3FCC9A8BB3}"/>
              </a:ext>
            </a:extLst>
          </p:cNvPr>
          <p:cNvSpPr/>
          <p:nvPr/>
        </p:nvSpPr>
        <p:spPr>
          <a:xfrm>
            <a:off x="763524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C64D9D16-8357-7E93-DDE4-E131FC07BAB2}"/>
              </a:ext>
            </a:extLst>
          </p:cNvPr>
          <p:cNvSpPr txBox="1"/>
          <p:nvPr/>
        </p:nvSpPr>
        <p:spPr>
          <a:xfrm>
            <a:off x="770839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PR #61</a:t>
            </a:r>
          </a:p>
        </p:txBody>
      </p:sp>
      <p:sp>
        <p:nvSpPr>
          <p:cNvPr id="22" name="TextBox 21">
            <a:extLst>
              <a:ext uri="{FF2B5EF4-FFF2-40B4-BE49-F238E27FC236}">
                <a16:creationId xmlns:a16="http://schemas.microsoft.com/office/drawing/2014/main" id="{1B8D24EE-434D-B5D2-07EE-9D0CBA52CCDB}"/>
              </a:ext>
            </a:extLst>
          </p:cNvPr>
          <p:cNvSpPr txBox="1"/>
          <p:nvPr/>
        </p:nvSpPr>
        <p:spPr>
          <a:xfrm>
            <a:off x="770839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Pull</a:t>
            </a:r>
            <a:r>
              <a:rPr lang="en-GB" sz="1600" dirty="0"/>
              <a:t> Request</a:t>
            </a:r>
            <a:endParaRPr sz="1600" dirty="0"/>
          </a:p>
        </p:txBody>
      </p:sp>
      <p:sp>
        <p:nvSpPr>
          <p:cNvPr id="23" name="TextBox 22">
            <a:extLst>
              <a:ext uri="{FF2B5EF4-FFF2-40B4-BE49-F238E27FC236}">
                <a16:creationId xmlns:a16="http://schemas.microsoft.com/office/drawing/2014/main" id="{B0D1C09F-1997-C397-8E23-66EF516DF355}"/>
              </a:ext>
            </a:extLst>
          </p:cNvPr>
          <p:cNvSpPr txBox="1"/>
          <p:nvPr/>
        </p:nvSpPr>
        <p:spPr>
          <a:xfrm>
            <a:off x="770839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Review</a:t>
            </a:r>
          </a:p>
        </p:txBody>
      </p:sp>
      <p:sp>
        <p:nvSpPr>
          <p:cNvPr id="24" name="TextBox 23">
            <a:extLst>
              <a:ext uri="{FF2B5EF4-FFF2-40B4-BE49-F238E27FC236}">
                <a16:creationId xmlns:a16="http://schemas.microsoft.com/office/drawing/2014/main" id="{7F007551-ABA3-84DE-A768-89480F0344A9}"/>
              </a:ext>
            </a:extLst>
          </p:cNvPr>
          <p:cNvSpPr txBox="1"/>
          <p:nvPr/>
        </p:nvSpPr>
        <p:spPr>
          <a:xfrm>
            <a:off x="932688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36" name="Rounded Rectangle 35">
            <a:extLst>
              <a:ext uri="{FF2B5EF4-FFF2-40B4-BE49-F238E27FC236}">
                <a16:creationId xmlns:a16="http://schemas.microsoft.com/office/drawing/2014/main" id="{F7A23EC5-630F-B8BC-4886-AB90C75D64A0}"/>
              </a:ext>
            </a:extLst>
          </p:cNvPr>
          <p:cNvSpPr/>
          <p:nvPr/>
        </p:nvSpPr>
        <p:spPr>
          <a:xfrm>
            <a:off x="1001268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44026F7B-1F93-E20D-570B-82FA32BCE5D4}"/>
              </a:ext>
            </a:extLst>
          </p:cNvPr>
          <p:cNvSpPr txBox="1"/>
          <p:nvPr/>
        </p:nvSpPr>
        <p:spPr>
          <a:xfrm>
            <a:off x="1008583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main</a:t>
            </a:r>
          </a:p>
        </p:txBody>
      </p:sp>
      <p:sp>
        <p:nvSpPr>
          <p:cNvPr id="38" name="TextBox 37">
            <a:extLst>
              <a:ext uri="{FF2B5EF4-FFF2-40B4-BE49-F238E27FC236}">
                <a16:creationId xmlns:a16="http://schemas.microsoft.com/office/drawing/2014/main" id="{866FDA7E-874A-81BC-D017-EAC2DA65D85F}"/>
              </a:ext>
            </a:extLst>
          </p:cNvPr>
          <p:cNvSpPr txBox="1"/>
          <p:nvPr/>
        </p:nvSpPr>
        <p:spPr>
          <a:xfrm>
            <a:off x="10085832" y="3128474"/>
            <a:ext cx="1527048" cy="338554"/>
          </a:xfrm>
          <a:prstGeom prst="rect">
            <a:avLst/>
          </a:prstGeom>
          <a:solidFill>
            <a:schemeClr val="bg1"/>
          </a:solidFill>
          <a:ln>
            <a:noFill/>
          </a:ln>
        </p:spPr>
        <p:txBody>
          <a:bodyPr wrap="square">
            <a:spAutoFit/>
          </a:bodyPr>
          <a:lstStyle/>
          <a:p>
            <a:pPr algn="ctr">
              <a:defRPr sz="1300" b="1">
                <a:solidFill>
                  <a:srgbClr val="1F883D"/>
                </a:solidFill>
                <a:latin typeface="Aptos"/>
              </a:defRPr>
            </a:pPr>
            <a:r>
              <a:rPr sz="1600" dirty="0"/>
              <a:t>Merge</a:t>
            </a:r>
          </a:p>
        </p:txBody>
      </p:sp>
      <p:sp>
        <p:nvSpPr>
          <p:cNvPr id="39" name="TextBox 38">
            <a:extLst>
              <a:ext uri="{FF2B5EF4-FFF2-40B4-BE49-F238E27FC236}">
                <a16:creationId xmlns:a16="http://schemas.microsoft.com/office/drawing/2014/main" id="{C2ECEBE4-F770-0D09-836E-462FE540951F}"/>
              </a:ext>
            </a:extLst>
          </p:cNvPr>
          <p:cNvSpPr txBox="1"/>
          <p:nvPr/>
        </p:nvSpPr>
        <p:spPr>
          <a:xfrm>
            <a:off x="1008583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Close</a:t>
            </a:r>
            <a:r>
              <a:rPr lang="en-GB" dirty="0"/>
              <a:t>s</a:t>
            </a:r>
            <a:r>
              <a:rPr dirty="0"/>
              <a:t> issue</a:t>
            </a:r>
          </a:p>
        </p:txBody>
      </p:sp>
      <p:sp>
        <p:nvSpPr>
          <p:cNvPr id="2" name="Curved Up Arrow 1">
            <a:extLst>
              <a:ext uri="{FF2B5EF4-FFF2-40B4-BE49-F238E27FC236}">
                <a16:creationId xmlns:a16="http://schemas.microsoft.com/office/drawing/2014/main" id="{9FAA02B8-34B7-28B6-3811-63E969D576E4}"/>
              </a:ext>
            </a:extLst>
          </p:cNvPr>
          <p:cNvSpPr/>
          <p:nvPr/>
        </p:nvSpPr>
        <p:spPr>
          <a:xfrm flipH="1">
            <a:off x="6351651" y="4251960"/>
            <a:ext cx="1863090" cy="868680"/>
          </a:xfrm>
          <a:prstGeom prst="curved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pic>
        <p:nvPicPr>
          <p:cNvPr id="25" name="Picture 24">
            <a:extLst>
              <a:ext uri="{FF2B5EF4-FFF2-40B4-BE49-F238E27FC236}">
                <a16:creationId xmlns:a16="http://schemas.microsoft.com/office/drawing/2014/main" id="{B3EC4784-2B4F-B1C1-F357-267C8F547D82}"/>
              </a:ext>
            </a:extLst>
          </p:cNvPr>
          <p:cNvPicPr>
            <a:picLocks noChangeAspect="1"/>
          </p:cNvPicPr>
          <p:nvPr/>
        </p:nvPicPr>
        <p:blipFill>
          <a:blip r:embed="rId2"/>
          <a:stretch>
            <a:fillRect/>
          </a:stretch>
        </p:blipFill>
        <p:spPr>
          <a:xfrm>
            <a:off x="10623841" y="0"/>
            <a:ext cx="1568159" cy="1195721"/>
          </a:xfrm>
          <a:prstGeom prst="rect">
            <a:avLst/>
          </a:prstGeom>
        </p:spPr>
      </p:pic>
      <p:pic>
        <p:nvPicPr>
          <p:cNvPr id="26" name="Picture 25">
            <a:extLst>
              <a:ext uri="{FF2B5EF4-FFF2-40B4-BE49-F238E27FC236}">
                <a16:creationId xmlns:a16="http://schemas.microsoft.com/office/drawing/2014/main" id="{CFABCEA3-7709-6E96-56CC-2A49B28E08EA}"/>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9048243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2A862364-58F7-D16E-DC67-3CD7149D25B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921602-1F65-C75D-FE89-9AE943788F24}"/>
              </a:ext>
            </a:extLst>
          </p:cNvPr>
          <p:cNvSpPr txBox="1"/>
          <p:nvPr/>
        </p:nvSpPr>
        <p:spPr>
          <a:xfrm>
            <a:off x="731520" y="749808"/>
            <a:ext cx="10698480" cy="594360"/>
          </a:xfrm>
          <a:prstGeom prst="rect">
            <a:avLst/>
          </a:prstGeom>
          <a:noFill/>
        </p:spPr>
        <p:txBody>
          <a:bodyPr wrap="square">
            <a:spAutoFit/>
          </a:bodyPr>
          <a:lstStyle/>
          <a:p>
            <a:pPr algn="l">
              <a:defRPr sz="2800" b="1">
                <a:solidFill>
                  <a:srgbClr val="0D1117"/>
                </a:solidFill>
                <a:latin typeface="Aptos"/>
              </a:defRPr>
            </a:pPr>
            <a:r>
              <a:t>Connect the issue to the code that resolves it</a:t>
            </a:r>
          </a:p>
        </p:txBody>
      </p:sp>
      <p:sp>
        <p:nvSpPr>
          <p:cNvPr id="4" name="TextBox 3">
            <a:extLst>
              <a:ext uri="{FF2B5EF4-FFF2-40B4-BE49-F238E27FC236}">
                <a16:creationId xmlns:a16="http://schemas.microsoft.com/office/drawing/2014/main" id="{960796DC-A5DF-B3E6-5484-1AB3D90B25ED}"/>
              </a:ext>
            </a:extLst>
          </p:cNvPr>
          <p:cNvSpPr txBox="1"/>
          <p:nvPr/>
        </p:nvSpPr>
        <p:spPr>
          <a:xfrm>
            <a:off x="731520" y="1417320"/>
            <a:ext cx="10698480" cy="502920"/>
          </a:xfrm>
          <a:prstGeom prst="rect">
            <a:avLst/>
          </a:prstGeom>
          <a:noFill/>
        </p:spPr>
        <p:txBody>
          <a:bodyPr wrap="square">
            <a:spAutoFit/>
          </a:bodyPr>
          <a:lstStyle/>
          <a:p>
            <a:pPr algn="l">
              <a:defRPr sz="2000" b="0">
                <a:solidFill>
                  <a:srgbClr val="57606A"/>
                </a:solidFill>
                <a:latin typeface="Aptos"/>
              </a:defRPr>
            </a:pPr>
            <a:r>
              <a:rPr dirty="0"/>
              <a:t>A branch and pull request create traceability from the original task to the final code change.</a:t>
            </a:r>
          </a:p>
        </p:txBody>
      </p:sp>
      <p:sp>
        <p:nvSpPr>
          <p:cNvPr id="5" name="Rounded Rectangle 4">
            <a:extLst>
              <a:ext uri="{FF2B5EF4-FFF2-40B4-BE49-F238E27FC236}">
                <a16:creationId xmlns:a16="http://schemas.microsoft.com/office/drawing/2014/main" id="{1A6915A1-6311-6C0A-3DDF-432391E3ED0C}"/>
              </a:ext>
            </a:extLst>
          </p:cNvPr>
          <p:cNvSpPr/>
          <p:nvPr/>
        </p:nvSpPr>
        <p:spPr>
          <a:xfrm>
            <a:off x="50292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B9C034FC-AEBE-5595-52BF-4B188D62351F}"/>
              </a:ext>
            </a:extLst>
          </p:cNvPr>
          <p:cNvSpPr txBox="1"/>
          <p:nvPr/>
        </p:nvSpPr>
        <p:spPr>
          <a:xfrm>
            <a:off x="57607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#42</a:t>
            </a:r>
          </a:p>
        </p:txBody>
      </p:sp>
      <p:sp>
        <p:nvSpPr>
          <p:cNvPr id="7" name="TextBox 6">
            <a:extLst>
              <a:ext uri="{FF2B5EF4-FFF2-40B4-BE49-F238E27FC236}">
                <a16:creationId xmlns:a16="http://schemas.microsoft.com/office/drawing/2014/main" id="{C31C5900-67E9-0421-924E-C420A5026ACD}"/>
              </a:ext>
            </a:extLst>
          </p:cNvPr>
          <p:cNvSpPr txBox="1"/>
          <p:nvPr/>
        </p:nvSpPr>
        <p:spPr>
          <a:xfrm>
            <a:off x="57607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Issue</a:t>
            </a:r>
          </a:p>
        </p:txBody>
      </p:sp>
      <p:sp>
        <p:nvSpPr>
          <p:cNvPr id="8" name="TextBox 7">
            <a:extLst>
              <a:ext uri="{FF2B5EF4-FFF2-40B4-BE49-F238E27FC236}">
                <a16:creationId xmlns:a16="http://schemas.microsoft.com/office/drawing/2014/main" id="{1468EEFF-86EE-A802-63CE-3B6BAF77C7DC}"/>
              </a:ext>
            </a:extLst>
          </p:cNvPr>
          <p:cNvSpPr txBox="1"/>
          <p:nvPr/>
        </p:nvSpPr>
        <p:spPr>
          <a:xfrm>
            <a:off x="57607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Describe</a:t>
            </a:r>
            <a:r>
              <a:rPr lang="en-GB" dirty="0"/>
              <a:t> + Discuss</a:t>
            </a:r>
            <a:endParaRPr dirty="0"/>
          </a:p>
        </p:txBody>
      </p:sp>
      <p:sp>
        <p:nvSpPr>
          <p:cNvPr id="9" name="TextBox 8">
            <a:extLst>
              <a:ext uri="{FF2B5EF4-FFF2-40B4-BE49-F238E27FC236}">
                <a16:creationId xmlns:a16="http://schemas.microsoft.com/office/drawing/2014/main" id="{B9C4DBE5-6DDF-7E67-2ACE-27D0B1CD86D7}"/>
              </a:ext>
            </a:extLst>
          </p:cNvPr>
          <p:cNvSpPr txBox="1"/>
          <p:nvPr/>
        </p:nvSpPr>
        <p:spPr>
          <a:xfrm>
            <a:off x="219456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0" name="Rounded Rectangle 9">
            <a:extLst>
              <a:ext uri="{FF2B5EF4-FFF2-40B4-BE49-F238E27FC236}">
                <a16:creationId xmlns:a16="http://schemas.microsoft.com/office/drawing/2014/main" id="{19D24BF4-C6CD-C122-71E8-A76A15800698}"/>
              </a:ext>
            </a:extLst>
          </p:cNvPr>
          <p:cNvSpPr/>
          <p:nvPr/>
        </p:nvSpPr>
        <p:spPr>
          <a:xfrm>
            <a:off x="288036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9D6BCCE7-1498-4BFD-48A6-F8C73ECB0D23}"/>
              </a:ext>
            </a:extLst>
          </p:cNvPr>
          <p:cNvSpPr txBox="1"/>
          <p:nvPr/>
        </p:nvSpPr>
        <p:spPr>
          <a:xfrm>
            <a:off x="2953512" y="2688336"/>
            <a:ext cx="1527048" cy="276999"/>
          </a:xfrm>
          <a:prstGeom prst="rect">
            <a:avLst/>
          </a:prstGeom>
          <a:solidFill>
            <a:schemeClr val="bg1"/>
          </a:solidFill>
          <a:ln>
            <a:noFill/>
          </a:ln>
        </p:spPr>
        <p:txBody>
          <a:bodyPr wrap="square">
            <a:spAutoFit/>
          </a:bodyPr>
          <a:lstStyle/>
          <a:p>
            <a:pPr algn="ctr">
              <a:defRPr sz="1200" b="1">
                <a:solidFill>
                  <a:srgbClr val="0D1117"/>
                </a:solidFill>
                <a:latin typeface="Aptos"/>
              </a:defRPr>
            </a:pPr>
            <a:r>
              <a:rPr dirty="0"/>
              <a:t>42-</a:t>
            </a:r>
            <a:r>
              <a:rPr lang="en-GB" dirty="0"/>
              <a:t>file-opening</a:t>
            </a:r>
            <a:endParaRPr dirty="0"/>
          </a:p>
        </p:txBody>
      </p:sp>
      <p:sp>
        <p:nvSpPr>
          <p:cNvPr id="12" name="TextBox 11">
            <a:extLst>
              <a:ext uri="{FF2B5EF4-FFF2-40B4-BE49-F238E27FC236}">
                <a16:creationId xmlns:a16="http://schemas.microsoft.com/office/drawing/2014/main" id="{F79C4F4F-2346-7EE0-0440-60F3C63EF490}"/>
              </a:ext>
            </a:extLst>
          </p:cNvPr>
          <p:cNvSpPr txBox="1"/>
          <p:nvPr/>
        </p:nvSpPr>
        <p:spPr>
          <a:xfrm>
            <a:off x="295351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a:t>Branch</a:t>
            </a:r>
          </a:p>
        </p:txBody>
      </p:sp>
      <p:sp>
        <p:nvSpPr>
          <p:cNvPr id="13" name="TextBox 12">
            <a:extLst>
              <a:ext uri="{FF2B5EF4-FFF2-40B4-BE49-F238E27FC236}">
                <a16:creationId xmlns:a16="http://schemas.microsoft.com/office/drawing/2014/main" id="{A42486E3-FA9E-4D28-3B23-204181EFC465}"/>
              </a:ext>
            </a:extLst>
          </p:cNvPr>
          <p:cNvSpPr txBox="1"/>
          <p:nvPr/>
        </p:nvSpPr>
        <p:spPr>
          <a:xfrm>
            <a:off x="295351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Implement</a:t>
            </a:r>
          </a:p>
        </p:txBody>
      </p:sp>
      <p:sp>
        <p:nvSpPr>
          <p:cNvPr id="14" name="TextBox 13">
            <a:extLst>
              <a:ext uri="{FF2B5EF4-FFF2-40B4-BE49-F238E27FC236}">
                <a16:creationId xmlns:a16="http://schemas.microsoft.com/office/drawing/2014/main" id="{3C985A2B-3BA9-74A0-A741-68AD6AF20FA9}"/>
              </a:ext>
            </a:extLst>
          </p:cNvPr>
          <p:cNvSpPr txBox="1"/>
          <p:nvPr/>
        </p:nvSpPr>
        <p:spPr>
          <a:xfrm>
            <a:off x="457200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15" name="Rounded Rectangle 14">
            <a:extLst>
              <a:ext uri="{FF2B5EF4-FFF2-40B4-BE49-F238E27FC236}">
                <a16:creationId xmlns:a16="http://schemas.microsoft.com/office/drawing/2014/main" id="{F1A75896-553F-80C7-ACD7-11CA7A5802C7}"/>
              </a:ext>
            </a:extLst>
          </p:cNvPr>
          <p:cNvSpPr/>
          <p:nvPr/>
        </p:nvSpPr>
        <p:spPr>
          <a:xfrm>
            <a:off x="525780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C4CDE1F2-C6E7-3031-D6E6-AE46B10A96AE}"/>
              </a:ext>
            </a:extLst>
          </p:cNvPr>
          <p:cNvSpPr txBox="1"/>
          <p:nvPr/>
        </p:nvSpPr>
        <p:spPr>
          <a:xfrm>
            <a:off x="533095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rPr dirty="0"/>
              <a:t>Commit</a:t>
            </a:r>
          </a:p>
        </p:txBody>
      </p:sp>
      <p:sp>
        <p:nvSpPr>
          <p:cNvPr id="17" name="TextBox 16">
            <a:extLst>
              <a:ext uri="{FF2B5EF4-FFF2-40B4-BE49-F238E27FC236}">
                <a16:creationId xmlns:a16="http://schemas.microsoft.com/office/drawing/2014/main" id="{28E02FF2-5D0B-EDD7-E7FD-BFA6B77CE5F5}"/>
              </a:ext>
            </a:extLst>
          </p:cNvPr>
          <p:cNvSpPr txBox="1"/>
          <p:nvPr/>
        </p:nvSpPr>
        <p:spPr>
          <a:xfrm>
            <a:off x="533095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Changes</a:t>
            </a:r>
          </a:p>
        </p:txBody>
      </p:sp>
      <p:sp>
        <p:nvSpPr>
          <p:cNvPr id="18" name="TextBox 17">
            <a:extLst>
              <a:ext uri="{FF2B5EF4-FFF2-40B4-BE49-F238E27FC236}">
                <a16:creationId xmlns:a16="http://schemas.microsoft.com/office/drawing/2014/main" id="{EC4FC832-D612-0526-E7CB-DE0D2E1EECCB}"/>
              </a:ext>
            </a:extLst>
          </p:cNvPr>
          <p:cNvSpPr txBox="1"/>
          <p:nvPr/>
        </p:nvSpPr>
        <p:spPr>
          <a:xfrm>
            <a:off x="533095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t>Build &amp; test</a:t>
            </a:r>
          </a:p>
        </p:txBody>
      </p:sp>
      <p:sp>
        <p:nvSpPr>
          <p:cNvPr id="19" name="TextBox 18">
            <a:extLst>
              <a:ext uri="{FF2B5EF4-FFF2-40B4-BE49-F238E27FC236}">
                <a16:creationId xmlns:a16="http://schemas.microsoft.com/office/drawing/2014/main" id="{60ACBF09-2ED2-868E-B685-F8BA29CBFF5D}"/>
              </a:ext>
            </a:extLst>
          </p:cNvPr>
          <p:cNvSpPr txBox="1"/>
          <p:nvPr/>
        </p:nvSpPr>
        <p:spPr>
          <a:xfrm>
            <a:off x="694944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20" name="Rounded Rectangle 19">
            <a:extLst>
              <a:ext uri="{FF2B5EF4-FFF2-40B4-BE49-F238E27FC236}">
                <a16:creationId xmlns:a16="http://schemas.microsoft.com/office/drawing/2014/main" id="{5AC04C06-56BB-6058-258B-3E981A29FC42}"/>
              </a:ext>
            </a:extLst>
          </p:cNvPr>
          <p:cNvSpPr/>
          <p:nvPr/>
        </p:nvSpPr>
        <p:spPr>
          <a:xfrm>
            <a:off x="763524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C7F0C2BD-6354-4DA5-527A-3B283E229603}"/>
              </a:ext>
            </a:extLst>
          </p:cNvPr>
          <p:cNvSpPr txBox="1"/>
          <p:nvPr/>
        </p:nvSpPr>
        <p:spPr>
          <a:xfrm>
            <a:off x="770839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PR #61</a:t>
            </a:r>
          </a:p>
        </p:txBody>
      </p:sp>
      <p:sp>
        <p:nvSpPr>
          <p:cNvPr id="22" name="TextBox 21">
            <a:extLst>
              <a:ext uri="{FF2B5EF4-FFF2-40B4-BE49-F238E27FC236}">
                <a16:creationId xmlns:a16="http://schemas.microsoft.com/office/drawing/2014/main" id="{ACD63D9B-0714-C7E5-3254-0A9BF6828C09}"/>
              </a:ext>
            </a:extLst>
          </p:cNvPr>
          <p:cNvSpPr txBox="1"/>
          <p:nvPr/>
        </p:nvSpPr>
        <p:spPr>
          <a:xfrm>
            <a:off x="7708392" y="3136392"/>
            <a:ext cx="1527048" cy="338554"/>
          </a:xfrm>
          <a:prstGeom prst="rect">
            <a:avLst/>
          </a:prstGeom>
          <a:solidFill>
            <a:schemeClr val="bg1"/>
          </a:solidFill>
          <a:ln>
            <a:noFill/>
          </a:ln>
        </p:spPr>
        <p:txBody>
          <a:bodyPr wrap="square">
            <a:spAutoFit/>
          </a:bodyPr>
          <a:lstStyle/>
          <a:p>
            <a:pPr algn="ctr">
              <a:defRPr sz="1300" b="1">
                <a:solidFill>
                  <a:srgbClr val="0969DA"/>
                </a:solidFill>
                <a:latin typeface="Aptos"/>
              </a:defRPr>
            </a:pPr>
            <a:r>
              <a:rPr sz="1600" dirty="0"/>
              <a:t>Pull</a:t>
            </a:r>
            <a:r>
              <a:rPr lang="en-GB" sz="1600" dirty="0"/>
              <a:t> Request</a:t>
            </a:r>
            <a:endParaRPr sz="1600" dirty="0"/>
          </a:p>
        </p:txBody>
      </p:sp>
      <p:sp>
        <p:nvSpPr>
          <p:cNvPr id="23" name="TextBox 22">
            <a:extLst>
              <a:ext uri="{FF2B5EF4-FFF2-40B4-BE49-F238E27FC236}">
                <a16:creationId xmlns:a16="http://schemas.microsoft.com/office/drawing/2014/main" id="{076D46E9-2685-0769-1225-946B7EAF43F6}"/>
              </a:ext>
            </a:extLst>
          </p:cNvPr>
          <p:cNvSpPr txBox="1"/>
          <p:nvPr/>
        </p:nvSpPr>
        <p:spPr>
          <a:xfrm>
            <a:off x="7708392" y="3584448"/>
            <a:ext cx="1527048" cy="27432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Review</a:t>
            </a:r>
          </a:p>
        </p:txBody>
      </p:sp>
      <p:sp>
        <p:nvSpPr>
          <p:cNvPr id="24" name="TextBox 23">
            <a:extLst>
              <a:ext uri="{FF2B5EF4-FFF2-40B4-BE49-F238E27FC236}">
                <a16:creationId xmlns:a16="http://schemas.microsoft.com/office/drawing/2014/main" id="{56677F3E-D1E4-3FFF-9D9B-F6C9BACD23B2}"/>
              </a:ext>
            </a:extLst>
          </p:cNvPr>
          <p:cNvSpPr txBox="1"/>
          <p:nvPr/>
        </p:nvSpPr>
        <p:spPr>
          <a:xfrm>
            <a:off x="9326880" y="3063240"/>
            <a:ext cx="658368" cy="338554"/>
          </a:xfrm>
          <a:prstGeom prst="rect">
            <a:avLst/>
          </a:prstGeom>
          <a:solidFill>
            <a:schemeClr val="bg1"/>
          </a:solidFill>
          <a:ln>
            <a:noFill/>
          </a:ln>
        </p:spPr>
        <p:txBody>
          <a:bodyPr wrap="square">
            <a:spAutoFit/>
          </a:bodyPr>
          <a:lstStyle/>
          <a:p>
            <a:pPr algn="ctr">
              <a:defRPr sz="2400" b="1">
                <a:solidFill>
                  <a:srgbClr val="57606A"/>
                </a:solidFill>
                <a:latin typeface="Aptos"/>
              </a:defRPr>
            </a:pPr>
            <a:r>
              <a:rPr sz="1600"/>
              <a:t>→</a:t>
            </a:r>
          </a:p>
        </p:txBody>
      </p:sp>
      <p:sp>
        <p:nvSpPr>
          <p:cNvPr id="36" name="Rounded Rectangle 35">
            <a:extLst>
              <a:ext uri="{FF2B5EF4-FFF2-40B4-BE49-F238E27FC236}">
                <a16:creationId xmlns:a16="http://schemas.microsoft.com/office/drawing/2014/main" id="{BA1546BD-96D4-A41F-4F59-A61E9D86E8C3}"/>
              </a:ext>
            </a:extLst>
          </p:cNvPr>
          <p:cNvSpPr/>
          <p:nvPr/>
        </p:nvSpPr>
        <p:spPr>
          <a:xfrm>
            <a:off x="10012680" y="2423160"/>
            <a:ext cx="1673352" cy="1828800"/>
          </a:xfrm>
          <a:prstGeom prst="roundRect">
            <a:avLst/>
          </a:prstGeom>
          <a:solidFill>
            <a:schemeClr val="bg1"/>
          </a:solidFill>
          <a:ln>
            <a:solidFill>
              <a:schemeClr val="bg1">
                <a:lumMod val="8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E81B2A9B-2256-E341-D16F-7319545EDDC5}"/>
              </a:ext>
            </a:extLst>
          </p:cNvPr>
          <p:cNvSpPr txBox="1"/>
          <p:nvPr/>
        </p:nvSpPr>
        <p:spPr>
          <a:xfrm>
            <a:off x="10085832" y="2688336"/>
            <a:ext cx="1527048" cy="347472"/>
          </a:xfrm>
          <a:prstGeom prst="rect">
            <a:avLst/>
          </a:prstGeom>
          <a:solidFill>
            <a:schemeClr val="bg1"/>
          </a:solidFill>
          <a:ln>
            <a:noFill/>
          </a:ln>
        </p:spPr>
        <p:txBody>
          <a:bodyPr wrap="square">
            <a:spAutoFit/>
          </a:bodyPr>
          <a:lstStyle/>
          <a:p>
            <a:pPr algn="ctr">
              <a:defRPr sz="1600" b="1">
                <a:solidFill>
                  <a:srgbClr val="0D1117"/>
                </a:solidFill>
                <a:latin typeface="Aptos"/>
              </a:defRPr>
            </a:pPr>
            <a:r>
              <a:t>main</a:t>
            </a:r>
          </a:p>
        </p:txBody>
      </p:sp>
      <p:sp>
        <p:nvSpPr>
          <p:cNvPr id="38" name="TextBox 37">
            <a:extLst>
              <a:ext uri="{FF2B5EF4-FFF2-40B4-BE49-F238E27FC236}">
                <a16:creationId xmlns:a16="http://schemas.microsoft.com/office/drawing/2014/main" id="{06847603-D745-C281-5AE8-CAFB07E78146}"/>
              </a:ext>
            </a:extLst>
          </p:cNvPr>
          <p:cNvSpPr txBox="1"/>
          <p:nvPr/>
        </p:nvSpPr>
        <p:spPr>
          <a:xfrm>
            <a:off x="10085832" y="3128474"/>
            <a:ext cx="1527048" cy="338554"/>
          </a:xfrm>
          <a:prstGeom prst="rect">
            <a:avLst/>
          </a:prstGeom>
          <a:solidFill>
            <a:schemeClr val="bg1"/>
          </a:solidFill>
          <a:ln>
            <a:noFill/>
          </a:ln>
        </p:spPr>
        <p:txBody>
          <a:bodyPr wrap="square">
            <a:spAutoFit/>
          </a:bodyPr>
          <a:lstStyle/>
          <a:p>
            <a:pPr algn="ctr">
              <a:defRPr sz="1300" b="1">
                <a:solidFill>
                  <a:srgbClr val="1F883D"/>
                </a:solidFill>
                <a:latin typeface="Aptos"/>
              </a:defRPr>
            </a:pPr>
            <a:r>
              <a:rPr sz="1600" dirty="0"/>
              <a:t>Merge</a:t>
            </a:r>
          </a:p>
        </p:txBody>
      </p:sp>
      <p:sp>
        <p:nvSpPr>
          <p:cNvPr id="39" name="TextBox 38">
            <a:extLst>
              <a:ext uri="{FF2B5EF4-FFF2-40B4-BE49-F238E27FC236}">
                <a16:creationId xmlns:a16="http://schemas.microsoft.com/office/drawing/2014/main" id="{4E0BC0D6-0B46-E79B-3CF6-BE4716C82745}"/>
              </a:ext>
            </a:extLst>
          </p:cNvPr>
          <p:cNvSpPr txBox="1"/>
          <p:nvPr/>
        </p:nvSpPr>
        <p:spPr>
          <a:xfrm>
            <a:off x="10085832" y="3584448"/>
            <a:ext cx="1527048" cy="261610"/>
          </a:xfrm>
          <a:prstGeom prst="rect">
            <a:avLst/>
          </a:prstGeom>
          <a:solidFill>
            <a:schemeClr val="bg1"/>
          </a:solidFill>
          <a:ln>
            <a:noFill/>
          </a:ln>
        </p:spPr>
        <p:txBody>
          <a:bodyPr wrap="square">
            <a:spAutoFit/>
          </a:bodyPr>
          <a:lstStyle/>
          <a:p>
            <a:pPr algn="ctr">
              <a:defRPr sz="1100" b="0">
                <a:solidFill>
                  <a:srgbClr val="57606A"/>
                </a:solidFill>
                <a:latin typeface="Aptos"/>
              </a:defRPr>
            </a:pPr>
            <a:r>
              <a:rPr dirty="0"/>
              <a:t>Close</a:t>
            </a:r>
            <a:r>
              <a:rPr lang="en-GB" dirty="0"/>
              <a:t>s</a:t>
            </a:r>
            <a:r>
              <a:rPr dirty="0"/>
              <a:t> issue</a:t>
            </a:r>
          </a:p>
        </p:txBody>
      </p:sp>
      <p:sp>
        <p:nvSpPr>
          <p:cNvPr id="2" name="Curved Up Arrow 1">
            <a:extLst>
              <a:ext uri="{FF2B5EF4-FFF2-40B4-BE49-F238E27FC236}">
                <a16:creationId xmlns:a16="http://schemas.microsoft.com/office/drawing/2014/main" id="{047D8CE0-CE00-3982-360D-6634484B1A2A}"/>
              </a:ext>
            </a:extLst>
          </p:cNvPr>
          <p:cNvSpPr/>
          <p:nvPr/>
        </p:nvSpPr>
        <p:spPr>
          <a:xfrm flipH="1">
            <a:off x="6351651" y="4251960"/>
            <a:ext cx="1863090" cy="868680"/>
          </a:xfrm>
          <a:prstGeom prst="curved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26" name="Up Arrow 25">
            <a:extLst>
              <a:ext uri="{FF2B5EF4-FFF2-40B4-BE49-F238E27FC236}">
                <a16:creationId xmlns:a16="http://schemas.microsoft.com/office/drawing/2014/main" id="{47BD45A5-2C01-E727-FC78-1D1F52217CFA}"/>
              </a:ext>
            </a:extLst>
          </p:cNvPr>
          <p:cNvSpPr/>
          <p:nvPr/>
        </p:nvSpPr>
        <p:spPr>
          <a:xfrm>
            <a:off x="9528244" y="3401794"/>
            <a:ext cx="255639" cy="1645694"/>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0560FDB5-C3A2-1FAA-BA21-FD21940A2F13}"/>
              </a:ext>
            </a:extLst>
          </p:cNvPr>
          <p:cNvSpPr txBox="1"/>
          <p:nvPr/>
        </p:nvSpPr>
        <p:spPr>
          <a:xfrm>
            <a:off x="8178735" y="5146286"/>
            <a:ext cx="2954655" cy="369332"/>
          </a:xfrm>
          <a:prstGeom prst="rect">
            <a:avLst/>
          </a:prstGeom>
          <a:noFill/>
        </p:spPr>
        <p:txBody>
          <a:bodyPr wrap="none" rtlCol="0">
            <a:spAutoFit/>
          </a:bodyPr>
          <a:lstStyle/>
          <a:p>
            <a:r>
              <a:rPr lang="en-US" dirty="0">
                <a:latin typeface="+mn-lt"/>
              </a:rPr>
              <a:t>Only merge if all tests pass</a:t>
            </a:r>
          </a:p>
        </p:txBody>
      </p:sp>
      <p:pic>
        <p:nvPicPr>
          <p:cNvPr id="25" name="Picture 24">
            <a:extLst>
              <a:ext uri="{FF2B5EF4-FFF2-40B4-BE49-F238E27FC236}">
                <a16:creationId xmlns:a16="http://schemas.microsoft.com/office/drawing/2014/main" id="{8F54CC73-AE63-6C9F-AC3F-DC89D14A7C4E}"/>
              </a:ext>
            </a:extLst>
          </p:cNvPr>
          <p:cNvPicPr>
            <a:picLocks noChangeAspect="1"/>
          </p:cNvPicPr>
          <p:nvPr/>
        </p:nvPicPr>
        <p:blipFill>
          <a:blip r:embed="rId3"/>
          <a:stretch>
            <a:fillRect/>
          </a:stretch>
        </p:blipFill>
        <p:spPr>
          <a:xfrm>
            <a:off x="10623841" y="0"/>
            <a:ext cx="1568159" cy="1195721"/>
          </a:xfrm>
          <a:prstGeom prst="rect">
            <a:avLst/>
          </a:prstGeom>
        </p:spPr>
      </p:pic>
      <p:pic>
        <p:nvPicPr>
          <p:cNvPr id="28" name="Picture 27">
            <a:extLst>
              <a:ext uri="{FF2B5EF4-FFF2-40B4-BE49-F238E27FC236}">
                <a16:creationId xmlns:a16="http://schemas.microsoft.com/office/drawing/2014/main" id="{D100FD03-75E4-C36C-9638-FA89129D64B0}"/>
              </a:ext>
            </a:extLst>
          </p:cNvPr>
          <p:cNvPicPr>
            <a:picLocks noChangeAspect="1"/>
          </p:cNvPicPr>
          <p:nvPr/>
        </p:nvPicPr>
        <p:blipFill>
          <a:blip r:embed="rId4"/>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26939973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446BFFF8-B3C0-ED74-FB51-8A92A821C6A4}"/>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24B992B-4C2D-0D55-7ECE-E6DEDEEEAB97}"/>
              </a:ext>
            </a:extLst>
          </p:cNvPr>
          <p:cNvPicPr>
            <a:picLocks noChangeAspect="1"/>
          </p:cNvPicPr>
          <p:nvPr/>
        </p:nvPicPr>
        <p:blipFill>
          <a:blip r:embed="rId2"/>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8745FA56-516B-FE8D-0A50-CCF29FE5876A}"/>
              </a:ext>
            </a:extLst>
          </p:cNvPr>
          <p:cNvPicPr>
            <a:picLocks noChangeAspect="1"/>
          </p:cNvPicPr>
          <p:nvPr/>
        </p:nvPicPr>
        <p:blipFill>
          <a:blip r:embed="rId3"/>
          <a:srcRect/>
          <a:stretch>
            <a:fillRect/>
          </a:stretch>
        </p:blipFill>
        <p:spPr>
          <a:xfrm>
            <a:off x="9106967" y="0"/>
            <a:ext cx="1516874" cy="1195721"/>
          </a:xfrm>
          <a:prstGeom prst="rect">
            <a:avLst/>
          </a:prstGeom>
        </p:spPr>
      </p:pic>
      <p:sp>
        <p:nvSpPr>
          <p:cNvPr id="6" name="TextBox 5">
            <a:extLst>
              <a:ext uri="{FF2B5EF4-FFF2-40B4-BE49-F238E27FC236}">
                <a16:creationId xmlns:a16="http://schemas.microsoft.com/office/drawing/2014/main" id="{511D2C62-8E20-5822-1FD4-0881E3CFBBC0}"/>
              </a:ext>
            </a:extLst>
          </p:cNvPr>
          <p:cNvSpPr txBox="1"/>
          <p:nvPr/>
        </p:nvSpPr>
        <p:spPr>
          <a:xfrm>
            <a:off x="2372659" y="2569882"/>
            <a:ext cx="5723042" cy="923330"/>
          </a:xfrm>
          <a:prstGeom prst="rect">
            <a:avLst/>
          </a:prstGeom>
          <a:noFill/>
        </p:spPr>
        <p:txBody>
          <a:bodyPr wrap="none" rtlCol="0">
            <a:spAutoFit/>
          </a:bodyPr>
          <a:lstStyle/>
          <a:p>
            <a:r>
              <a:rPr lang="en-US" dirty="0">
                <a:latin typeface="+mn-lt"/>
              </a:rPr>
              <a:t>One example</a:t>
            </a:r>
          </a:p>
          <a:p>
            <a:endParaRPr lang="en-US" dirty="0">
              <a:latin typeface="+mn-lt"/>
            </a:endParaRPr>
          </a:p>
          <a:p>
            <a:r>
              <a:rPr lang="en-US" dirty="0">
                <a:latin typeface="+mn-lt"/>
                <a:hlinkClick r:id="rId4"/>
              </a:rPr>
              <a:t>https://github.com/Project-MONAI/MONAI/issues/9068</a:t>
            </a:r>
            <a:r>
              <a:rPr lang="en-US" dirty="0">
                <a:latin typeface="+mn-lt"/>
              </a:rPr>
              <a:t> </a:t>
            </a:r>
          </a:p>
        </p:txBody>
      </p:sp>
    </p:spTree>
    <p:extLst>
      <p:ext uri="{BB962C8B-B14F-4D97-AF65-F5344CB8AC3E}">
        <p14:creationId xmlns:p14="http://schemas.microsoft.com/office/powerpoint/2010/main" val="3632994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DDCABBD5-EE33-5560-3BBA-6302331A3D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1B877B-7D7F-1099-050B-5661762B9C8D}"/>
              </a:ext>
            </a:extLst>
          </p:cNvPr>
          <p:cNvSpPr txBox="1"/>
          <p:nvPr/>
        </p:nvSpPr>
        <p:spPr>
          <a:xfrm>
            <a:off x="731520" y="822960"/>
            <a:ext cx="10698480" cy="553998"/>
          </a:xfrm>
          <a:prstGeom prst="rect">
            <a:avLst/>
          </a:prstGeom>
          <a:noFill/>
        </p:spPr>
        <p:txBody>
          <a:bodyPr wrap="square">
            <a:spAutoFit/>
          </a:bodyPr>
          <a:lstStyle/>
          <a:p>
            <a:pPr algn="l">
              <a:defRPr sz="3000" b="1">
                <a:solidFill>
                  <a:srgbClr val="FFFFFF"/>
                </a:solidFill>
                <a:latin typeface="Aptos"/>
              </a:defRPr>
            </a:pPr>
            <a:r>
              <a:rPr dirty="0">
                <a:solidFill>
                  <a:schemeClr val="tx1"/>
                </a:solidFill>
              </a:rPr>
              <a:t>Why Issues matter</a:t>
            </a:r>
          </a:p>
        </p:txBody>
      </p:sp>
      <p:sp>
        <p:nvSpPr>
          <p:cNvPr id="25" name="TextBox 24">
            <a:extLst>
              <a:ext uri="{FF2B5EF4-FFF2-40B4-BE49-F238E27FC236}">
                <a16:creationId xmlns:a16="http://schemas.microsoft.com/office/drawing/2014/main" id="{D6B2B139-3D21-D2AD-5416-EFA6B14E5EA6}"/>
              </a:ext>
            </a:extLst>
          </p:cNvPr>
          <p:cNvSpPr txBox="1"/>
          <p:nvPr/>
        </p:nvSpPr>
        <p:spPr>
          <a:xfrm>
            <a:off x="731520" y="1554480"/>
            <a:ext cx="10515600" cy="400110"/>
          </a:xfrm>
          <a:prstGeom prst="rect">
            <a:avLst/>
          </a:prstGeom>
          <a:noFill/>
        </p:spPr>
        <p:txBody>
          <a:bodyPr wrap="square">
            <a:spAutoFit/>
          </a:bodyPr>
          <a:lstStyle/>
          <a:p>
            <a:pPr algn="l">
              <a:defRPr sz="2000" b="0">
                <a:solidFill>
                  <a:srgbClr val="C9D1D9"/>
                </a:solidFill>
                <a:latin typeface="Aptos"/>
              </a:defRPr>
            </a:pPr>
            <a:r>
              <a:rPr dirty="0">
                <a:solidFill>
                  <a:schemeClr val="tx1"/>
                </a:solidFill>
              </a:rPr>
              <a:t>They connect planning, implementation and review into one auditable engineering workflow.</a:t>
            </a:r>
          </a:p>
        </p:txBody>
      </p:sp>
      <p:sp>
        <p:nvSpPr>
          <p:cNvPr id="27" name="TextBox 26">
            <a:extLst>
              <a:ext uri="{FF2B5EF4-FFF2-40B4-BE49-F238E27FC236}">
                <a16:creationId xmlns:a16="http://schemas.microsoft.com/office/drawing/2014/main" id="{74272240-368C-BD47-4917-18E6245FCDE8}"/>
              </a:ext>
            </a:extLst>
          </p:cNvPr>
          <p:cNvSpPr txBox="1"/>
          <p:nvPr/>
        </p:nvSpPr>
        <p:spPr>
          <a:xfrm>
            <a:off x="987552" y="271576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Traceability</a:t>
            </a:r>
          </a:p>
        </p:txBody>
      </p:sp>
      <p:sp>
        <p:nvSpPr>
          <p:cNvPr id="28" name="TextBox 27">
            <a:extLst>
              <a:ext uri="{FF2B5EF4-FFF2-40B4-BE49-F238E27FC236}">
                <a16:creationId xmlns:a16="http://schemas.microsoft.com/office/drawing/2014/main" id="{52445653-72F7-E774-761E-C6C2EE28D1B2}"/>
              </a:ext>
            </a:extLst>
          </p:cNvPr>
          <p:cNvSpPr txBox="1"/>
          <p:nvPr/>
        </p:nvSpPr>
        <p:spPr>
          <a:xfrm>
            <a:off x="987552" y="311810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See why code changed and which task, branch and PR produced it.</a:t>
            </a:r>
          </a:p>
        </p:txBody>
      </p:sp>
      <p:sp>
        <p:nvSpPr>
          <p:cNvPr id="30" name="TextBox 29">
            <a:extLst>
              <a:ext uri="{FF2B5EF4-FFF2-40B4-BE49-F238E27FC236}">
                <a16:creationId xmlns:a16="http://schemas.microsoft.com/office/drawing/2014/main" id="{D0515075-FB6E-7CA4-F086-304DCB978693}"/>
              </a:ext>
            </a:extLst>
          </p:cNvPr>
          <p:cNvSpPr txBox="1"/>
          <p:nvPr/>
        </p:nvSpPr>
        <p:spPr>
          <a:xfrm>
            <a:off x="6473952" y="271576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Collaboration</a:t>
            </a:r>
          </a:p>
        </p:txBody>
      </p:sp>
      <p:sp>
        <p:nvSpPr>
          <p:cNvPr id="31" name="TextBox 30">
            <a:extLst>
              <a:ext uri="{FF2B5EF4-FFF2-40B4-BE49-F238E27FC236}">
                <a16:creationId xmlns:a16="http://schemas.microsoft.com/office/drawing/2014/main" id="{EF892A32-8C44-D366-E3B3-76BA6960A9BB}"/>
              </a:ext>
            </a:extLst>
          </p:cNvPr>
          <p:cNvSpPr txBox="1"/>
          <p:nvPr/>
        </p:nvSpPr>
        <p:spPr>
          <a:xfrm>
            <a:off x="6473952" y="311810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Give developers and reviewers one shared place for ownership and decisions.</a:t>
            </a:r>
          </a:p>
        </p:txBody>
      </p:sp>
      <p:sp>
        <p:nvSpPr>
          <p:cNvPr id="33" name="TextBox 32">
            <a:extLst>
              <a:ext uri="{FF2B5EF4-FFF2-40B4-BE49-F238E27FC236}">
                <a16:creationId xmlns:a16="http://schemas.microsoft.com/office/drawing/2014/main" id="{9828B151-59CE-4B26-1C00-4F875AB49F60}"/>
              </a:ext>
            </a:extLst>
          </p:cNvPr>
          <p:cNvSpPr txBox="1"/>
          <p:nvPr/>
        </p:nvSpPr>
        <p:spPr>
          <a:xfrm>
            <a:off x="987552" y="445312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Quality</a:t>
            </a:r>
          </a:p>
        </p:txBody>
      </p:sp>
      <p:sp>
        <p:nvSpPr>
          <p:cNvPr id="34" name="TextBox 33">
            <a:extLst>
              <a:ext uri="{FF2B5EF4-FFF2-40B4-BE49-F238E27FC236}">
                <a16:creationId xmlns:a16="http://schemas.microsoft.com/office/drawing/2014/main" id="{E1D109F0-FFFA-4E9C-BED2-93D52A9BD9C9}"/>
              </a:ext>
            </a:extLst>
          </p:cNvPr>
          <p:cNvSpPr txBox="1"/>
          <p:nvPr/>
        </p:nvSpPr>
        <p:spPr>
          <a:xfrm>
            <a:off x="987552" y="485546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Use acceptance criteria, reviews and linked tests to make "done" explicit.</a:t>
            </a:r>
          </a:p>
        </p:txBody>
      </p:sp>
      <p:sp>
        <p:nvSpPr>
          <p:cNvPr id="40" name="TextBox 39">
            <a:extLst>
              <a:ext uri="{FF2B5EF4-FFF2-40B4-BE49-F238E27FC236}">
                <a16:creationId xmlns:a16="http://schemas.microsoft.com/office/drawing/2014/main" id="{89CC8760-4A22-809D-3442-376EB0C0E242}"/>
              </a:ext>
            </a:extLst>
          </p:cNvPr>
          <p:cNvSpPr txBox="1"/>
          <p:nvPr/>
        </p:nvSpPr>
        <p:spPr>
          <a:xfrm>
            <a:off x="6473952" y="445312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Project visibility</a:t>
            </a:r>
          </a:p>
        </p:txBody>
      </p:sp>
      <p:sp>
        <p:nvSpPr>
          <p:cNvPr id="41" name="TextBox 40">
            <a:extLst>
              <a:ext uri="{FF2B5EF4-FFF2-40B4-BE49-F238E27FC236}">
                <a16:creationId xmlns:a16="http://schemas.microsoft.com/office/drawing/2014/main" id="{B25A1DFF-44D5-C667-56DD-73DCFC21A0B4}"/>
              </a:ext>
            </a:extLst>
          </p:cNvPr>
          <p:cNvSpPr txBox="1"/>
          <p:nvPr/>
        </p:nvSpPr>
        <p:spPr>
          <a:xfrm>
            <a:off x="6473952" y="485546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Labels, milestones and status make progress and remaining work easier to inspect.</a:t>
            </a:r>
          </a:p>
        </p:txBody>
      </p:sp>
      <p:pic>
        <p:nvPicPr>
          <p:cNvPr id="3" name="Picture 2">
            <a:extLst>
              <a:ext uri="{FF2B5EF4-FFF2-40B4-BE49-F238E27FC236}">
                <a16:creationId xmlns:a16="http://schemas.microsoft.com/office/drawing/2014/main" id="{212819D5-3874-3BE0-55B6-5B79491701CF}"/>
              </a:ext>
            </a:extLst>
          </p:cNvPr>
          <p:cNvPicPr>
            <a:picLocks noChangeAspect="1"/>
          </p:cNvPicPr>
          <p:nvPr/>
        </p:nvPicPr>
        <p:blipFill>
          <a:blip r:embed="rId2"/>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C47F0007-C1A1-B111-21B0-86C2763F6EC1}"/>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1273706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D89F4B5F-6EA5-EE85-3CE2-ADE8CFF89C3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84EA29-18AE-DB72-8F28-5CC9ABCB95A3}"/>
              </a:ext>
            </a:extLst>
          </p:cNvPr>
          <p:cNvSpPr txBox="1"/>
          <p:nvPr/>
        </p:nvSpPr>
        <p:spPr>
          <a:xfrm>
            <a:off x="731520" y="822960"/>
            <a:ext cx="10698480" cy="553998"/>
          </a:xfrm>
          <a:prstGeom prst="rect">
            <a:avLst/>
          </a:prstGeom>
          <a:noFill/>
        </p:spPr>
        <p:txBody>
          <a:bodyPr wrap="square">
            <a:spAutoFit/>
          </a:bodyPr>
          <a:lstStyle/>
          <a:p>
            <a:pPr algn="l">
              <a:defRPr sz="3000" b="1">
                <a:solidFill>
                  <a:srgbClr val="FFFFFF"/>
                </a:solidFill>
                <a:latin typeface="Aptos"/>
              </a:defRPr>
            </a:pPr>
            <a:r>
              <a:rPr dirty="0">
                <a:solidFill>
                  <a:schemeClr val="tx1"/>
                </a:solidFill>
              </a:rPr>
              <a:t>Why Issues matter</a:t>
            </a:r>
          </a:p>
        </p:txBody>
      </p:sp>
      <p:sp>
        <p:nvSpPr>
          <p:cNvPr id="25" name="TextBox 24">
            <a:extLst>
              <a:ext uri="{FF2B5EF4-FFF2-40B4-BE49-F238E27FC236}">
                <a16:creationId xmlns:a16="http://schemas.microsoft.com/office/drawing/2014/main" id="{ED0D841A-E5BC-5FAD-50B2-62D3B298D7AB}"/>
              </a:ext>
            </a:extLst>
          </p:cNvPr>
          <p:cNvSpPr txBox="1"/>
          <p:nvPr/>
        </p:nvSpPr>
        <p:spPr>
          <a:xfrm>
            <a:off x="731520" y="1554480"/>
            <a:ext cx="10515600" cy="400110"/>
          </a:xfrm>
          <a:prstGeom prst="rect">
            <a:avLst/>
          </a:prstGeom>
          <a:noFill/>
        </p:spPr>
        <p:txBody>
          <a:bodyPr wrap="square">
            <a:spAutoFit/>
          </a:bodyPr>
          <a:lstStyle/>
          <a:p>
            <a:pPr algn="l">
              <a:defRPr sz="2000" b="0">
                <a:solidFill>
                  <a:srgbClr val="C9D1D9"/>
                </a:solidFill>
                <a:latin typeface="Aptos"/>
              </a:defRPr>
            </a:pPr>
            <a:r>
              <a:rPr dirty="0">
                <a:solidFill>
                  <a:schemeClr val="tx1"/>
                </a:solidFill>
              </a:rPr>
              <a:t>They connect planning, implementation and review into one auditable engineering workflow.</a:t>
            </a:r>
          </a:p>
        </p:txBody>
      </p:sp>
      <p:sp>
        <p:nvSpPr>
          <p:cNvPr id="27" name="TextBox 26">
            <a:extLst>
              <a:ext uri="{FF2B5EF4-FFF2-40B4-BE49-F238E27FC236}">
                <a16:creationId xmlns:a16="http://schemas.microsoft.com/office/drawing/2014/main" id="{D4CC1B4E-4EFC-5CDF-77A5-33C04006B386}"/>
              </a:ext>
            </a:extLst>
          </p:cNvPr>
          <p:cNvSpPr txBox="1"/>
          <p:nvPr/>
        </p:nvSpPr>
        <p:spPr>
          <a:xfrm>
            <a:off x="987552" y="271576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Traceability</a:t>
            </a:r>
          </a:p>
        </p:txBody>
      </p:sp>
      <p:sp>
        <p:nvSpPr>
          <p:cNvPr id="28" name="TextBox 27">
            <a:extLst>
              <a:ext uri="{FF2B5EF4-FFF2-40B4-BE49-F238E27FC236}">
                <a16:creationId xmlns:a16="http://schemas.microsoft.com/office/drawing/2014/main" id="{432AB6B6-14B7-0123-E49F-878D138375EE}"/>
              </a:ext>
            </a:extLst>
          </p:cNvPr>
          <p:cNvSpPr txBox="1"/>
          <p:nvPr/>
        </p:nvSpPr>
        <p:spPr>
          <a:xfrm>
            <a:off x="987552" y="311810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See why code changed and which task, branch and PR produced it.</a:t>
            </a:r>
          </a:p>
        </p:txBody>
      </p:sp>
      <p:sp>
        <p:nvSpPr>
          <p:cNvPr id="30" name="TextBox 29">
            <a:extLst>
              <a:ext uri="{FF2B5EF4-FFF2-40B4-BE49-F238E27FC236}">
                <a16:creationId xmlns:a16="http://schemas.microsoft.com/office/drawing/2014/main" id="{08B69D31-3C5C-F4B7-3969-9B9425E58943}"/>
              </a:ext>
            </a:extLst>
          </p:cNvPr>
          <p:cNvSpPr txBox="1"/>
          <p:nvPr/>
        </p:nvSpPr>
        <p:spPr>
          <a:xfrm>
            <a:off x="6473952" y="271576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Collaboration</a:t>
            </a:r>
          </a:p>
        </p:txBody>
      </p:sp>
      <p:sp>
        <p:nvSpPr>
          <p:cNvPr id="31" name="TextBox 30">
            <a:extLst>
              <a:ext uri="{FF2B5EF4-FFF2-40B4-BE49-F238E27FC236}">
                <a16:creationId xmlns:a16="http://schemas.microsoft.com/office/drawing/2014/main" id="{BA0AF3FF-8E5C-54DC-811E-4ABC8D70E351}"/>
              </a:ext>
            </a:extLst>
          </p:cNvPr>
          <p:cNvSpPr txBox="1"/>
          <p:nvPr/>
        </p:nvSpPr>
        <p:spPr>
          <a:xfrm>
            <a:off x="6473952" y="311810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Give developers and reviewers one shared place for ownership and decisions.</a:t>
            </a:r>
          </a:p>
        </p:txBody>
      </p:sp>
      <p:sp>
        <p:nvSpPr>
          <p:cNvPr id="33" name="TextBox 32">
            <a:extLst>
              <a:ext uri="{FF2B5EF4-FFF2-40B4-BE49-F238E27FC236}">
                <a16:creationId xmlns:a16="http://schemas.microsoft.com/office/drawing/2014/main" id="{C1253823-4146-1B0C-1565-C444C7B88C68}"/>
              </a:ext>
            </a:extLst>
          </p:cNvPr>
          <p:cNvSpPr txBox="1"/>
          <p:nvPr/>
        </p:nvSpPr>
        <p:spPr>
          <a:xfrm>
            <a:off x="987552" y="445312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Quality</a:t>
            </a:r>
          </a:p>
        </p:txBody>
      </p:sp>
      <p:sp>
        <p:nvSpPr>
          <p:cNvPr id="34" name="TextBox 33">
            <a:extLst>
              <a:ext uri="{FF2B5EF4-FFF2-40B4-BE49-F238E27FC236}">
                <a16:creationId xmlns:a16="http://schemas.microsoft.com/office/drawing/2014/main" id="{1047F257-340E-6952-C379-B522B2AB1320}"/>
              </a:ext>
            </a:extLst>
          </p:cNvPr>
          <p:cNvSpPr txBox="1"/>
          <p:nvPr/>
        </p:nvSpPr>
        <p:spPr>
          <a:xfrm>
            <a:off x="987552" y="485546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Use acceptance criteria, reviews and linked tests to make "done" explicit.</a:t>
            </a:r>
          </a:p>
        </p:txBody>
      </p:sp>
      <p:sp>
        <p:nvSpPr>
          <p:cNvPr id="40" name="TextBox 39">
            <a:extLst>
              <a:ext uri="{FF2B5EF4-FFF2-40B4-BE49-F238E27FC236}">
                <a16:creationId xmlns:a16="http://schemas.microsoft.com/office/drawing/2014/main" id="{828C6E8B-202C-DEA4-C9A8-723B39827793}"/>
              </a:ext>
            </a:extLst>
          </p:cNvPr>
          <p:cNvSpPr txBox="1"/>
          <p:nvPr/>
        </p:nvSpPr>
        <p:spPr>
          <a:xfrm>
            <a:off x="6473952" y="4453128"/>
            <a:ext cx="4480560" cy="353943"/>
          </a:xfrm>
          <a:prstGeom prst="rect">
            <a:avLst/>
          </a:prstGeom>
          <a:noFill/>
        </p:spPr>
        <p:txBody>
          <a:bodyPr wrap="square">
            <a:spAutoFit/>
          </a:bodyPr>
          <a:lstStyle/>
          <a:p>
            <a:pPr algn="l">
              <a:defRPr sz="1700" b="1">
                <a:solidFill>
                  <a:srgbClr val="79C0FF"/>
                </a:solidFill>
                <a:latin typeface="Aptos"/>
              </a:defRPr>
            </a:pPr>
            <a:r>
              <a:rPr>
                <a:solidFill>
                  <a:schemeClr val="tx1"/>
                </a:solidFill>
              </a:rPr>
              <a:t>Project visibility</a:t>
            </a:r>
          </a:p>
        </p:txBody>
      </p:sp>
      <p:sp>
        <p:nvSpPr>
          <p:cNvPr id="41" name="TextBox 40">
            <a:extLst>
              <a:ext uri="{FF2B5EF4-FFF2-40B4-BE49-F238E27FC236}">
                <a16:creationId xmlns:a16="http://schemas.microsoft.com/office/drawing/2014/main" id="{87AB09BD-FCDE-8B25-6123-D2BA353B012C}"/>
              </a:ext>
            </a:extLst>
          </p:cNvPr>
          <p:cNvSpPr txBox="1"/>
          <p:nvPr/>
        </p:nvSpPr>
        <p:spPr>
          <a:xfrm>
            <a:off x="6473952" y="4855464"/>
            <a:ext cx="4526280" cy="502920"/>
          </a:xfrm>
          <a:prstGeom prst="rect">
            <a:avLst/>
          </a:prstGeom>
          <a:noFill/>
        </p:spPr>
        <p:txBody>
          <a:bodyPr wrap="square">
            <a:spAutoFit/>
          </a:bodyPr>
          <a:lstStyle/>
          <a:p>
            <a:pPr algn="l">
              <a:defRPr sz="1300" b="0">
                <a:solidFill>
                  <a:srgbClr val="C9D1D9"/>
                </a:solidFill>
                <a:latin typeface="Aptos"/>
              </a:defRPr>
            </a:pPr>
            <a:r>
              <a:rPr>
                <a:solidFill>
                  <a:schemeClr val="tx1"/>
                </a:solidFill>
              </a:rPr>
              <a:t>Labels, milestones and status make progress and remaining work easier to inspect.</a:t>
            </a:r>
          </a:p>
        </p:txBody>
      </p:sp>
      <p:sp>
        <p:nvSpPr>
          <p:cNvPr id="3" name="TextBox 2">
            <a:extLst>
              <a:ext uri="{FF2B5EF4-FFF2-40B4-BE49-F238E27FC236}">
                <a16:creationId xmlns:a16="http://schemas.microsoft.com/office/drawing/2014/main" id="{B427857A-CB42-7D15-F6C9-DF98269735D3}"/>
              </a:ext>
            </a:extLst>
          </p:cNvPr>
          <p:cNvSpPr txBox="1"/>
          <p:nvPr/>
        </p:nvSpPr>
        <p:spPr>
          <a:xfrm>
            <a:off x="2277975" y="5638717"/>
            <a:ext cx="6380273" cy="954107"/>
          </a:xfrm>
          <a:prstGeom prst="rect">
            <a:avLst/>
          </a:prstGeom>
          <a:noFill/>
        </p:spPr>
        <p:txBody>
          <a:bodyPr wrap="none" rtlCol="0">
            <a:spAutoFit/>
          </a:bodyPr>
          <a:lstStyle/>
          <a:p>
            <a:r>
              <a:rPr lang="en-US" sz="2800" dirty="0">
                <a:solidFill>
                  <a:srgbClr val="FF0000"/>
                </a:solidFill>
                <a:latin typeface="+mn-lt"/>
              </a:rPr>
              <a:t>Important pieces for community uptake </a:t>
            </a:r>
          </a:p>
          <a:p>
            <a:pPr algn="ctr"/>
            <a:r>
              <a:rPr lang="en-US" sz="2800" dirty="0">
                <a:solidFill>
                  <a:srgbClr val="FF0000"/>
                </a:solidFill>
                <a:latin typeface="+mn-lt"/>
              </a:rPr>
              <a:t>and in a regulatory approval process</a:t>
            </a:r>
          </a:p>
        </p:txBody>
      </p:sp>
      <p:pic>
        <p:nvPicPr>
          <p:cNvPr id="4" name="Picture 3">
            <a:extLst>
              <a:ext uri="{FF2B5EF4-FFF2-40B4-BE49-F238E27FC236}">
                <a16:creationId xmlns:a16="http://schemas.microsoft.com/office/drawing/2014/main" id="{74804A8D-E907-CFFF-7AB0-3BD65E606A63}"/>
              </a:ext>
            </a:extLst>
          </p:cNvPr>
          <p:cNvPicPr>
            <a:picLocks noChangeAspect="1"/>
          </p:cNvPicPr>
          <p:nvPr/>
        </p:nvPicPr>
        <p:blipFill>
          <a:blip r:embed="rId2"/>
          <a:stretch>
            <a:fillRect/>
          </a:stretch>
        </p:blipFill>
        <p:spPr>
          <a:xfrm>
            <a:off x="10623841" y="0"/>
            <a:ext cx="1568159" cy="1195721"/>
          </a:xfrm>
          <a:prstGeom prst="rect">
            <a:avLst/>
          </a:prstGeom>
        </p:spPr>
      </p:pic>
      <p:pic>
        <p:nvPicPr>
          <p:cNvPr id="5" name="Picture 4">
            <a:extLst>
              <a:ext uri="{FF2B5EF4-FFF2-40B4-BE49-F238E27FC236}">
                <a16:creationId xmlns:a16="http://schemas.microsoft.com/office/drawing/2014/main" id="{816D2AF9-FB8E-C1CB-5019-2835C8F89CA0}"/>
              </a:ext>
            </a:extLst>
          </p:cNvPr>
          <p:cNvPicPr>
            <a:picLocks noChangeAspect="1"/>
          </p:cNvPicPr>
          <p:nvPr/>
        </p:nvPicPr>
        <p:blipFill>
          <a:blip r:embed="rId3"/>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732117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2247189F-4FF3-BD5E-B175-E4B43C6F1600}"/>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79BA456E-A955-DE9E-114C-E92C19BFB9D8}"/>
              </a:ext>
            </a:extLst>
          </p:cNvPr>
          <p:cNvSpPr/>
          <p:nvPr/>
        </p:nvSpPr>
        <p:spPr>
          <a:xfrm>
            <a:off x="594360" y="555641"/>
            <a:ext cx="3421738" cy="640080"/>
          </a:xfrm>
          <a:noFill/>
          <a:ln>
            <a:noFill/>
          </a:ln>
        </p:spPr>
        <p:txBody>
          <a:bodyPr lIns="73152" tIns="73152" rIns="73152" bIns="73152" anchor="ctr"/>
          <a:lstStyle/>
          <a:p>
            <a:pPr marL="0" lvl="0" indent="0" algn="l"/>
            <a:r>
              <a:rPr lang="en-US" sz="3080" b="1" i="0" dirty="0">
                <a:solidFill>
                  <a:srgbClr val="172033"/>
                </a:solidFill>
                <a:latin typeface="Aptos"/>
              </a:rPr>
              <a:t>Be prepared to roll up your sleeve</a:t>
            </a:r>
          </a:p>
        </p:txBody>
      </p:sp>
      <p:pic>
        <p:nvPicPr>
          <p:cNvPr id="26" name="Picture 25">
            <a:extLst>
              <a:ext uri="{FF2B5EF4-FFF2-40B4-BE49-F238E27FC236}">
                <a16:creationId xmlns:a16="http://schemas.microsoft.com/office/drawing/2014/main" id="{AC0279B7-3DBB-EFB9-745D-3AFD8E9D26F0}"/>
              </a:ext>
            </a:extLst>
          </p:cNvPr>
          <p:cNvPicPr>
            <a:picLocks noChangeAspect="1"/>
          </p:cNvPicPr>
          <p:nvPr/>
        </p:nvPicPr>
        <p:blipFill>
          <a:blip r:embed="rId2"/>
          <a:stretch>
            <a:fillRect/>
          </a:stretch>
        </p:blipFill>
        <p:spPr>
          <a:xfrm>
            <a:off x="4435647" y="1195721"/>
            <a:ext cx="4552533" cy="5654805"/>
          </a:xfrm>
          <a:prstGeom prst="rect">
            <a:avLst/>
          </a:prstGeom>
        </p:spPr>
      </p:pic>
      <p:pic>
        <p:nvPicPr>
          <p:cNvPr id="2" name="Picture 1">
            <a:extLst>
              <a:ext uri="{FF2B5EF4-FFF2-40B4-BE49-F238E27FC236}">
                <a16:creationId xmlns:a16="http://schemas.microsoft.com/office/drawing/2014/main" id="{81B8914F-579E-C7CE-A50F-486FD87D3E8C}"/>
              </a:ext>
            </a:extLst>
          </p:cNvPr>
          <p:cNvPicPr>
            <a:picLocks noChangeAspect="1"/>
          </p:cNvPicPr>
          <p:nvPr/>
        </p:nvPicPr>
        <p:blipFill>
          <a:blip r:embed="rId3"/>
          <a:stretch>
            <a:fillRect/>
          </a:stretch>
        </p:blipFill>
        <p:spPr>
          <a:xfrm>
            <a:off x="10623841" y="0"/>
            <a:ext cx="1568159" cy="1195721"/>
          </a:xfrm>
          <a:prstGeom prst="rect">
            <a:avLst/>
          </a:prstGeom>
        </p:spPr>
      </p:pic>
      <p:pic>
        <p:nvPicPr>
          <p:cNvPr id="4" name="Picture 3">
            <a:extLst>
              <a:ext uri="{FF2B5EF4-FFF2-40B4-BE49-F238E27FC236}">
                <a16:creationId xmlns:a16="http://schemas.microsoft.com/office/drawing/2014/main" id="{2BBD7092-9A9F-63DE-31C7-482F792C78DB}"/>
              </a:ext>
            </a:extLst>
          </p:cNvPr>
          <p:cNvPicPr>
            <a:picLocks noChangeAspect="1"/>
          </p:cNvPicPr>
          <p:nvPr/>
        </p:nvPicPr>
        <p:blipFill>
          <a:blip r:embed="rId4"/>
          <a:srcRect/>
          <a:stretch>
            <a:fillRect/>
          </a:stretch>
        </p:blipFill>
        <p:spPr>
          <a:xfrm>
            <a:off x="9106967" y="0"/>
            <a:ext cx="1516874" cy="1195721"/>
          </a:xfrm>
          <a:prstGeom prst="rect">
            <a:avLst/>
          </a:prstGeom>
        </p:spPr>
      </p:pic>
    </p:spTree>
    <p:extLst>
      <p:ext uri="{BB962C8B-B14F-4D97-AF65-F5344CB8AC3E}">
        <p14:creationId xmlns:p14="http://schemas.microsoft.com/office/powerpoint/2010/main" val="30713190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867EB28B-F31D-060C-6631-771E27A42FB8}"/>
            </a:ext>
          </a:extLst>
        </p:cNvPr>
        <p:cNvGrpSpPr/>
        <p:nvPr/>
      </p:nvGrpSpPr>
      <p:grpSpPr>
        <a:xfrm>
          <a:off x="0" y="0"/>
          <a:ext cx="0" cy="0"/>
          <a:chOff x="0" y="0"/>
          <a:chExt cx="0" cy="0"/>
        </a:xfrm>
      </p:grpSpPr>
      <p:sp>
        <p:nvSpPr>
          <p:cNvPr id="3" name="TextBox 11">
            <a:extLst>
              <a:ext uri="{FF2B5EF4-FFF2-40B4-BE49-F238E27FC236}">
                <a16:creationId xmlns:a16="http://schemas.microsoft.com/office/drawing/2014/main" id="{E2A74D6C-C444-B6A7-3386-AC21DC57F19C}"/>
              </a:ext>
            </a:extLst>
          </p:cNvPr>
          <p:cNvSpPr/>
          <p:nvPr/>
        </p:nvSpPr>
        <p:spPr>
          <a:xfrm>
            <a:off x="594360" y="640080"/>
            <a:ext cx="10972800" cy="640080"/>
          </a:xfrm>
          <a:noFill/>
          <a:ln>
            <a:noFill/>
          </a:ln>
        </p:spPr>
        <p:txBody>
          <a:bodyPr lIns="73152" tIns="73152" rIns="73152" bIns="73152" anchor="ctr"/>
          <a:lstStyle/>
          <a:p>
            <a:pPr marL="0" lvl="0" indent="0" algn="l"/>
            <a:r>
              <a:rPr lang="en-US" sz="3080" b="1" i="0" dirty="0">
                <a:solidFill>
                  <a:srgbClr val="172033"/>
                </a:solidFill>
                <a:latin typeface="Aptos"/>
              </a:rPr>
              <a:t>Thank you for your attention</a:t>
            </a:r>
          </a:p>
        </p:txBody>
      </p:sp>
      <p:pic>
        <p:nvPicPr>
          <p:cNvPr id="4" name="Picture 3">
            <a:extLst>
              <a:ext uri="{FF2B5EF4-FFF2-40B4-BE49-F238E27FC236}">
                <a16:creationId xmlns:a16="http://schemas.microsoft.com/office/drawing/2014/main" id="{937A167D-0AD9-CC17-6413-3A00B1578ACD}"/>
              </a:ext>
            </a:extLst>
          </p:cNvPr>
          <p:cNvPicPr>
            <a:picLocks noChangeAspect="1"/>
          </p:cNvPicPr>
          <p:nvPr/>
        </p:nvPicPr>
        <p:blipFill>
          <a:blip r:embed="rId2"/>
          <a:stretch>
            <a:fillRect/>
          </a:stretch>
        </p:blipFill>
        <p:spPr>
          <a:xfrm>
            <a:off x="594359" y="2239353"/>
            <a:ext cx="3989997" cy="3989997"/>
          </a:xfrm>
          <a:prstGeom prst="rect">
            <a:avLst/>
          </a:prstGeom>
        </p:spPr>
      </p:pic>
      <p:sp>
        <p:nvSpPr>
          <p:cNvPr id="5" name="TextBox 4">
            <a:extLst>
              <a:ext uri="{FF2B5EF4-FFF2-40B4-BE49-F238E27FC236}">
                <a16:creationId xmlns:a16="http://schemas.microsoft.com/office/drawing/2014/main" id="{362FC75B-9778-4AC3-66B5-63D7BCFD23DD}"/>
              </a:ext>
            </a:extLst>
          </p:cNvPr>
          <p:cNvSpPr txBox="1"/>
          <p:nvPr/>
        </p:nvSpPr>
        <p:spPr>
          <a:xfrm>
            <a:off x="5680711" y="3291840"/>
            <a:ext cx="4943130" cy="646331"/>
          </a:xfrm>
          <a:prstGeom prst="rect">
            <a:avLst/>
          </a:prstGeom>
          <a:noFill/>
        </p:spPr>
        <p:txBody>
          <a:bodyPr wrap="square" rtlCol="0">
            <a:spAutoFit/>
          </a:bodyPr>
          <a:lstStyle/>
          <a:p>
            <a:r>
              <a:rPr lang="en-US" dirty="0"/>
              <a:t>Codes, presentations and tutorials:</a:t>
            </a:r>
          </a:p>
          <a:p>
            <a:r>
              <a:rPr lang="en-US" dirty="0"/>
              <a:t>https://</a:t>
            </a:r>
            <a:r>
              <a:rPr lang="en-US" dirty="0" err="1"/>
              <a:t>github.com</a:t>
            </a:r>
            <a:r>
              <a:rPr lang="en-US" dirty="0"/>
              <a:t>/</a:t>
            </a:r>
            <a:r>
              <a:rPr lang="en-US" dirty="0" err="1"/>
              <a:t>rbesenczi</a:t>
            </a:r>
            <a:r>
              <a:rPr lang="en-US" dirty="0"/>
              <a:t>/</a:t>
            </a:r>
            <a:r>
              <a:rPr lang="en-US" dirty="0" err="1"/>
              <a:t>my</a:t>
            </a:r>
            <a:r>
              <a:rPr lang="en-US" err="1"/>
              <a:t>_</a:t>
            </a:r>
            <a:r>
              <a:rPr lang="en-US"/>
              <a:t>ols</a:t>
            </a:r>
            <a:r>
              <a:rPr lang="en-US" dirty="0"/>
              <a:t> </a:t>
            </a:r>
          </a:p>
        </p:txBody>
      </p:sp>
      <p:pic>
        <p:nvPicPr>
          <p:cNvPr id="7" name="Picture 6">
            <a:extLst>
              <a:ext uri="{FF2B5EF4-FFF2-40B4-BE49-F238E27FC236}">
                <a16:creationId xmlns:a16="http://schemas.microsoft.com/office/drawing/2014/main" id="{C70A3E8B-3F33-6422-8BB3-B5AE0C24A72D}"/>
              </a:ext>
            </a:extLst>
          </p:cNvPr>
          <p:cNvPicPr>
            <a:picLocks noChangeAspect="1"/>
          </p:cNvPicPr>
          <p:nvPr/>
        </p:nvPicPr>
        <p:blipFill>
          <a:blip r:embed="rId3"/>
          <a:stretch>
            <a:fillRect/>
          </a:stretch>
        </p:blipFill>
        <p:spPr>
          <a:xfrm>
            <a:off x="10327595" y="5452228"/>
            <a:ext cx="1864405" cy="1421609"/>
          </a:xfrm>
          <a:prstGeom prst="rect">
            <a:avLst/>
          </a:prstGeom>
        </p:spPr>
      </p:pic>
      <p:pic>
        <p:nvPicPr>
          <p:cNvPr id="8" name="Picture 7">
            <a:extLst>
              <a:ext uri="{FF2B5EF4-FFF2-40B4-BE49-F238E27FC236}">
                <a16:creationId xmlns:a16="http://schemas.microsoft.com/office/drawing/2014/main" id="{E09843CA-0D1B-972A-23C8-F247B1837EA9}"/>
              </a:ext>
            </a:extLst>
          </p:cNvPr>
          <p:cNvPicPr>
            <a:picLocks noChangeAspect="1"/>
          </p:cNvPicPr>
          <p:nvPr/>
        </p:nvPicPr>
        <p:blipFill>
          <a:blip r:embed="rId4"/>
          <a:srcRect/>
          <a:stretch>
            <a:fillRect/>
          </a:stretch>
        </p:blipFill>
        <p:spPr>
          <a:xfrm>
            <a:off x="8524164" y="5452228"/>
            <a:ext cx="1803431" cy="1421608"/>
          </a:xfrm>
          <a:prstGeom prst="rect">
            <a:avLst/>
          </a:prstGeom>
        </p:spPr>
      </p:pic>
      <p:pic>
        <p:nvPicPr>
          <p:cNvPr id="9" name="Picture 8">
            <a:extLst>
              <a:ext uri="{FF2B5EF4-FFF2-40B4-BE49-F238E27FC236}">
                <a16:creationId xmlns:a16="http://schemas.microsoft.com/office/drawing/2014/main" id="{B580CC96-B9B0-28E6-37BC-F86ECCDA0FAF}"/>
              </a:ext>
            </a:extLst>
          </p:cNvPr>
          <p:cNvPicPr>
            <a:picLocks noChangeAspect="1"/>
          </p:cNvPicPr>
          <p:nvPr/>
        </p:nvPicPr>
        <p:blipFill>
          <a:blip r:embed="rId5"/>
          <a:stretch>
            <a:fillRect/>
          </a:stretch>
        </p:blipFill>
        <p:spPr>
          <a:xfrm>
            <a:off x="5352927" y="5460146"/>
            <a:ext cx="3171237" cy="1405772"/>
          </a:xfrm>
          <a:prstGeom prst="rect">
            <a:avLst/>
          </a:prstGeom>
        </p:spPr>
      </p:pic>
    </p:spTree>
    <p:extLst>
      <p:ext uri="{BB962C8B-B14F-4D97-AF65-F5344CB8AC3E}">
        <p14:creationId xmlns:p14="http://schemas.microsoft.com/office/powerpoint/2010/main" val="18673948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4968</TotalTime>
  <Words>5786</Words>
  <Application>Microsoft Macintosh PowerPoint</Application>
  <PresentationFormat>Widescreen</PresentationFormat>
  <Paragraphs>814</Paragraphs>
  <Slides>47</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47</vt:i4>
      </vt:variant>
    </vt:vector>
  </HeadingPairs>
  <TitlesOfParts>
    <vt:vector size="52"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Dibyo Majumdar</dc:creator>
  <cp:lastModifiedBy>Renato Besenczi</cp:lastModifiedBy>
  <cp:revision>53</cp:revision>
  <dcterms:created xsi:type="dcterms:W3CDTF">2026-01-03T18:21:13Z</dcterms:created>
  <dcterms:modified xsi:type="dcterms:W3CDTF">2026-10-10T15:00:46Z</dcterms:modified>
</cp:coreProperties>
</file>