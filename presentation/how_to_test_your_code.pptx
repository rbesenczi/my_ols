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4" r:id="rId3"/>
    <p:sldId id="257" r:id="rId4"/>
    <p:sldId id="291" r:id="rId5"/>
    <p:sldId id="284" r:id="rId6"/>
    <p:sldId id="258" r:id="rId7"/>
    <p:sldId id="260" r:id="rId8"/>
    <p:sldId id="286" r:id="rId9"/>
    <p:sldId id="261" r:id="rId10"/>
    <p:sldId id="262" r:id="rId11"/>
    <p:sldId id="292" r:id="rId12"/>
    <p:sldId id="263" r:id="rId13"/>
    <p:sldId id="264" r:id="rId14"/>
    <p:sldId id="293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6" r:id="rId26"/>
    <p:sldId id="295" r:id="rId27"/>
    <p:sldId id="283" r:id="rId28"/>
    <p:sldId id="297" r:id="rId29"/>
    <p:sldId id="298" r:id="rId30"/>
    <p:sldId id="299" r:id="rId31"/>
    <p:sldId id="285" r:id="rId32"/>
    <p:sldId id="290" r:id="rId33"/>
  </p:sldIdLst>
  <p:sldSz cx="12192000" cy="6858000"/>
  <p:notesSz cx="6858000" cy="9144000"/>
  <p:defaultTextStyle>
    <a:defPPr>
      <a:defRPr lang="en-US"/>
    </a:def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54"/>
    <p:restoredTop sz="94675"/>
  </p:normalViewPr>
  <p:slideViewPr>
    <p:cSldViewPr snapToGrid="0">
      <p:cViewPr>
        <p:scale>
          <a:sx n="119" d="100"/>
          <a:sy n="119" d="100"/>
        </p:scale>
        <p:origin x="80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0DDAB-2384-1195-AC54-C25C27EA65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03A503-F555-4E27-1829-7F2E031A4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D33DE-5667-C6DF-BA27-7CC3C1F0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DE32D8-2ED7-6798-F1FB-5D727A5A3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1C4F5-0A9E-C804-8B80-C9179F7EF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354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FDA4-8ECE-2A8F-F24D-FCEBCE996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8235-58C0-D809-DA59-693ED42D3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A344-1EF1-2E89-C991-18CC42148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80BD9-83F9-4283-490B-897BEB5DA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18760-5D9B-1AD1-3F9D-6412AE6EF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150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6BBCA-8505-3287-55A6-F74EBEB23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89DE3-3002-5B8C-9930-D5735529E7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86ACC-77E1-445B-3F4B-C52079883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15918-8FD8-8FC8-33A9-53205BCBD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F2BE0-D26A-9ED8-8EF8-9036333D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5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44546-70A6-6CBC-A06D-B2D089DD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3835AF-6101-A551-6B78-262D515F09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851829-8946-639C-3F68-3C87C5642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16C4-40F1-187B-6CD1-330A9ED03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24EC74-F15C-4E1D-3310-6B027C510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C0A327-F0F1-9A8D-77B5-BA50AA369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29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47028E-1069-68D8-F619-C06490AF0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F4B67-E12D-53D1-C4D2-B1C2CADCE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01750A-A2B4-265B-A590-30CFE7903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FCA155-CEC5-15D5-7C70-313E9551ED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995B4B-31F0-FAA0-2603-44E8E65808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D9DBF-5F03-D784-45B5-A2EEB3894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C53DCB-88E7-45B3-63E0-D46234A4D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EF9C5C-08E3-F832-09CB-7F2C6C20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367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7BEA4-8C47-C98F-3522-8AF561F5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17CD76-6CE1-1F14-7571-B4BD178E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797FDD-BA24-8151-BC1C-4D75C92E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E6197C-FAC8-96D2-6C86-5DEE6ABC0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03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1B1BF6-A47E-A7BD-931F-4883FCF4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863D35-A529-ABD4-4BF5-8BA87E99C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0C966-7AE0-F86C-D819-989A8FB34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44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638F2-0F71-BF9A-B96C-4C98FCD31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A3504-CAAE-D23C-FA1E-E66415D9A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79BB1-95B1-70DD-8B25-7D86B6739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2A8A4A-1C09-27B2-F0DA-1E5CB7E76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EC71A-CB2E-0093-D82A-97D7F87EC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CDB3B0-00BB-BB88-D8F8-F671709BF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312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FDB4-4D4D-A36B-42F8-10F8E755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6B2D8E-5C8F-9293-B590-433267F68E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CCD1D-115E-626E-DF16-79CD51A08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E0AB6-ACEE-A399-99AE-D6A1C6FA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9B6732-4520-08A7-64C5-C3A99BE59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668E5E-F9A7-A198-ACB0-18E55A4F8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95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4C5AB-10C0-F4A8-4F96-A805647B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9CEAF5-0177-540B-BA83-ABB59DDB32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93B00-DAF3-5545-FC40-4A6DA2FE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84822-A1C5-4A54-471A-3A513E56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77E66-FA37-6739-A028-D0085C86D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669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012E320-CCC2-7AA0-7EE3-E8CA22EEE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1FF549-C187-38BF-8D28-69086F05A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1AC5F-2A51-4E53-BD5C-4B6DEA86D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47E7-EFAB-CF23-0506-1F3AED39B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94CF8-C56C-AA72-A898-0F73ADFAD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712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CDF94-67C9-70A2-E7C9-8BA158B19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A94500-ADD0-3E90-0439-A6B6F54F6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CF1763-4159-5AEB-F74A-4DD0633A31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A6FE47-71D2-8C4F-A2E7-0757E18BE1F0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F7181-1A84-1C89-4836-53D776CC21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61790-00DA-0E58-0E1C-59604B87A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BEDBF-05B2-E645-95DB-0D580CE8F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098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Rect 2"/>
          <p:cNvSpPr/>
          <p:nvPr/>
        </p:nvSpPr>
        <p:spPr>
          <a:xfrm>
            <a:off x="594360" y="685800"/>
            <a:ext cx="109728" cy="5394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Box 3"/>
          <p:cNvSpPr/>
          <p:nvPr/>
        </p:nvSpPr>
        <p:spPr>
          <a:xfrm>
            <a:off x="914400" y="960120"/>
            <a:ext cx="10241280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520" b="1" i="0" dirty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5" name="TextBox 4"/>
          <p:cNvSpPr/>
          <p:nvPr/>
        </p:nvSpPr>
        <p:spPr>
          <a:xfrm>
            <a:off x="914400" y="3291840"/>
            <a:ext cx="9966960" cy="5943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870" b="0" i="0" dirty="0">
                <a:solidFill>
                  <a:srgbClr val="172033"/>
                </a:solidFill>
                <a:latin typeface="Aptos"/>
              </a:rPr>
              <a:t>From testable Python functions to automated checks with GitHub 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7518B-5C10-AA6C-8315-005FF5A2E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96CC9042-2956-0656-5447-124A641D0FFA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 dirty="0">
                <a:solidFill>
                  <a:srgbClr val="172033"/>
                </a:solidFill>
                <a:latin typeface="Aptos"/>
              </a:rPr>
              <a:t>Before you start making photos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364ED3-2466-1062-EBA6-770A13387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239353"/>
            <a:ext cx="3989997" cy="39899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A02689-0057-125B-700B-16FD14FB8BD5}"/>
              </a:ext>
            </a:extLst>
          </p:cNvPr>
          <p:cNvSpPr txBox="1"/>
          <p:nvPr/>
        </p:nvSpPr>
        <p:spPr>
          <a:xfrm>
            <a:off x="5680711" y="3291840"/>
            <a:ext cx="49431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Tutorial, code and this presentation</a:t>
            </a:r>
          </a:p>
          <a:p>
            <a:endParaRPr lang="en-US" dirty="0"/>
          </a:p>
          <a:p>
            <a:r>
              <a:rPr lang="en-US" dirty="0"/>
              <a:t>    https://github.com/rbesenczi/my_ols</a:t>
            </a:r>
          </a:p>
          <a:p>
            <a:endParaRPr lang="en-US" dirty="0"/>
          </a:p>
          <a:p>
            <a:r>
              <a:rPr lang="en-US" dirty="0"/>
              <a:t>Also shown at the end of the presentation</a:t>
            </a:r>
          </a:p>
        </p:txBody>
      </p:sp>
    </p:spTree>
    <p:extLst>
      <p:ext uri="{BB962C8B-B14F-4D97-AF65-F5344CB8AC3E}">
        <p14:creationId xmlns:p14="http://schemas.microsoft.com/office/powerpoint/2010/main" val="1379164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 dirty="0">
                <a:solidFill>
                  <a:srgbClr val="172033"/>
                </a:solidFill>
                <a:latin typeface="Aptos"/>
              </a:rPr>
              <a:t>What we will cover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30"/>
          <p:cNvSpPr/>
          <p:nvPr/>
        </p:nvSpPr>
        <p:spPr>
          <a:xfrm>
            <a:off x="795528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01</a:t>
            </a:r>
          </a:p>
        </p:txBody>
      </p:sp>
      <p:sp>
        <p:nvSpPr>
          <p:cNvPr id="6" name="TextBox 40"/>
          <p:cNvSpPr/>
          <p:nvPr/>
        </p:nvSpPr>
        <p:spPr>
          <a:xfrm>
            <a:off x="795528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Design your </a:t>
            </a:r>
            <a:r>
              <a:rPr lang="en-US" sz="2000" b="1" dirty="0">
                <a:solidFill>
                  <a:srgbClr val="172033"/>
                </a:solidFill>
                <a:latin typeface="Aptos"/>
              </a:rPr>
              <a:t>code </a:t>
            </a:r>
            <a:r>
              <a:rPr lang="en-US" sz="2000" b="1" i="0" dirty="0">
                <a:solidFill>
                  <a:srgbClr val="172033"/>
                </a:solidFill>
                <a:latin typeface="Aptos"/>
              </a:rPr>
              <a:t>for testing</a:t>
            </a:r>
          </a:p>
        </p:txBody>
      </p:sp>
      <p:sp>
        <p:nvSpPr>
          <p:cNvPr id="7" name="TextBox 50"/>
          <p:cNvSpPr/>
          <p:nvPr/>
        </p:nvSpPr>
        <p:spPr>
          <a:xfrm>
            <a:off x="795528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Separate logic from I/O</a:t>
            </a:r>
          </a:p>
        </p:txBody>
      </p:sp>
      <p:sp>
        <p:nvSpPr>
          <p:cNvPr id="8" name="Rect 21"/>
          <p:cNvSpPr/>
          <p:nvPr/>
        </p:nvSpPr>
        <p:spPr>
          <a:xfrm>
            <a:off x="3410712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Box 31"/>
          <p:cNvSpPr/>
          <p:nvPr/>
        </p:nvSpPr>
        <p:spPr>
          <a:xfrm>
            <a:off x="3611880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02</a:t>
            </a:r>
          </a:p>
        </p:txBody>
      </p:sp>
      <p:sp>
        <p:nvSpPr>
          <p:cNvPr id="10" name="TextBox 41"/>
          <p:cNvSpPr/>
          <p:nvPr/>
        </p:nvSpPr>
        <p:spPr>
          <a:xfrm>
            <a:off x="3611880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Test locally</a:t>
            </a:r>
          </a:p>
        </p:txBody>
      </p:sp>
      <p:sp>
        <p:nvSpPr>
          <p:cNvPr id="11" name="TextBox 51"/>
          <p:cNvSpPr/>
          <p:nvPr/>
        </p:nvSpPr>
        <p:spPr>
          <a:xfrm>
            <a:off x="3611880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Unit + integration + regression</a:t>
            </a:r>
          </a:p>
        </p:txBody>
      </p:sp>
      <p:sp>
        <p:nvSpPr>
          <p:cNvPr id="12" name="Rect 22"/>
          <p:cNvSpPr/>
          <p:nvPr/>
        </p:nvSpPr>
        <p:spPr>
          <a:xfrm>
            <a:off x="6227064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32"/>
          <p:cNvSpPr/>
          <p:nvPr/>
        </p:nvSpPr>
        <p:spPr>
          <a:xfrm>
            <a:off x="6428232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03</a:t>
            </a:r>
          </a:p>
        </p:txBody>
      </p:sp>
      <p:sp>
        <p:nvSpPr>
          <p:cNvPr id="14" name="TextBox 42"/>
          <p:cNvSpPr/>
          <p:nvPr/>
        </p:nvSpPr>
        <p:spPr>
          <a:xfrm>
            <a:off x="6428232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Handle awkward code</a:t>
            </a:r>
          </a:p>
        </p:txBody>
      </p:sp>
      <p:sp>
        <p:nvSpPr>
          <p:cNvPr id="15" name="TextBox 52"/>
          <p:cNvSpPr/>
          <p:nvPr/>
        </p:nvSpPr>
        <p:spPr>
          <a:xfrm>
            <a:off x="6428232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Dependency injection + mocking</a:t>
            </a:r>
          </a:p>
        </p:txBody>
      </p:sp>
      <p:sp>
        <p:nvSpPr>
          <p:cNvPr id="16" name="Rect 23"/>
          <p:cNvSpPr/>
          <p:nvPr/>
        </p:nvSpPr>
        <p:spPr>
          <a:xfrm>
            <a:off x="9043416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33"/>
          <p:cNvSpPr/>
          <p:nvPr/>
        </p:nvSpPr>
        <p:spPr>
          <a:xfrm>
            <a:off x="9244584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04</a:t>
            </a:r>
          </a:p>
        </p:txBody>
      </p:sp>
      <p:sp>
        <p:nvSpPr>
          <p:cNvPr id="18" name="TextBox 43"/>
          <p:cNvSpPr/>
          <p:nvPr/>
        </p:nvSpPr>
        <p:spPr>
          <a:xfrm>
            <a:off x="9244584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Automate</a:t>
            </a:r>
          </a:p>
        </p:txBody>
      </p:sp>
      <p:sp>
        <p:nvSpPr>
          <p:cNvPr id="19" name="TextBox 53"/>
          <p:cNvSpPr/>
          <p:nvPr/>
        </p:nvSpPr>
        <p:spPr>
          <a:xfrm>
            <a:off x="9244584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CI/CD with GitHub Actions</a:t>
            </a:r>
          </a:p>
        </p:txBody>
      </p:sp>
      <p:sp>
        <p:nvSpPr>
          <p:cNvPr id="21" name="Line 902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Box 903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 dirty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3" name="TextBox 904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 dirty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B60DD-551C-01FC-237E-E2CA57F19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07895C63-AEF4-F2A4-90CE-3DECF5C37280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 dirty="0">
                <a:solidFill>
                  <a:srgbClr val="172033"/>
                </a:solidFill>
                <a:latin typeface="Aptos"/>
              </a:rPr>
              <a:t>What we will cover</a:t>
            </a:r>
          </a:p>
        </p:txBody>
      </p:sp>
      <p:sp>
        <p:nvSpPr>
          <p:cNvPr id="4" name="Rect 20">
            <a:extLst>
              <a:ext uri="{FF2B5EF4-FFF2-40B4-BE49-F238E27FC236}">
                <a16:creationId xmlns:a16="http://schemas.microsoft.com/office/drawing/2014/main" id="{9381C25F-67A1-CE15-B41C-1BC7CE2FEB5A}"/>
              </a:ext>
            </a:extLst>
          </p:cNvPr>
          <p:cNvSpPr/>
          <p:nvPr/>
        </p:nvSpPr>
        <p:spPr>
          <a:xfrm>
            <a:off x="594360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Box 30">
            <a:extLst>
              <a:ext uri="{FF2B5EF4-FFF2-40B4-BE49-F238E27FC236}">
                <a16:creationId xmlns:a16="http://schemas.microsoft.com/office/drawing/2014/main" id="{9E5BBBB1-8B10-138A-961E-D2AB7C1F5D21}"/>
              </a:ext>
            </a:extLst>
          </p:cNvPr>
          <p:cNvSpPr/>
          <p:nvPr/>
        </p:nvSpPr>
        <p:spPr>
          <a:xfrm>
            <a:off x="795528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01</a:t>
            </a:r>
          </a:p>
        </p:txBody>
      </p:sp>
      <p:sp>
        <p:nvSpPr>
          <p:cNvPr id="6" name="TextBox 40">
            <a:extLst>
              <a:ext uri="{FF2B5EF4-FFF2-40B4-BE49-F238E27FC236}">
                <a16:creationId xmlns:a16="http://schemas.microsoft.com/office/drawing/2014/main" id="{E8E31262-4197-076B-AFAE-089EEA854125}"/>
              </a:ext>
            </a:extLst>
          </p:cNvPr>
          <p:cNvSpPr/>
          <p:nvPr/>
        </p:nvSpPr>
        <p:spPr>
          <a:xfrm>
            <a:off x="795528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Design your </a:t>
            </a:r>
            <a:r>
              <a:rPr lang="en-US" sz="2000" b="1" dirty="0">
                <a:solidFill>
                  <a:srgbClr val="172033"/>
                </a:solidFill>
                <a:latin typeface="Aptos"/>
              </a:rPr>
              <a:t>code </a:t>
            </a:r>
            <a:r>
              <a:rPr lang="en-US" sz="2000" b="1" i="0" dirty="0">
                <a:solidFill>
                  <a:srgbClr val="172033"/>
                </a:solidFill>
                <a:latin typeface="Aptos"/>
              </a:rPr>
              <a:t>for testing</a:t>
            </a:r>
          </a:p>
        </p:txBody>
      </p:sp>
      <p:sp>
        <p:nvSpPr>
          <p:cNvPr id="7" name="TextBox 50">
            <a:extLst>
              <a:ext uri="{FF2B5EF4-FFF2-40B4-BE49-F238E27FC236}">
                <a16:creationId xmlns:a16="http://schemas.microsoft.com/office/drawing/2014/main" id="{4FE464D2-9B24-530E-CE0D-2C19F1783CBF}"/>
              </a:ext>
            </a:extLst>
          </p:cNvPr>
          <p:cNvSpPr/>
          <p:nvPr/>
        </p:nvSpPr>
        <p:spPr>
          <a:xfrm>
            <a:off x="795528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Separate logic from I/O</a:t>
            </a:r>
          </a:p>
        </p:txBody>
      </p:sp>
      <p:sp>
        <p:nvSpPr>
          <p:cNvPr id="8" name="Rect 21">
            <a:extLst>
              <a:ext uri="{FF2B5EF4-FFF2-40B4-BE49-F238E27FC236}">
                <a16:creationId xmlns:a16="http://schemas.microsoft.com/office/drawing/2014/main" id="{FB4825ED-E276-FD1C-AF68-D33E5C596176}"/>
              </a:ext>
            </a:extLst>
          </p:cNvPr>
          <p:cNvSpPr/>
          <p:nvPr/>
        </p:nvSpPr>
        <p:spPr>
          <a:xfrm>
            <a:off x="3410712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Box 31">
            <a:extLst>
              <a:ext uri="{FF2B5EF4-FFF2-40B4-BE49-F238E27FC236}">
                <a16:creationId xmlns:a16="http://schemas.microsoft.com/office/drawing/2014/main" id="{A64D0E58-F0F0-2A7F-4C85-70AABBAD4392}"/>
              </a:ext>
            </a:extLst>
          </p:cNvPr>
          <p:cNvSpPr/>
          <p:nvPr/>
        </p:nvSpPr>
        <p:spPr>
          <a:xfrm>
            <a:off x="3611880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02</a:t>
            </a:r>
          </a:p>
        </p:txBody>
      </p:sp>
      <p:sp>
        <p:nvSpPr>
          <p:cNvPr id="10" name="TextBox 41">
            <a:extLst>
              <a:ext uri="{FF2B5EF4-FFF2-40B4-BE49-F238E27FC236}">
                <a16:creationId xmlns:a16="http://schemas.microsoft.com/office/drawing/2014/main" id="{FE6AB0A4-FBE5-4DC4-50C8-451FC89C44CA}"/>
              </a:ext>
            </a:extLst>
          </p:cNvPr>
          <p:cNvSpPr/>
          <p:nvPr/>
        </p:nvSpPr>
        <p:spPr>
          <a:xfrm>
            <a:off x="3611880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Test locally</a:t>
            </a:r>
          </a:p>
        </p:txBody>
      </p:sp>
      <p:sp>
        <p:nvSpPr>
          <p:cNvPr id="11" name="TextBox 51">
            <a:extLst>
              <a:ext uri="{FF2B5EF4-FFF2-40B4-BE49-F238E27FC236}">
                <a16:creationId xmlns:a16="http://schemas.microsoft.com/office/drawing/2014/main" id="{F983DEB3-5B3A-EEA3-C4B7-561E9DA83F8A}"/>
              </a:ext>
            </a:extLst>
          </p:cNvPr>
          <p:cNvSpPr/>
          <p:nvPr/>
        </p:nvSpPr>
        <p:spPr>
          <a:xfrm>
            <a:off x="3611880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Unit + integration + regression</a:t>
            </a:r>
          </a:p>
        </p:txBody>
      </p:sp>
      <p:sp>
        <p:nvSpPr>
          <p:cNvPr id="12" name="Rect 22">
            <a:extLst>
              <a:ext uri="{FF2B5EF4-FFF2-40B4-BE49-F238E27FC236}">
                <a16:creationId xmlns:a16="http://schemas.microsoft.com/office/drawing/2014/main" id="{4AB2FEEB-DD7E-4FEE-9626-4A336FEE7E61}"/>
              </a:ext>
            </a:extLst>
          </p:cNvPr>
          <p:cNvSpPr/>
          <p:nvPr/>
        </p:nvSpPr>
        <p:spPr>
          <a:xfrm>
            <a:off x="6227064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3" name="TextBox 32">
            <a:extLst>
              <a:ext uri="{FF2B5EF4-FFF2-40B4-BE49-F238E27FC236}">
                <a16:creationId xmlns:a16="http://schemas.microsoft.com/office/drawing/2014/main" id="{AA19C419-3211-70FA-D17E-E89792167FAC}"/>
              </a:ext>
            </a:extLst>
          </p:cNvPr>
          <p:cNvSpPr/>
          <p:nvPr/>
        </p:nvSpPr>
        <p:spPr>
          <a:xfrm>
            <a:off x="6428232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03</a:t>
            </a:r>
          </a:p>
        </p:txBody>
      </p:sp>
      <p:sp>
        <p:nvSpPr>
          <p:cNvPr id="14" name="TextBox 42">
            <a:extLst>
              <a:ext uri="{FF2B5EF4-FFF2-40B4-BE49-F238E27FC236}">
                <a16:creationId xmlns:a16="http://schemas.microsoft.com/office/drawing/2014/main" id="{F192E102-EFED-DBDD-B8F0-1B44512118BE}"/>
              </a:ext>
            </a:extLst>
          </p:cNvPr>
          <p:cNvSpPr/>
          <p:nvPr/>
        </p:nvSpPr>
        <p:spPr>
          <a:xfrm>
            <a:off x="6428232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Handle awkward code</a:t>
            </a:r>
          </a:p>
        </p:txBody>
      </p:sp>
      <p:sp>
        <p:nvSpPr>
          <p:cNvPr id="15" name="TextBox 52">
            <a:extLst>
              <a:ext uri="{FF2B5EF4-FFF2-40B4-BE49-F238E27FC236}">
                <a16:creationId xmlns:a16="http://schemas.microsoft.com/office/drawing/2014/main" id="{9E9116AC-5969-151F-F4F0-05F7B38C3065}"/>
              </a:ext>
            </a:extLst>
          </p:cNvPr>
          <p:cNvSpPr/>
          <p:nvPr/>
        </p:nvSpPr>
        <p:spPr>
          <a:xfrm>
            <a:off x="6428232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Dependency injection + mocking</a:t>
            </a:r>
          </a:p>
        </p:txBody>
      </p:sp>
      <p:sp>
        <p:nvSpPr>
          <p:cNvPr id="16" name="Rect 23">
            <a:extLst>
              <a:ext uri="{FF2B5EF4-FFF2-40B4-BE49-F238E27FC236}">
                <a16:creationId xmlns:a16="http://schemas.microsoft.com/office/drawing/2014/main" id="{BF70E657-7E87-50D7-6A07-4EC8BD9FA85D}"/>
              </a:ext>
            </a:extLst>
          </p:cNvPr>
          <p:cNvSpPr/>
          <p:nvPr/>
        </p:nvSpPr>
        <p:spPr>
          <a:xfrm>
            <a:off x="9043416" y="1691640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Box 33">
            <a:extLst>
              <a:ext uri="{FF2B5EF4-FFF2-40B4-BE49-F238E27FC236}">
                <a16:creationId xmlns:a16="http://schemas.microsoft.com/office/drawing/2014/main" id="{B60A8CCE-3B7C-E195-015A-7EBDBA93F347}"/>
              </a:ext>
            </a:extLst>
          </p:cNvPr>
          <p:cNvSpPr/>
          <p:nvPr/>
        </p:nvSpPr>
        <p:spPr>
          <a:xfrm>
            <a:off x="9244584" y="1901952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04</a:t>
            </a:r>
          </a:p>
        </p:txBody>
      </p:sp>
      <p:sp>
        <p:nvSpPr>
          <p:cNvPr id="18" name="TextBox 43">
            <a:extLst>
              <a:ext uri="{FF2B5EF4-FFF2-40B4-BE49-F238E27FC236}">
                <a16:creationId xmlns:a16="http://schemas.microsoft.com/office/drawing/2014/main" id="{E84494DB-AE18-A423-29F9-647EC584439C}"/>
              </a:ext>
            </a:extLst>
          </p:cNvPr>
          <p:cNvSpPr/>
          <p:nvPr/>
        </p:nvSpPr>
        <p:spPr>
          <a:xfrm>
            <a:off x="9244584" y="2395728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Automate</a:t>
            </a:r>
          </a:p>
        </p:txBody>
      </p:sp>
      <p:sp>
        <p:nvSpPr>
          <p:cNvPr id="19" name="TextBox 53">
            <a:extLst>
              <a:ext uri="{FF2B5EF4-FFF2-40B4-BE49-F238E27FC236}">
                <a16:creationId xmlns:a16="http://schemas.microsoft.com/office/drawing/2014/main" id="{6BE7C6FE-A3C8-B97D-D170-1F5C81EDAEC8}"/>
              </a:ext>
            </a:extLst>
          </p:cNvPr>
          <p:cNvSpPr/>
          <p:nvPr/>
        </p:nvSpPr>
        <p:spPr>
          <a:xfrm>
            <a:off x="9244584" y="3182112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CI/CD with GitHub Actions</a:t>
            </a:r>
          </a:p>
        </p:txBody>
      </p:sp>
      <p:sp>
        <p:nvSpPr>
          <p:cNvPr id="21" name="Line 902">
            <a:extLst>
              <a:ext uri="{FF2B5EF4-FFF2-40B4-BE49-F238E27FC236}">
                <a16:creationId xmlns:a16="http://schemas.microsoft.com/office/drawing/2014/main" id="{B0376894-A363-38FD-FFE4-366D964333DB}"/>
              </a:ext>
            </a:extLst>
          </p:cNvPr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 dirty="0"/>
          </a:p>
        </p:txBody>
      </p:sp>
      <p:sp>
        <p:nvSpPr>
          <p:cNvPr id="22" name="TextBox 903">
            <a:extLst>
              <a:ext uri="{FF2B5EF4-FFF2-40B4-BE49-F238E27FC236}">
                <a16:creationId xmlns:a16="http://schemas.microsoft.com/office/drawing/2014/main" id="{813B067F-9B50-CED4-3B79-FBE666E008DB}"/>
              </a:ext>
            </a:extLst>
          </p:cNvPr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 dirty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3" name="TextBox 904">
            <a:extLst>
              <a:ext uri="{FF2B5EF4-FFF2-40B4-BE49-F238E27FC236}">
                <a16:creationId xmlns:a16="http://schemas.microsoft.com/office/drawing/2014/main" id="{C7FE62BC-5ED2-793A-4C63-0C9150C8C428}"/>
              </a:ext>
            </a:extLst>
          </p:cNvPr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4" name="Rect 23">
            <a:extLst>
              <a:ext uri="{FF2B5EF4-FFF2-40B4-BE49-F238E27FC236}">
                <a16:creationId xmlns:a16="http://schemas.microsoft.com/office/drawing/2014/main" id="{595C50C8-2658-C87E-4A3E-CCFEBEBC83CB}"/>
              </a:ext>
            </a:extLst>
          </p:cNvPr>
          <p:cNvSpPr/>
          <p:nvPr/>
        </p:nvSpPr>
        <p:spPr>
          <a:xfrm>
            <a:off x="9426928" y="3346704"/>
            <a:ext cx="2523744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TextBox 33">
            <a:extLst>
              <a:ext uri="{FF2B5EF4-FFF2-40B4-BE49-F238E27FC236}">
                <a16:creationId xmlns:a16="http://schemas.microsoft.com/office/drawing/2014/main" id="{832E4484-61AD-62CC-CC6C-9D4C8A29B350}"/>
              </a:ext>
            </a:extLst>
          </p:cNvPr>
          <p:cNvSpPr/>
          <p:nvPr/>
        </p:nvSpPr>
        <p:spPr>
          <a:xfrm>
            <a:off x="9628096" y="3557016"/>
            <a:ext cx="6400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dirty="0">
                <a:solidFill>
                  <a:srgbClr val="172033"/>
                </a:solidFill>
                <a:latin typeface="Aptos"/>
              </a:rPr>
              <a:t>+1</a:t>
            </a:r>
            <a:endParaRPr lang="en-US" sz="20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6" name="TextBox 43">
            <a:extLst>
              <a:ext uri="{FF2B5EF4-FFF2-40B4-BE49-F238E27FC236}">
                <a16:creationId xmlns:a16="http://schemas.microsoft.com/office/drawing/2014/main" id="{C10125A6-4511-F270-D31F-B06E5760144C}"/>
              </a:ext>
            </a:extLst>
          </p:cNvPr>
          <p:cNvSpPr/>
          <p:nvPr/>
        </p:nvSpPr>
        <p:spPr>
          <a:xfrm>
            <a:off x="9628096" y="4050792"/>
            <a:ext cx="2084831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GitHub Issues</a:t>
            </a:r>
          </a:p>
        </p:txBody>
      </p:sp>
      <p:sp>
        <p:nvSpPr>
          <p:cNvPr id="27" name="TextBox 53">
            <a:extLst>
              <a:ext uri="{FF2B5EF4-FFF2-40B4-BE49-F238E27FC236}">
                <a16:creationId xmlns:a16="http://schemas.microsoft.com/office/drawing/2014/main" id="{B7109EDF-1C51-1891-677B-432021067A02}"/>
              </a:ext>
            </a:extLst>
          </p:cNvPr>
          <p:cNvSpPr/>
          <p:nvPr/>
        </p:nvSpPr>
        <p:spPr>
          <a:xfrm>
            <a:off x="9628096" y="4837176"/>
            <a:ext cx="2029968" cy="10515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Towards more robustness</a:t>
            </a:r>
          </a:p>
        </p:txBody>
      </p:sp>
    </p:spTree>
    <p:extLst>
      <p:ext uri="{BB962C8B-B14F-4D97-AF65-F5344CB8AC3E}">
        <p14:creationId xmlns:p14="http://schemas.microsoft.com/office/powerpoint/2010/main" val="193127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3989DF-BA9B-4A3C-98F8-B47768A3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8B681956-FB05-421E-E8F1-84EE37879E55}"/>
              </a:ext>
            </a:extLst>
          </p:cNvPr>
          <p:cNvSpPr/>
          <p:nvPr/>
        </p:nvSpPr>
        <p:spPr>
          <a:xfrm>
            <a:off x="594360" y="320040"/>
            <a:ext cx="10972800" cy="25603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endParaRPr lang="en-US" sz="105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9D8810E5-1C91-3CE2-1D31-0EF5BE79A843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 dirty="0">
                <a:solidFill>
                  <a:srgbClr val="172033"/>
                </a:solidFill>
                <a:latin typeface="Aptos"/>
              </a:rPr>
              <a:t>Why testing matters?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56BABF4-3468-9C1C-BC64-84B09787C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03" y="1280160"/>
            <a:ext cx="5724394" cy="5239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660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 dirty="0">
                <a:solidFill>
                  <a:srgbClr val="172033"/>
                </a:solidFill>
                <a:latin typeface="Aptos"/>
              </a:rPr>
              <a:t>Testing is a feedback system, not a final exam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554480"/>
            <a:ext cx="109728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ect 30"/>
          <p:cNvSpPr/>
          <p:nvPr/>
        </p:nvSpPr>
        <p:spPr>
          <a:xfrm>
            <a:off x="868680" y="1874519"/>
            <a:ext cx="32461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40"/>
          <p:cNvSpPr/>
          <p:nvPr/>
        </p:nvSpPr>
        <p:spPr>
          <a:xfrm>
            <a:off x="1097280" y="2139696"/>
            <a:ext cx="274320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WRITE</a:t>
            </a:r>
          </a:p>
        </p:txBody>
      </p:sp>
      <p:sp>
        <p:nvSpPr>
          <p:cNvPr id="7" name="TextBox 50"/>
          <p:cNvSpPr/>
          <p:nvPr/>
        </p:nvSpPr>
        <p:spPr>
          <a:xfrm>
            <a:off x="1097280" y="2697480"/>
            <a:ext cx="2697480" cy="74980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Make </a:t>
            </a:r>
            <a:r>
              <a:rPr lang="en-US" sz="2000" b="1" i="0" dirty="0" err="1">
                <a:solidFill>
                  <a:srgbClr val="172033"/>
                </a:solidFill>
                <a:latin typeface="Aptos"/>
              </a:rPr>
              <a:t>behaviour</a:t>
            </a:r>
            <a:r>
              <a:rPr lang="en-US" sz="2000" b="1" i="0">
                <a:solidFill>
                  <a:srgbClr val="172033"/>
                </a:solidFill>
                <a:latin typeface="Aptos"/>
              </a:rPr>
              <a:t> explicit</a:t>
            </a:r>
          </a:p>
        </p:txBody>
      </p:sp>
      <p:sp>
        <p:nvSpPr>
          <p:cNvPr id="8" name="TextBox 60"/>
          <p:cNvSpPr/>
          <p:nvPr/>
        </p:nvSpPr>
        <p:spPr>
          <a:xfrm>
            <a:off x="1097280" y="3657600"/>
            <a:ext cx="2697480" cy="9601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>
                <a:solidFill>
                  <a:srgbClr val="172033"/>
                </a:solidFill>
                <a:latin typeface="Aptos"/>
              </a:rPr>
              <a:t>Small, deterministic functions are easier to test.</a:t>
            </a:r>
          </a:p>
        </p:txBody>
      </p:sp>
      <p:sp>
        <p:nvSpPr>
          <p:cNvPr id="9" name="Rect 31"/>
          <p:cNvSpPr/>
          <p:nvPr/>
        </p:nvSpPr>
        <p:spPr>
          <a:xfrm>
            <a:off x="4462272" y="1874519"/>
            <a:ext cx="32461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41"/>
          <p:cNvSpPr/>
          <p:nvPr/>
        </p:nvSpPr>
        <p:spPr>
          <a:xfrm>
            <a:off x="4690872" y="2139696"/>
            <a:ext cx="274320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CHECK</a:t>
            </a:r>
          </a:p>
        </p:txBody>
      </p:sp>
      <p:sp>
        <p:nvSpPr>
          <p:cNvPr id="11" name="TextBox 51"/>
          <p:cNvSpPr/>
          <p:nvPr/>
        </p:nvSpPr>
        <p:spPr>
          <a:xfrm>
            <a:off x="4690872" y="2697480"/>
            <a:ext cx="2697480" cy="74980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Catch failures close to the change</a:t>
            </a:r>
          </a:p>
        </p:txBody>
      </p:sp>
      <p:sp>
        <p:nvSpPr>
          <p:cNvPr id="12" name="TextBox 61"/>
          <p:cNvSpPr/>
          <p:nvPr/>
        </p:nvSpPr>
        <p:spPr>
          <a:xfrm>
            <a:off x="4690872" y="3657600"/>
            <a:ext cx="2697480" cy="9601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>
                <a:solidFill>
                  <a:srgbClr val="172033"/>
                </a:solidFill>
                <a:latin typeface="Aptos"/>
              </a:rPr>
              <a:t>Fast tests reduce the amount of code you have to reason about.</a:t>
            </a:r>
          </a:p>
        </p:txBody>
      </p:sp>
      <p:sp>
        <p:nvSpPr>
          <p:cNvPr id="13" name="Rect 32"/>
          <p:cNvSpPr/>
          <p:nvPr/>
        </p:nvSpPr>
        <p:spPr>
          <a:xfrm>
            <a:off x="8055864" y="1874519"/>
            <a:ext cx="32461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42"/>
          <p:cNvSpPr/>
          <p:nvPr/>
        </p:nvSpPr>
        <p:spPr>
          <a:xfrm>
            <a:off x="8284464" y="2139696"/>
            <a:ext cx="274320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LEARN</a:t>
            </a:r>
          </a:p>
        </p:txBody>
      </p:sp>
      <p:sp>
        <p:nvSpPr>
          <p:cNvPr id="15" name="TextBox 52"/>
          <p:cNvSpPr/>
          <p:nvPr/>
        </p:nvSpPr>
        <p:spPr>
          <a:xfrm>
            <a:off x="8284464" y="2697480"/>
            <a:ext cx="2697480" cy="74980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Turn failures into durable knowledge</a:t>
            </a:r>
          </a:p>
        </p:txBody>
      </p:sp>
      <p:sp>
        <p:nvSpPr>
          <p:cNvPr id="16" name="TextBox 62"/>
          <p:cNvSpPr/>
          <p:nvPr/>
        </p:nvSpPr>
        <p:spPr>
          <a:xfrm>
            <a:off x="8284464" y="3657600"/>
            <a:ext cx="2697480" cy="9601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>
                <a:solidFill>
                  <a:srgbClr val="172033"/>
                </a:solidFill>
                <a:latin typeface="Aptos"/>
              </a:rPr>
              <a:t>A regression test preserves the bug fix.</a:t>
            </a:r>
          </a:p>
        </p:txBody>
      </p:sp>
      <p:sp>
        <p:nvSpPr>
          <p:cNvPr id="17" name="TextBox 70"/>
          <p:cNvSpPr/>
          <p:nvPr/>
        </p:nvSpPr>
        <p:spPr>
          <a:xfrm>
            <a:off x="868680" y="5230368"/>
            <a:ext cx="1033272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ctr"/>
            <a:r>
              <a:rPr lang="en-US" sz="2000" b="1" i="0">
                <a:solidFill>
                  <a:srgbClr val="172033"/>
                </a:solidFill>
                <a:latin typeface="Aptos"/>
              </a:rPr>
              <a:t>Core principle: the cheaper it is to run a check, the more often you can use it.</a:t>
            </a:r>
          </a:p>
        </p:txBody>
      </p:sp>
      <p:sp>
        <p:nvSpPr>
          <p:cNvPr id="19" name="Line 903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904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1" name="TextBox 905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CI/CD turns local confidence into shared confidence</a:t>
            </a:r>
          </a:p>
        </p:txBody>
      </p:sp>
      <p:sp>
        <p:nvSpPr>
          <p:cNvPr id="4" name="Rect 20"/>
          <p:cNvSpPr/>
          <p:nvPr/>
        </p:nvSpPr>
        <p:spPr>
          <a:xfrm>
            <a:off x="640080" y="178308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30"/>
          <p:cNvSpPr/>
          <p:nvPr/>
        </p:nvSpPr>
        <p:spPr>
          <a:xfrm>
            <a:off x="841247" y="2011680"/>
            <a:ext cx="41148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1</a:t>
            </a:r>
          </a:p>
        </p:txBody>
      </p:sp>
      <p:sp>
        <p:nvSpPr>
          <p:cNvPr id="6" name="TextBox 40"/>
          <p:cNvSpPr/>
          <p:nvPr/>
        </p:nvSpPr>
        <p:spPr>
          <a:xfrm>
            <a:off x="1325880" y="1993392"/>
            <a:ext cx="15544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Change</a:t>
            </a:r>
          </a:p>
        </p:txBody>
      </p:sp>
      <p:sp>
        <p:nvSpPr>
          <p:cNvPr id="7" name="TextBox 50"/>
          <p:cNvSpPr/>
          <p:nvPr/>
        </p:nvSpPr>
        <p:spPr>
          <a:xfrm>
            <a:off x="841247" y="2670048"/>
            <a:ext cx="1965960" cy="9144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>
                <a:solidFill>
                  <a:srgbClr val="172033"/>
                </a:solidFill>
                <a:latin typeface="Aptos"/>
              </a:rPr>
              <a:t>Push a change to the repository</a:t>
            </a:r>
          </a:p>
        </p:txBody>
      </p:sp>
      <p:sp>
        <p:nvSpPr>
          <p:cNvPr id="8" name="Line 60"/>
          <p:cNvSpPr/>
          <p:nvPr/>
        </p:nvSpPr>
        <p:spPr>
          <a:xfrm>
            <a:off x="3081528" y="2971800"/>
            <a:ext cx="320039" cy="9144"/>
          </a:xfrm>
          <a:ln w="38100">
            <a:solidFill>
              <a:srgbClr val="176B5A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Rect 21"/>
          <p:cNvSpPr/>
          <p:nvPr/>
        </p:nvSpPr>
        <p:spPr>
          <a:xfrm>
            <a:off x="3456432" y="178308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31"/>
          <p:cNvSpPr/>
          <p:nvPr/>
        </p:nvSpPr>
        <p:spPr>
          <a:xfrm>
            <a:off x="3657600" y="2011680"/>
            <a:ext cx="41148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2</a:t>
            </a:r>
          </a:p>
        </p:txBody>
      </p:sp>
      <p:sp>
        <p:nvSpPr>
          <p:cNvPr id="11" name="TextBox 41"/>
          <p:cNvSpPr/>
          <p:nvPr/>
        </p:nvSpPr>
        <p:spPr>
          <a:xfrm>
            <a:off x="4142232" y="1993392"/>
            <a:ext cx="15544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Trigger</a:t>
            </a:r>
          </a:p>
        </p:txBody>
      </p:sp>
      <p:sp>
        <p:nvSpPr>
          <p:cNvPr id="12" name="TextBox 51"/>
          <p:cNvSpPr/>
          <p:nvPr/>
        </p:nvSpPr>
        <p:spPr>
          <a:xfrm>
            <a:off x="3657600" y="2670048"/>
            <a:ext cx="1965960" cy="9144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>
                <a:solidFill>
                  <a:srgbClr val="172033"/>
                </a:solidFill>
                <a:latin typeface="Aptos"/>
              </a:rPr>
              <a:t>CI starts on the repository event</a:t>
            </a:r>
          </a:p>
        </p:txBody>
      </p:sp>
      <p:sp>
        <p:nvSpPr>
          <p:cNvPr id="13" name="Line 61"/>
          <p:cNvSpPr/>
          <p:nvPr/>
        </p:nvSpPr>
        <p:spPr>
          <a:xfrm>
            <a:off x="5897880" y="2971800"/>
            <a:ext cx="320040" cy="9144"/>
          </a:xfrm>
          <a:ln w="38100">
            <a:solidFill>
              <a:srgbClr val="176B5A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14" name="Rect 22"/>
          <p:cNvSpPr/>
          <p:nvPr/>
        </p:nvSpPr>
        <p:spPr>
          <a:xfrm>
            <a:off x="6272784" y="178308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32"/>
          <p:cNvSpPr/>
          <p:nvPr/>
        </p:nvSpPr>
        <p:spPr>
          <a:xfrm>
            <a:off x="6473952" y="2011680"/>
            <a:ext cx="41148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3</a:t>
            </a:r>
          </a:p>
        </p:txBody>
      </p:sp>
      <p:sp>
        <p:nvSpPr>
          <p:cNvPr id="16" name="TextBox 42"/>
          <p:cNvSpPr/>
          <p:nvPr/>
        </p:nvSpPr>
        <p:spPr>
          <a:xfrm>
            <a:off x="6958584" y="1993392"/>
            <a:ext cx="15544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Verify</a:t>
            </a:r>
          </a:p>
        </p:txBody>
      </p:sp>
      <p:sp>
        <p:nvSpPr>
          <p:cNvPr id="17" name="TextBox 52"/>
          <p:cNvSpPr/>
          <p:nvPr/>
        </p:nvSpPr>
        <p:spPr>
          <a:xfrm>
            <a:off x="6473952" y="2670048"/>
            <a:ext cx="1965960" cy="9144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>
                <a:solidFill>
                  <a:srgbClr val="172033"/>
                </a:solidFill>
                <a:latin typeface="Aptos"/>
              </a:rPr>
              <a:t>Build, tests and other checks run</a:t>
            </a:r>
          </a:p>
        </p:txBody>
      </p:sp>
      <p:sp>
        <p:nvSpPr>
          <p:cNvPr id="18" name="Line 62"/>
          <p:cNvSpPr/>
          <p:nvPr/>
        </p:nvSpPr>
        <p:spPr>
          <a:xfrm>
            <a:off x="8714232" y="2971800"/>
            <a:ext cx="320039" cy="9144"/>
          </a:xfrm>
          <a:ln w="38100">
            <a:solidFill>
              <a:srgbClr val="176B5A"/>
            </a:solidFill>
          </a:ln>
        </p:spPr>
        <p:txBody>
          <a:bodyPr/>
          <a:lstStyle/>
          <a:p>
            <a:endParaRPr lang="en-US" sz="2000"/>
          </a:p>
        </p:txBody>
      </p:sp>
      <p:sp>
        <p:nvSpPr>
          <p:cNvPr id="19" name="Rect 23"/>
          <p:cNvSpPr/>
          <p:nvPr/>
        </p:nvSpPr>
        <p:spPr>
          <a:xfrm>
            <a:off x="9089136" y="1783080"/>
            <a:ext cx="242316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33"/>
          <p:cNvSpPr/>
          <p:nvPr/>
        </p:nvSpPr>
        <p:spPr>
          <a:xfrm>
            <a:off x="9290304" y="2011680"/>
            <a:ext cx="41148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4</a:t>
            </a:r>
          </a:p>
        </p:txBody>
      </p:sp>
      <p:sp>
        <p:nvSpPr>
          <p:cNvPr id="21" name="TextBox 43"/>
          <p:cNvSpPr/>
          <p:nvPr/>
        </p:nvSpPr>
        <p:spPr>
          <a:xfrm>
            <a:off x="9774936" y="1993392"/>
            <a:ext cx="155448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Report</a:t>
            </a:r>
          </a:p>
        </p:txBody>
      </p:sp>
      <p:sp>
        <p:nvSpPr>
          <p:cNvPr id="22" name="TextBox 53"/>
          <p:cNvSpPr/>
          <p:nvPr/>
        </p:nvSpPr>
        <p:spPr>
          <a:xfrm>
            <a:off x="9290304" y="2670048"/>
            <a:ext cx="1965960" cy="9144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>
                <a:solidFill>
                  <a:srgbClr val="172033"/>
                </a:solidFill>
                <a:latin typeface="Aptos"/>
              </a:rPr>
              <a:t>Results appear where you can act</a:t>
            </a:r>
          </a:p>
        </p:txBody>
      </p:sp>
      <p:sp>
        <p:nvSpPr>
          <p:cNvPr id="23" name="Rect 70"/>
          <p:cNvSpPr/>
          <p:nvPr/>
        </p:nvSpPr>
        <p:spPr>
          <a:xfrm>
            <a:off x="640080" y="4672584"/>
            <a:ext cx="10927080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Box 71"/>
          <p:cNvSpPr/>
          <p:nvPr/>
        </p:nvSpPr>
        <p:spPr>
          <a:xfrm>
            <a:off x="667512" y="4855464"/>
            <a:ext cx="1042416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ctr"/>
            <a:r>
              <a:rPr lang="en-US" b="1" i="0">
                <a:solidFill>
                  <a:srgbClr val="172033"/>
                </a:solidFill>
                <a:latin typeface="Aptos"/>
              </a:rPr>
              <a:t>Best practice: keep the CI path predictable, fast enough to use routinely, and visible to the team.</a:t>
            </a:r>
          </a:p>
        </p:txBody>
      </p:sp>
      <p:sp>
        <p:nvSpPr>
          <p:cNvPr id="26" name="Line 905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906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8" name="TextBox 907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DF2A6-C539-F132-145F-16953B7AE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>
            <a:extLst>
              <a:ext uri="{FF2B5EF4-FFF2-40B4-BE49-F238E27FC236}">
                <a16:creationId xmlns:a16="http://schemas.microsoft.com/office/drawing/2014/main" id="{E202A9FD-145D-9DE8-A9D1-FAF224ABE7D3}"/>
              </a:ext>
            </a:extLst>
          </p:cNvPr>
          <p:cNvSpPr/>
          <p:nvPr/>
        </p:nvSpPr>
        <p:spPr>
          <a:xfrm>
            <a:off x="594360" y="320040"/>
            <a:ext cx="10972800" cy="25603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endParaRPr lang="en-US" sz="1050" b="1" i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DDEE65FF-61FE-3E32-7C68-55279EB175A3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Always check if </a:t>
            </a:r>
            <a:r>
              <a:rPr lang="en-US" sz="3080" b="1">
                <a:solidFill>
                  <a:srgbClr val="172033"/>
                </a:solidFill>
                <a:latin typeface="Aptos"/>
              </a:rPr>
              <a:t>the resulting app</a:t>
            </a:r>
            <a:r>
              <a:rPr lang="en-US" sz="3080" b="1" i="0">
                <a:solidFill>
                  <a:srgbClr val="172033"/>
                </a:solidFill>
                <a:latin typeface="Aptos"/>
              </a:rPr>
              <a:t> makes sense!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DBA9C4E-5260-CB17-776F-9B34FD6822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83" t="12331" r="1903" b="1605"/>
          <a:stretch>
            <a:fillRect/>
          </a:stretch>
        </p:blipFill>
        <p:spPr>
          <a:xfrm>
            <a:off x="3817134" y="1806364"/>
            <a:ext cx="4557732" cy="324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28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 dirty="0">
                <a:solidFill>
                  <a:srgbClr val="172033"/>
                </a:solidFill>
                <a:latin typeface="Aptos"/>
              </a:rPr>
              <a:t>Why this script is awkward to test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554480"/>
            <a:ext cx="6675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data  = np.loadtxt('data.txt')</a:t>
            </a:r>
          </a:p>
          <a:p>
            <a:pPr marL="0" lvl="0" indent="0" algn="l"/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model = np.loadtxt('</a:t>
            </a:r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design.txt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')</a:t>
            </a:r>
          </a:p>
          <a:p>
            <a:pPr marL="0" lvl="0" indent="0" algn="l"/>
            <a:endParaRPr lang="en-US" sz="1595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fit   = </a:t>
            </a:r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np.linalg.inv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model.T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 @ model) @ </a:t>
            </a:r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model.T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    	@ data</a:t>
            </a:r>
          </a:p>
          <a:p>
            <a:pPr marL="0" lvl="0" indent="0" algn="l"/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error = data - (model @ fit)</a:t>
            </a:r>
          </a:p>
          <a:p>
            <a:pPr marL="0" lvl="0" indent="0" algn="l"/>
            <a:endParaRPr lang="en-US" sz="1595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np.savetxt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('</a:t>
            </a:r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pes.txt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', fit)</a:t>
            </a:r>
          </a:p>
          <a:p>
            <a:pPr marL="0" lvl="0" indent="0" algn="l"/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np.savetxt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('</a:t>
            </a:r>
            <a:r>
              <a:rPr lang="en-US" sz="1595" b="0" i="0" dirty="0" err="1">
                <a:solidFill>
                  <a:srgbClr val="172033"/>
                </a:solidFill>
                <a:latin typeface="Courier New"/>
              </a:rPr>
              <a:t>residuals.txt</a:t>
            </a:r>
            <a:r>
              <a:rPr lang="en-US" sz="1595" b="0" i="0" dirty="0">
                <a:solidFill>
                  <a:srgbClr val="172033"/>
                </a:solidFill>
                <a:latin typeface="Courier New"/>
              </a:rPr>
              <a:t>', error)</a:t>
            </a:r>
          </a:p>
        </p:txBody>
      </p:sp>
      <p:sp>
        <p:nvSpPr>
          <p:cNvPr id="5" name="Rect 30"/>
          <p:cNvSpPr/>
          <p:nvPr/>
        </p:nvSpPr>
        <p:spPr>
          <a:xfrm>
            <a:off x="7543800" y="1554480"/>
            <a:ext cx="4023360" cy="1234440"/>
          </a:xfrm>
          <a:prstGeom prst="roundRect">
            <a:avLst/>
          </a:prstGeom>
          <a:solidFill>
            <a:srgbClr val="FFFFFF"/>
          </a:solidFill>
          <a:ln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1"/>
          <p:cNvSpPr/>
          <p:nvPr/>
        </p:nvSpPr>
        <p:spPr>
          <a:xfrm>
            <a:off x="7948747" y="1810512"/>
            <a:ext cx="3474720" cy="402336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I/O + maths are coupled</a:t>
            </a:r>
          </a:p>
        </p:txBody>
      </p:sp>
      <p:sp>
        <p:nvSpPr>
          <p:cNvPr id="7" name="TextBox 32"/>
          <p:cNvSpPr/>
          <p:nvPr/>
        </p:nvSpPr>
        <p:spPr>
          <a:xfrm>
            <a:off x="7948747" y="2286000"/>
            <a:ext cx="338328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00" b="0" i="0">
                <a:solidFill>
                  <a:srgbClr val="172033"/>
                </a:solidFill>
                <a:latin typeface="Aptos"/>
              </a:rPr>
              <a:t>Every test must run the whole script</a:t>
            </a:r>
          </a:p>
        </p:txBody>
      </p:sp>
      <p:sp>
        <p:nvSpPr>
          <p:cNvPr id="8" name="Rect 33"/>
          <p:cNvSpPr/>
          <p:nvPr/>
        </p:nvSpPr>
        <p:spPr>
          <a:xfrm>
            <a:off x="7543800" y="2999232"/>
            <a:ext cx="4023360" cy="1938528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34"/>
          <p:cNvSpPr/>
          <p:nvPr/>
        </p:nvSpPr>
        <p:spPr>
          <a:xfrm>
            <a:off x="7948747" y="3246120"/>
            <a:ext cx="347472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What each test needs</a:t>
            </a:r>
          </a:p>
        </p:txBody>
      </p:sp>
      <p:sp>
        <p:nvSpPr>
          <p:cNvPr id="10" name="TextBox 35"/>
          <p:cNvSpPr/>
          <p:nvPr/>
        </p:nvSpPr>
        <p:spPr>
          <a:xfrm>
            <a:off x="7994467" y="3703320"/>
            <a:ext cx="3200400" cy="2743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00" b="0" i="0">
                <a:solidFill>
                  <a:srgbClr val="172033"/>
                </a:solidFill>
                <a:latin typeface="Aptos"/>
              </a:rPr>
              <a:t>1  create input files</a:t>
            </a:r>
          </a:p>
        </p:txBody>
      </p:sp>
      <p:sp>
        <p:nvSpPr>
          <p:cNvPr id="11" name="TextBox 36"/>
          <p:cNvSpPr/>
          <p:nvPr/>
        </p:nvSpPr>
        <p:spPr>
          <a:xfrm>
            <a:off x="7994467" y="4032504"/>
            <a:ext cx="3200400" cy="2743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00" b="0" i="0">
                <a:solidFill>
                  <a:srgbClr val="172033"/>
                </a:solidFill>
                <a:latin typeface="Aptos"/>
              </a:rPr>
              <a:t>2  run a process</a:t>
            </a:r>
          </a:p>
        </p:txBody>
      </p:sp>
      <p:sp>
        <p:nvSpPr>
          <p:cNvPr id="12" name="TextBox 37"/>
          <p:cNvSpPr/>
          <p:nvPr/>
        </p:nvSpPr>
        <p:spPr>
          <a:xfrm>
            <a:off x="7994467" y="4361688"/>
            <a:ext cx="3200400" cy="2743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00" b="0" i="0">
                <a:solidFill>
                  <a:srgbClr val="172033"/>
                </a:solidFill>
                <a:latin typeface="Aptos"/>
              </a:rPr>
              <a:t>3  inspect output files</a:t>
            </a:r>
          </a:p>
        </p:txBody>
      </p:sp>
      <p:sp>
        <p:nvSpPr>
          <p:cNvPr id="13" name="TextBox 40"/>
          <p:cNvSpPr/>
          <p:nvPr/>
        </p:nvSpPr>
        <p:spPr>
          <a:xfrm>
            <a:off x="594360" y="5989320"/>
            <a:ext cx="10789920" cy="34747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Problem: the structure makes programmatic testing complicated.</a:t>
            </a:r>
          </a:p>
        </p:txBody>
      </p:sp>
      <p:sp>
        <p:nvSpPr>
          <p:cNvPr id="14" name="Line 903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904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6" name="TextBox 905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Refactor the core logic into a function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4754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21"/>
          <p:cNvSpPr/>
          <p:nvPr/>
        </p:nvSpPr>
        <p:spPr>
          <a:xfrm>
            <a:off x="868680" y="1874519"/>
            <a:ext cx="4206240" cy="3657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 dirty="0">
                <a:solidFill>
                  <a:srgbClr val="172033"/>
                </a:solidFill>
                <a:latin typeface="Aptos"/>
              </a:rPr>
              <a:t>CORE LOGIC</a:t>
            </a:r>
          </a:p>
        </p:txBody>
      </p:sp>
      <p:sp>
        <p:nvSpPr>
          <p:cNvPr id="6" name="Rect 22"/>
          <p:cNvSpPr/>
          <p:nvPr/>
        </p:nvSpPr>
        <p:spPr>
          <a:xfrm>
            <a:off x="841248" y="2423160"/>
            <a:ext cx="422452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def </a:t>
            </a:r>
            <a:r>
              <a:rPr lang="en-US" sz="1375" b="0" i="0" err="1">
                <a:solidFill>
                  <a:srgbClr val="172033"/>
                </a:solidFill>
                <a:latin typeface="Courier New"/>
              </a:rPr>
              <a:t>ols</a:t>
            </a:r>
            <a:r>
              <a:rPr lang="en-US" sz="1375" b="0" i="0">
                <a:solidFill>
                  <a:srgbClr val="172033"/>
                </a:solidFill>
                <a:latin typeface="Courier New"/>
              </a:rPr>
              <a:t>(data, model):</a:t>
            </a:r>
          </a:p>
          <a:p>
            <a:pPr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</a:t>
            </a:r>
          </a:p>
          <a:p>
            <a:pPr algn="l"/>
            <a:r>
              <a:rPr lang="en-US" sz="1375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375" b="0" i="0">
                <a:solidFill>
                  <a:srgbClr val="172033"/>
                </a:solidFill>
                <a:latin typeface="Courier New"/>
              </a:rPr>
              <a:t>fit = </a:t>
            </a:r>
            <a:r>
              <a:rPr lang="en-US" sz="1375" b="0" i="0" err="1">
                <a:solidFill>
                  <a:srgbClr val="172033"/>
                </a:solidFill>
                <a:latin typeface="Courier New"/>
              </a:rPr>
              <a:t>np.linalg.inv</a:t>
            </a:r>
            <a:r>
              <a:rPr lang="en-US" sz="1375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380" err="1">
                <a:latin typeface="Courier New" panose="02070309020205020404" pitchFamily="49" charset="0"/>
                <a:cs typeface="Courier New" panose="02070309020205020404" pitchFamily="49" charset="0"/>
              </a:rPr>
              <a:t>model.T</a:t>
            </a:r>
            <a:r>
              <a:rPr lang="en-US" sz="1380">
                <a:latin typeface="Courier New" panose="02070309020205020404" pitchFamily="49" charset="0"/>
                <a:cs typeface="Courier New" panose="02070309020205020404" pitchFamily="49" charset="0"/>
              </a:rPr>
              <a:t> @ 		model) @ </a:t>
            </a:r>
            <a:r>
              <a:rPr lang="en-US" sz="1380" err="1">
                <a:latin typeface="Courier New" panose="02070309020205020404" pitchFamily="49" charset="0"/>
                <a:cs typeface="Courier New" panose="02070309020205020404" pitchFamily="49" charset="0"/>
              </a:rPr>
              <a:t>model.T</a:t>
            </a:r>
            <a:r>
              <a:rPr lang="en-US" sz="1380">
                <a:latin typeface="Courier New" panose="02070309020205020404" pitchFamily="49" charset="0"/>
                <a:cs typeface="Courier New" panose="02070309020205020404" pitchFamily="49" charset="0"/>
              </a:rPr>
              <a:t> @ data</a:t>
            </a:r>
            <a:endParaRPr lang="en-US" sz="1375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error = data - (model @ fit)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return fit, error</a:t>
            </a:r>
          </a:p>
        </p:txBody>
      </p:sp>
      <p:sp>
        <p:nvSpPr>
          <p:cNvPr id="7" name="Rect 30"/>
          <p:cNvSpPr/>
          <p:nvPr/>
        </p:nvSpPr>
        <p:spPr>
          <a:xfrm>
            <a:off x="6492240" y="1600200"/>
            <a:ext cx="50749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31"/>
          <p:cNvSpPr/>
          <p:nvPr/>
        </p:nvSpPr>
        <p:spPr>
          <a:xfrm>
            <a:off x="6766560" y="1874519"/>
            <a:ext cx="4480560" cy="3657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 dirty="0">
                <a:solidFill>
                  <a:srgbClr val="172033"/>
                </a:solidFill>
                <a:latin typeface="Aptos"/>
              </a:rPr>
              <a:t>I/O BOUNDARY</a:t>
            </a:r>
          </a:p>
        </p:txBody>
      </p:sp>
      <p:sp>
        <p:nvSpPr>
          <p:cNvPr id="9" name="Rect 32"/>
          <p:cNvSpPr/>
          <p:nvPr/>
        </p:nvSpPr>
        <p:spPr>
          <a:xfrm>
            <a:off x="6748272" y="2423160"/>
            <a:ext cx="446227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def main(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args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=None):</a:t>
            </a: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</a:t>
            </a:r>
          </a:p>
          <a:p>
            <a:pPr marL="0" lvl="0" indent="0" algn="l"/>
            <a:r>
              <a:rPr lang="en-US" sz="1239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data = 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np.loadtxt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(datafile)</a:t>
            </a:r>
          </a:p>
          <a:p>
            <a:pPr marL="0" lvl="0" indent="0" algn="l"/>
            <a:r>
              <a:rPr lang="en-US" sz="1239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model = 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np.loadtxt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designfile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)</a:t>
            </a:r>
          </a:p>
          <a:p>
            <a:pPr marL="0" lvl="0" indent="0" algn="l"/>
            <a:endParaRPr lang="en-US" sz="1239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fit, error = </a:t>
            </a:r>
            <a:r>
              <a:rPr lang="en-US" sz="1239" b="1" i="0" err="1">
                <a:solidFill>
                  <a:srgbClr val="172033"/>
                </a:solidFill>
                <a:latin typeface="Courier New"/>
              </a:rPr>
              <a:t>ols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(data, model)</a:t>
            </a: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</a:t>
            </a: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np.savetxt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fitfile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, fit)</a:t>
            </a:r>
          </a:p>
          <a:p>
            <a:pPr algn="l"/>
            <a:r>
              <a:rPr lang="en-US" sz="1239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err="1">
                <a:solidFill>
                  <a:srgbClr val="172033"/>
                </a:solidFill>
                <a:latin typeface="Courier New"/>
              </a:rPr>
              <a:t>np.savetxt</a:t>
            </a:r>
            <a:r>
              <a:rPr lang="en-US" sz="1239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239" err="1">
                <a:solidFill>
                  <a:srgbClr val="172033"/>
                </a:solidFill>
                <a:latin typeface="Courier New"/>
              </a:rPr>
              <a:t>errfile</a:t>
            </a:r>
            <a:r>
              <a:rPr lang="en-US" sz="1239">
                <a:solidFill>
                  <a:srgbClr val="172033"/>
                </a:solidFill>
                <a:latin typeface="Courier New"/>
              </a:rPr>
              <a:t>, error)</a:t>
            </a:r>
          </a:p>
        </p:txBody>
      </p:sp>
      <p:sp>
        <p:nvSpPr>
          <p:cNvPr id="10" name="Line 40"/>
          <p:cNvSpPr/>
          <p:nvPr/>
        </p:nvSpPr>
        <p:spPr>
          <a:xfrm>
            <a:off x="5394960" y="2926080"/>
            <a:ext cx="1005839" cy="9144"/>
          </a:xfrm>
          <a:ln w="50800">
            <a:solidFill>
              <a:srgbClr val="176B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41"/>
          <p:cNvSpPr/>
          <p:nvPr/>
        </p:nvSpPr>
        <p:spPr>
          <a:xfrm>
            <a:off x="5394960" y="2423160"/>
            <a:ext cx="100584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ctr"/>
            <a:r>
              <a:rPr lang="en-US" b="1" i="0" dirty="0">
                <a:solidFill>
                  <a:srgbClr val="172033"/>
                </a:solidFill>
                <a:latin typeface="Aptos"/>
              </a:rPr>
              <a:t>CALL</a:t>
            </a:r>
          </a:p>
        </p:txBody>
      </p:sp>
      <p:sp>
        <p:nvSpPr>
          <p:cNvPr id="12" name="TextBox 42"/>
          <p:cNvSpPr/>
          <p:nvPr/>
        </p:nvSpPr>
        <p:spPr>
          <a:xfrm>
            <a:off x="594360" y="5897880"/>
            <a:ext cx="1097280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Now both layers can be invoked directly in tests.</a:t>
            </a:r>
          </a:p>
        </p:txBody>
      </p:sp>
      <p:sp>
        <p:nvSpPr>
          <p:cNvPr id="13" name="Line 904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905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5" name="TextBox 906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1EC95A-04A3-F7F9-975C-896644113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07F5E9BB-1A9A-46B3-AA0C-420790E6C81B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Refactor the core logic into a function</a:t>
            </a:r>
          </a:p>
        </p:txBody>
      </p:sp>
      <p:sp>
        <p:nvSpPr>
          <p:cNvPr id="4" name="Rect 20">
            <a:extLst>
              <a:ext uri="{FF2B5EF4-FFF2-40B4-BE49-F238E27FC236}">
                <a16:creationId xmlns:a16="http://schemas.microsoft.com/office/drawing/2014/main" id="{A490D65C-900F-2C3A-1B1D-F3EF448F767E}"/>
              </a:ext>
            </a:extLst>
          </p:cNvPr>
          <p:cNvSpPr/>
          <p:nvPr/>
        </p:nvSpPr>
        <p:spPr>
          <a:xfrm>
            <a:off x="594360" y="1600200"/>
            <a:ext cx="47548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21">
            <a:extLst>
              <a:ext uri="{FF2B5EF4-FFF2-40B4-BE49-F238E27FC236}">
                <a16:creationId xmlns:a16="http://schemas.microsoft.com/office/drawing/2014/main" id="{E0986C4B-3E79-B288-86B3-04ED6B8E7D85}"/>
              </a:ext>
            </a:extLst>
          </p:cNvPr>
          <p:cNvSpPr/>
          <p:nvPr/>
        </p:nvSpPr>
        <p:spPr>
          <a:xfrm>
            <a:off x="868680" y="1874519"/>
            <a:ext cx="4206240" cy="3657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 dirty="0">
                <a:solidFill>
                  <a:srgbClr val="172033"/>
                </a:solidFill>
                <a:latin typeface="Aptos"/>
              </a:rPr>
              <a:t>CORE LOGIC</a:t>
            </a:r>
          </a:p>
        </p:txBody>
      </p:sp>
      <p:sp>
        <p:nvSpPr>
          <p:cNvPr id="6" name="Rect 22">
            <a:extLst>
              <a:ext uri="{FF2B5EF4-FFF2-40B4-BE49-F238E27FC236}">
                <a16:creationId xmlns:a16="http://schemas.microsoft.com/office/drawing/2014/main" id="{759781BC-8D39-7C8B-69CE-271427D2C863}"/>
              </a:ext>
            </a:extLst>
          </p:cNvPr>
          <p:cNvSpPr/>
          <p:nvPr/>
        </p:nvSpPr>
        <p:spPr>
          <a:xfrm>
            <a:off x="841248" y="2423160"/>
            <a:ext cx="4224528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def </a:t>
            </a:r>
            <a:r>
              <a:rPr lang="en-US" sz="1375" b="0" i="0" err="1">
                <a:solidFill>
                  <a:srgbClr val="172033"/>
                </a:solidFill>
                <a:latin typeface="Courier New"/>
              </a:rPr>
              <a:t>ols</a:t>
            </a:r>
            <a:r>
              <a:rPr lang="en-US" sz="1375" b="0" i="0">
                <a:solidFill>
                  <a:srgbClr val="172033"/>
                </a:solidFill>
                <a:latin typeface="Courier New"/>
              </a:rPr>
              <a:t>(data, model):</a:t>
            </a:r>
          </a:p>
          <a:p>
            <a:pPr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</a:t>
            </a:r>
          </a:p>
          <a:p>
            <a:pPr algn="l"/>
            <a:r>
              <a:rPr lang="en-US" sz="1375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375" b="0" i="0">
                <a:solidFill>
                  <a:srgbClr val="172033"/>
                </a:solidFill>
                <a:latin typeface="Courier New"/>
              </a:rPr>
              <a:t>fit = </a:t>
            </a:r>
            <a:r>
              <a:rPr lang="en-US" sz="1375" b="0" i="0" err="1">
                <a:solidFill>
                  <a:srgbClr val="172033"/>
                </a:solidFill>
                <a:latin typeface="Courier New"/>
              </a:rPr>
              <a:t>np.linalg.inv</a:t>
            </a:r>
            <a:r>
              <a:rPr lang="en-US" sz="1375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380" err="1">
                <a:latin typeface="Courier New" panose="02070309020205020404" pitchFamily="49" charset="0"/>
                <a:cs typeface="Courier New" panose="02070309020205020404" pitchFamily="49" charset="0"/>
              </a:rPr>
              <a:t>model.T</a:t>
            </a:r>
            <a:r>
              <a:rPr lang="en-US" sz="1380">
                <a:latin typeface="Courier New" panose="02070309020205020404" pitchFamily="49" charset="0"/>
                <a:cs typeface="Courier New" panose="02070309020205020404" pitchFamily="49" charset="0"/>
              </a:rPr>
              <a:t> @ 		model) @ </a:t>
            </a:r>
            <a:r>
              <a:rPr lang="en-US" sz="1380" err="1">
                <a:latin typeface="Courier New" panose="02070309020205020404" pitchFamily="49" charset="0"/>
                <a:cs typeface="Courier New" panose="02070309020205020404" pitchFamily="49" charset="0"/>
              </a:rPr>
              <a:t>model.T</a:t>
            </a:r>
            <a:r>
              <a:rPr lang="en-US" sz="1380">
                <a:latin typeface="Courier New" panose="02070309020205020404" pitchFamily="49" charset="0"/>
                <a:cs typeface="Courier New" panose="02070309020205020404" pitchFamily="49" charset="0"/>
              </a:rPr>
              <a:t> @ data</a:t>
            </a:r>
            <a:endParaRPr lang="en-US" sz="1375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error = data - (model @ fit)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return fit, error</a:t>
            </a:r>
          </a:p>
        </p:txBody>
      </p:sp>
      <p:sp>
        <p:nvSpPr>
          <p:cNvPr id="7" name="Rect 30">
            <a:extLst>
              <a:ext uri="{FF2B5EF4-FFF2-40B4-BE49-F238E27FC236}">
                <a16:creationId xmlns:a16="http://schemas.microsoft.com/office/drawing/2014/main" id="{1C640DF0-DD2F-1F2B-2A2B-7471DE7CDE80}"/>
              </a:ext>
            </a:extLst>
          </p:cNvPr>
          <p:cNvSpPr/>
          <p:nvPr/>
        </p:nvSpPr>
        <p:spPr>
          <a:xfrm>
            <a:off x="6492240" y="1600200"/>
            <a:ext cx="50749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31">
            <a:extLst>
              <a:ext uri="{FF2B5EF4-FFF2-40B4-BE49-F238E27FC236}">
                <a16:creationId xmlns:a16="http://schemas.microsoft.com/office/drawing/2014/main" id="{0A1E1236-A4F5-28B8-1DBA-E25ED33C82D6}"/>
              </a:ext>
            </a:extLst>
          </p:cNvPr>
          <p:cNvSpPr/>
          <p:nvPr/>
        </p:nvSpPr>
        <p:spPr>
          <a:xfrm>
            <a:off x="6766560" y="1874519"/>
            <a:ext cx="4480560" cy="3657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 dirty="0">
                <a:solidFill>
                  <a:srgbClr val="172033"/>
                </a:solidFill>
                <a:latin typeface="Aptos"/>
              </a:rPr>
              <a:t>I/O BOUNDARY</a:t>
            </a:r>
          </a:p>
        </p:txBody>
      </p:sp>
      <p:sp>
        <p:nvSpPr>
          <p:cNvPr id="9" name="Rect 32">
            <a:extLst>
              <a:ext uri="{FF2B5EF4-FFF2-40B4-BE49-F238E27FC236}">
                <a16:creationId xmlns:a16="http://schemas.microsoft.com/office/drawing/2014/main" id="{5E2688F9-FBAA-9F60-8E84-C9A5941B5EAA}"/>
              </a:ext>
            </a:extLst>
          </p:cNvPr>
          <p:cNvSpPr/>
          <p:nvPr/>
        </p:nvSpPr>
        <p:spPr>
          <a:xfrm>
            <a:off x="6748272" y="2423160"/>
            <a:ext cx="4462272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def main(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args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=None):</a:t>
            </a: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</a:t>
            </a:r>
          </a:p>
          <a:p>
            <a:pPr marL="0" lvl="0" indent="0" algn="l"/>
            <a:r>
              <a:rPr lang="en-US" sz="1239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data = 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np.loadtxt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(datafile)</a:t>
            </a:r>
          </a:p>
          <a:p>
            <a:pPr marL="0" lvl="0" indent="0" algn="l"/>
            <a:r>
              <a:rPr lang="en-US" sz="1239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model = 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np.loadtxt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designfile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)</a:t>
            </a:r>
          </a:p>
          <a:p>
            <a:pPr marL="0" lvl="0" indent="0" algn="l"/>
            <a:endParaRPr lang="en-US" sz="1239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fit, error = </a:t>
            </a:r>
            <a:r>
              <a:rPr lang="en-US" sz="1239" b="1" i="0" err="1">
                <a:solidFill>
                  <a:srgbClr val="172033"/>
                </a:solidFill>
                <a:latin typeface="Courier New"/>
              </a:rPr>
              <a:t>ols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(data, model)</a:t>
            </a: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</a:t>
            </a:r>
          </a:p>
          <a:p>
            <a:pPr marL="0" lvl="0" indent="0" algn="l"/>
            <a:r>
              <a:rPr lang="en-US" sz="1239" b="0" i="0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np.savetxt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239" b="0" i="0" err="1">
                <a:solidFill>
                  <a:srgbClr val="172033"/>
                </a:solidFill>
                <a:latin typeface="Courier New"/>
              </a:rPr>
              <a:t>fitfile</a:t>
            </a:r>
            <a:r>
              <a:rPr lang="en-US" sz="1239" b="0" i="0">
                <a:solidFill>
                  <a:srgbClr val="172033"/>
                </a:solidFill>
                <a:latin typeface="Courier New"/>
              </a:rPr>
              <a:t>, fit)</a:t>
            </a:r>
          </a:p>
          <a:p>
            <a:pPr algn="l"/>
            <a:r>
              <a:rPr lang="en-US" sz="1239">
                <a:solidFill>
                  <a:srgbClr val="172033"/>
                </a:solidFill>
                <a:latin typeface="Courier New"/>
              </a:rPr>
              <a:t>    </a:t>
            </a:r>
            <a:r>
              <a:rPr lang="en-US" sz="1239" err="1">
                <a:solidFill>
                  <a:srgbClr val="172033"/>
                </a:solidFill>
                <a:latin typeface="Courier New"/>
              </a:rPr>
              <a:t>np.savetxt</a:t>
            </a:r>
            <a:r>
              <a:rPr lang="en-US" sz="1239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239" err="1">
                <a:solidFill>
                  <a:srgbClr val="172033"/>
                </a:solidFill>
                <a:latin typeface="Courier New"/>
              </a:rPr>
              <a:t>errfile</a:t>
            </a:r>
            <a:r>
              <a:rPr lang="en-US" sz="1239">
                <a:solidFill>
                  <a:srgbClr val="172033"/>
                </a:solidFill>
                <a:latin typeface="Courier New"/>
              </a:rPr>
              <a:t>, error)</a:t>
            </a:r>
          </a:p>
        </p:txBody>
      </p:sp>
      <p:sp>
        <p:nvSpPr>
          <p:cNvPr id="10" name="Line 40">
            <a:extLst>
              <a:ext uri="{FF2B5EF4-FFF2-40B4-BE49-F238E27FC236}">
                <a16:creationId xmlns:a16="http://schemas.microsoft.com/office/drawing/2014/main" id="{00D78A6E-9EA0-A592-47D5-0A164526F6E6}"/>
              </a:ext>
            </a:extLst>
          </p:cNvPr>
          <p:cNvSpPr/>
          <p:nvPr/>
        </p:nvSpPr>
        <p:spPr>
          <a:xfrm>
            <a:off x="5394960" y="2926080"/>
            <a:ext cx="1005839" cy="9144"/>
          </a:xfrm>
          <a:ln w="50800">
            <a:solidFill>
              <a:srgbClr val="176B5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41">
            <a:extLst>
              <a:ext uri="{FF2B5EF4-FFF2-40B4-BE49-F238E27FC236}">
                <a16:creationId xmlns:a16="http://schemas.microsoft.com/office/drawing/2014/main" id="{19B6CA16-232E-E41E-2830-4BA8A3A90A71}"/>
              </a:ext>
            </a:extLst>
          </p:cNvPr>
          <p:cNvSpPr/>
          <p:nvPr/>
        </p:nvSpPr>
        <p:spPr>
          <a:xfrm>
            <a:off x="5394960" y="2423160"/>
            <a:ext cx="100584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ctr"/>
            <a:r>
              <a:rPr lang="en-US" b="1" i="0" dirty="0">
                <a:solidFill>
                  <a:srgbClr val="172033"/>
                </a:solidFill>
                <a:latin typeface="Aptos"/>
              </a:rPr>
              <a:t>CALL</a:t>
            </a:r>
          </a:p>
        </p:txBody>
      </p:sp>
      <p:sp>
        <p:nvSpPr>
          <p:cNvPr id="12" name="TextBox 42">
            <a:extLst>
              <a:ext uri="{FF2B5EF4-FFF2-40B4-BE49-F238E27FC236}">
                <a16:creationId xmlns:a16="http://schemas.microsoft.com/office/drawing/2014/main" id="{EAE2B834-19A6-56E0-8AB0-E53C9BE52D5C}"/>
              </a:ext>
            </a:extLst>
          </p:cNvPr>
          <p:cNvSpPr/>
          <p:nvPr/>
        </p:nvSpPr>
        <p:spPr>
          <a:xfrm>
            <a:off x="594360" y="5897880"/>
            <a:ext cx="1097280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Now both layers can be invoked directly in tests.</a:t>
            </a:r>
          </a:p>
        </p:txBody>
      </p:sp>
      <p:sp>
        <p:nvSpPr>
          <p:cNvPr id="13" name="Line 904">
            <a:extLst>
              <a:ext uri="{FF2B5EF4-FFF2-40B4-BE49-F238E27FC236}">
                <a16:creationId xmlns:a16="http://schemas.microsoft.com/office/drawing/2014/main" id="{B6AF5303-578B-C898-ED1E-F8F9F6A42525}"/>
              </a:ext>
            </a:extLst>
          </p:cNvPr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905">
            <a:extLst>
              <a:ext uri="{FF2B5EF4-FFF2-40B4-BE49-F238E27FC236}">
                <a16:creationId xmlns:a16="http://schemas.microsoft.com/office/drawing/2014/main" id="{D6FF1D84-FACD-5554-F8B2-6F0EC07F65FA}"/>
              </a:ext>
            </a:extLst>
          </p:cNvPr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5" name="TextBox 906">
            <a:extLst>
              <a:ext uri="{FF2B5EF4-FFF2-40B4-BE49-F238E27FC236}">
                <a16:creationId xmlns:a16="http://schemas.microsoft.com/office/drawing/2014/main" id="{E272F3AB-EDFD-94AB-1374-30D098EDCDFC}"/>
              </a:ext>
            </a:extLst>
          </p:cNvPr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19A619-A2C8-D2EB-E2BF-CAC7AE81EF01}"/>
              </a:ext>
            </a:extLst>
          </p:cNvPr>
          <p:cNvSpPr txBox="1"/>
          <p:nvPr/>
        </p:nvSpPr>
        <p:spPr>
          <a:xfrm>
            <a:off x="7807569" y="823965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Complete working code in tutorial</a:t>
            </a:r>
          </a:p>
        </p:txBody>
      </p:sp>
    </p:spTree>
    <p:extLst>
      <p:ext uri="{BB962C8B-B14F-4D97-AF65-F5344CB8AC3E}">
        <p14:creationId xmlns:p14="http://schemas.microsoft.com/office/powerpoint/2010/main" val="831995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Design principles that pay off in testing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2523744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30"/>
          <p:cNvSpPr/>
          <p:nvPr/>
        </p:nvSpPr>
        <p:spPr>
          <a:xfrm>
            <a:off x="795528" y="1901952"/>
            <a:ext cx="2057400" cy="4572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1" i="0">
                <a:solidFill>
                  <a:srgbClr val="172033"/>
                </a:solidFill>
                <a:latin typeface="Aptos"/>
              </a:rPr>
              <a:t>Small</a:t>
            </a:r>
          </a:p>
        </p:txBody>
      </p:sp>
      <p:sp>
        <p:nvSpPr>
          <p:cNvPr id="6" name="TextBox 40"/>
          <p:cNvSpPr/>
          <p:nvPr/>
        </p:nvSpPr>
        <p:spPr>
          <a:xfrm>
            <a:off x="795528" y="2578608"/>
            <a:ext cx="2029968" cy="1463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One clear job</a:t>
            </a:r>
          </a:p>
        </p:txBody>
      </p:sp>
      <p:sp>
        <p:nvSpPr>
          <p:cNvPr id="8" name="Rect 21"/>
          <p:cNvSpPr/>
          <p:nvPr/>
        </p:nvSpPr>
        <p:spPr>
          <a:xfrm>
            <a:off x="3410712" y="1600200"/>
            <a:ext cx="2523744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31"/>
          <p:cNvSpPr/>
          <p:nvPr/>
        </p:nvSpPr>
        <p:spPr>
          <a:xfrm>
            <a:off x="3611880" y="1901952"/>
            <a:ext cx="2057400" cy="4572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1" i="0">
                <a:solidFill>
                  <a:srgbClr val="172033"/>
                </a:solidFill>
                <a:latin typeface="Aptos"/>
              </a:rPr>
              <a:t>Simple</a:t>
            </a:r>
          </a:p>
        </p:txBody>
      </p:sp>
      <p:sp>
        <p:nvSpPr>
          <p:cNvPr id="10" name="TextBox 41"/>
          <p:cNvSpPr/>
          <p:nvPr/>
        </p:nvSpPr>
        <p:spPr>
          <a:xfrm>
            <a:off x="3611880" y="2578608"/>
            <a:ext cx="2029968" cy="1463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Few moving parts</a:t>
            </a:r>
          </a:p>
        </p:txBody>
      </p:sp>
      <p:sp>
        <p:nvSpPr>
          <p:cNvPr id="12" name="Rect 22"/>
          <p:cNvSpPr/>
          <p:nvPr/>
        </p:nvSpPr>
        <p:spPr>
          <a:xfrm>
            <a:off x="6227064" y="1600200"/>
            <a:ext cx="2523744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32"/>
          <p:cNvSpPr/>
          <p:nvPr/>
        </p:nvSpPr>
        <p:spPr>
          <a:xfrm>
            <a:off x="6428232" y="1901952"/>
            <a:ext cx="2057400" cy="4572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1" i="0">
                <a:solidFill>
                  <a:srgbClr val="172033"/>
                </a:solidFill>
                <a:latin typeface="Aptos"/>
              </a:rPr>
              <a:t>Self-contained</a:t>
            </a:r>
          </a:p>
        </p:txBody>
      </p:sp>
      <p:sp>
        <p:nvSpPr>
          <p:cNvPr id="14" name="TextBox 42"/>
          <p:cNvSpPr/>
          <p:nvPr/>
        </p:nvSpPr>
        <p:spPr>
          <a:xfrm>
            <a:off x="6428232" y="2578608"/>
            <a:ext cx="2029968" cy="1463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Inputs are explicit</a:t>
            </a:r>
          </a:p>
        </p:txBody>
      </p:sp>
      <p:sp>
        <p:nvSpPr>
          <p:cNvPr id="16" name="Rect 23"/>
          <p:cNvSpPr/>
          <p:nvPr/>
        </p:nvSpPr>
        <p:spPr>
          <a:xfrm>
            <a:off x="9043416" y="1600200"/>
            <a:ext cx="2523744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33"/>
          <p:cNvSpPr/>
          <p:nvPr/>
        </p:nvSpPr>
        <p:spPr>
          <a:xfrm>
            <a:off x="9244584" y="1901952"/>
            <a:ext cx="2057400" cy="4572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1" i="0">
                <a:solidFill>
                  <a:srgbClr val="172033"/>
                </a:solidFill>
                <a:latin typeface="Aptos"/>
              </a:rPr>
              <a:t>No side-effects</a:t>
            </a:r>
          </a:p>
        </p:txBody>
      </p:sp>
      <p:sp>
        <p:nvSpPr>
          <p:cNvPr id="18" name="TextBox 43"/>
          <p:cNvSpPr/>
          <p:nvPr/>
        </p:nvSpPr>
        <p:spPr>
          <a:xfrm>
            <a:off x="9244584" y="2578608"/>
            <a:ext cx="2029968" cy="1463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Predictable behaviour</a:t>
            </a:r>
          </a:p>
        </p:txBody>
      </p:sp>
      <p:sp>
        <p:nvSpPr>
          <p:cNvPr id="20" name="TextBox 60"/>
          <p:cNvSpPr/>
          <p:nvPr/>
        </p:nvSpPr>
        <p:spPr>
          <a:xfrm>
            <a:off x="594360" y="5257800"/>
            <a:ext cx="10972800" cy="6858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Separate procedural work (loading/saving) from numerical operations.</a:t>
            </a:r>
          </a:p>
          <a:p>
            <a:pPr marL="0" lvl="0" indent="0" algn="l"/>
            <a:endParaRPr lang="en-US" sz="2000" b="1" dirty="0">
              <a:solidFill>
                <a:srgbClr val="172033"/>
              </a:solidFill>
              <a:latin typeface="Aptos"/>
            </a:endParaRPr>
          </a:p>
          <a:p>
            <a:pPr marL="0" lvl="0" indent="0" algn="l"/>
            <a:r>
              <a:rPr lang="en-US" sz="2000" b="1" dirty="0">
                <a:solidFill>
                  <a:srgbClr val="172033"/>
                </a:solidFill>
                <a:latin typeface="Aptos"/>
              </a:rPr>
              <a:t>In general, separate as much as possible.</a:t>
            </a:r>
            <a:endParaRPr lang="en-US" sz="200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1" name="Line 905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906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3" name="TextBox 907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Write code to test your code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6537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 =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np.array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([...]).T</a:t>
            </a:r>
          </a:p>
          <a:p>
            <a:pPr marL="0" lvl="0" indent="0" algn="l"/>
            <a:endParaRPr lang="en-US" sz="1452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test_data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  = </a:t>
            </a:r>
          </a:p>
          <a:p>
            <a:pPr marL="0" lvl="0" indent="0" algn="l"/>
            <a:r>
              <a:rPr lang="en-US" sz="1452">
                <a:solidFill>
                  <a:srgbClr val="172033"/>
                </a:solidFill>
                <a:latin typeface="Courier New"/>
              </a:rPr>
              <a:t>	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[:,0]*5) + (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[:,1]*20)</a:t>
            </a:r>
          </a:p>
          <a:p>
            <a:pPr marL="0" lvl="0" indent="0" algn="l"/>
            <a:endParaRPr lang="en-US" sz="1452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def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test_ols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():</a:t>
            </a: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    fit, err =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ols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test_data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,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)</a:t>
            </a: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    assert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np.isclose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(fit, [5, 20]).all()</a:t>
            </a: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    assert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np.isclose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(err, 0).all()</a:t>
            </a:r>
          </a:p>
        </p:txBody>
      </p:sp>
      <p:sp>
        <p:nvSpPr>
          <p:cNvPr id="5" name="Rect 30"/>
          <p:cNvSpPr/>
          <p:nvPr/>
        </p:nvSpPr>
        <p:spPr>
          <a:xfrm>
            <a:off x="7406640" y="1600200"/>
            <a:ext cx="4114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1"/>
          <p:cNvSpPr/>
          <p:nvPr/>
        </p:nvSpPr>
        <p:spPr>
          <a:xfrm>
            <a:off x="7680960" y="1874519"/>
            <a:ext cx="347472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Test the contract</a:t>
            </a:r>
          </a:p>
        </p:txBody>
      </p:sp>
      <p:sp>
        <p:nvSpPr>
          <p:cNvPr id="7" name="TextBox 32"/>
          <p:cNvSpPr/>
          <p:nvPr/>
        </p:nvSpPr>
        <p:spPr>
          <a:xfrm>
            <a:off x="7708392" y="2578608"/>
            <a:ext cx="33375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0" i="0">
                <a:solidFill>
                  <a:srgbClr val="172033"/>
                </a:solidFill>
                <a:latin typeface="Aptos"/>
              </a:rPr>
              <a:t>✓  Known inputs</a:t>
            </a:r>
          </a:p>
        </p:txBody>
      </p:sp>
      <p:sp>
        <p:nvSpPr>
          <p:cNvPr id="8" name="TextBox 33"/>
          <p:cNvSpPr/>
          <p:nvPr/>
        </p:nvSpPr>
        <p:spPr>
          <a:xfrm>
            <a:off x="7708392" y="3172968"/>
            <a:ext cx="33375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0" i="0">
                <a:solidFill>
                  <a:srgbClr val="172033"/>
                </a:solidFill>
                <a:latin typeface="Aptos"/>
              </a:rPr>
              <a:t>✓  Expected fit = [5, 20]</a:t>
            </a:r>
          </a:p>
        </p:txBody>
      </p:sp>
      <p:sp>
        <p:nvSpPr>
          <p:cNvPr id="9" name="TextBox 34"/>
          <p:cNvSpPr/>
          <p:nvPr/>
        </p:nvSpPr>
        <p:spPr>
          <a:xfrm>
            <a:off x="7708392" y="3767328"/>
            <a:ext cx="33375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0" i="0">
                <a:solidFill>
                  <a:srgbClr val="172033"/>
                </a:solidFill>
                <a:latin typeface="Aptos"/>
              </a:rPr>
              <a:t>✓  Expected residuals = 0</a:t>
            </a:r>
          </a:p>
        </p:txBody>
      </p:sp>
      <p:sp>
        <p:nvSpPr>
          <p:cNvPr id="10" name="TextBox 40"/>
          <p:cNvSpPr/>
          <p:nvPr/>
        </p:nvSpPr>
        <p:spPr>
          <a:xfrm>
            <a:off x="7680960" y="4617720"/>
            <a:ext cx="3337560" cy="65836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Fast + deterministic + local</a:t>
            </a:r>
          </a:p>
        </p:txBody>
      </p:sp>
      <p:sp>
        <p:nvSpPr>
          <p:cNvPr id="11" name="Line 906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907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3" name="TextBox 908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72F112-3AE4-20A0-4E64-CACBFD4E9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7BB23B57-796F-EE02-F5BC-042ED13AE895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Write code to test your code</a:t>
            </a:r>
          </a:p>
        </p:txBody>
      </p:sp>
      <p:sp>
        <p:nvSpPr>
          <p:cNvPr id="4" name="Rect 20">
            <a:extLst>
              <a:ext uri="{FF2B5EF4-FFF2-40B4-BE49-F238E27FC236}">
                <a16:creationId xmlns:a16="http://schemas.microsoft.com/office/drawing/2014/main" id="{EB461DD0-6C85-E258-CFD4-F8E3F193014E}"/>
              </a:ext>
            </a:extLst>
          </p:cNvPr>
          <p:cNvSpPr/>
          <p:nvPr/>
        </p:nvSpPr>
        <p:spPr>
          <a:xfrm>
            <a:off x="594360" y="1600200"/>
            <a:ext cx="653796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 =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np.array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([...]).T</a:t>
            </a:r>
          </a:p>
          <a:p>
            <a:pPr marL="0" lvl="0" indent="0" algn="l"/>
            <a:endParaRPr lang="en-US" sz="1452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test_data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  = </a:t>
            </a:r>
          </a:p>
          <a:p>
            <a:pPr marL="0" lvl="0" indent="0" algn="l"/>
            <a:r>
              <a:rPr lang="en-US" sz="1452">
                <a:solidFill>
                  <a:srgbClr val="172033"/>
                </a:solidFill>
                <a:latin typeface="Courier New"/>
              </a:rPr>
              <a:t>	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[:,0]*5) + (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[:,1]*20)</a:t>
            </a:r>
          </a:p>
          <a:p>
            <a:pPr marL="0" lvl="0" indent="0" algn="l"/>
            <a:endParaRPr lang="en-US" sz="1452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def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test_ols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():</a:t>
            </a: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    fit, err =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ols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test_data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,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test_model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)</a:t>
            </a: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    assert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np.isclose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(fit, [5, 20]).all()</a:t>
            </a:r>
          </a:p>
          <a:p>
            <a:pPr marL="0" lvl="0" indent="0" algn="l"/>
            <a:r>
              <a:rPr lang="en-US" sz="1452" b="0" i="0">
                <a:solidFill>
                  <a:srgbClr val="172033"/>
                </a:solidFill>
                <a:latin typeface="Courier New"/>
              </a:rPr>
              <a:t>    assert </a:t>
            </a:r>
            <a:r>
              <a:rPr lang="en-US" sz="1452" b="0" i="0" err="1">
                <a:solidFill>
                  <a:srgbClr val="172033"/>
                </a:solidFill>
                <a:latin typeface="Courier New"/>
              </a:rPr>
              <a:t>np.isclose</a:t>
            </a:r>
            <a:r>
              <a:rPr lang="en-US" sz="1452" b="0" i="0">
                <a:solidFill>
                  <a:srgbClr val="172033"/>
                </a:solidFill>
                <a:latin typeface="Courier New"/>
              </a:rPr>
              <a:t>(err, 0).all()</a:t>
            </a:r>
          </a:p>
        </p:txBody>
      </p:sp>
      <p:sp>
        <p:nvSpPr>
          <p:cNvPr id="5" name="Rect 30">
            <a:extLst>
              <a:ext uri="{FF2B5EF4-FFF2-40B4-BE49-F238E27FC236}">
                <a16:creationId xmlns:a16="http://schemas.microsoft.com/office/drawing/2014/main" id="{6F8D38A2-9D7F-AA18-7346-EE5C8ADBF9A8}"/>
              </a:ext>
            </a:extLst>
          </p:cNvPr>
          <p:cNvSpPr/>
          <p:nvPr/>
        </p:nvSpPr>
        <p:spPr>
          <a:xfrm>
            <a:off x="7406640" y="1600200"/>
            <a:ext cx="41148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1">
            <a:extLst>
              <a:ext uri="{FF2B5EF4-FFF2-40B4-BE49-F238E27FC236}">
                <a16:creationId xmlns:a16="http://schemas.microsoft.com/office/drawing/2014/main" id="{0FB1B91F-3046-83C4-312D-E527169835FF}"/>
              </a:ext>
            </a:extLst>
          </p:cNvPr>
          <p:cNvSpPr/>
          <p:nvPr/>
        </p:nvSpPr>
        <p:spPr>
          <a:xfrm>
            <a:off x="7680960" y="1874519"/>
            <a:ext cx="347472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Test the contract</a:t>
            </a:r>
          </a:p>
        </p:txBody>
      </p:sp>
      <p:sp>
        <p:nvSpPr>
          <p:cNvPr id="7" name="TextBox 32">
            <a:extLst>
              <a:ext uri="{FF2B5EF4-FFF2-40B4-BE49-F238E27FC236}">
                <a16:creationId xmlns:a16="http://schemas.microsoft.com/office/drawing/2014/main" id="{ADF73345-F2D5-223F-6906-1DA28968B786}"/>
              </a:ext>
            </a:extLst>
          </p:cNvPr>
          <p:cNvSpPr/>
          <p:nvPr/>
        </p:nvSpPr>
        <p:spPr>
          <a:xfrm>
            <a:off x="7708392" y="2578608"/>
            <a:ext cx="33375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0" i="0">
                <a:solidFill>
                  <a:srgbClr val="172033"/>
                </a:solidFill>
                <a:latin typeface="Aptos"/>
              </a:rPr>
              <a:t>✓  Known inputs</a:t>
            </a:r>
          </a:p>
        </p:txBody>
      </p:sp>
      <p:sp>
        <p:nvSpPr>
          <p:cNvPr id="8" name="TextBox 33">
            <a:extLst>
              <a:ext uri="{FF2B5EF4-FFF2-40B4-BE49-F238E27FC236}">
                <a16:creationId xmlns:a16="http://schemas.microsoft.com/office/drawing/2014/main" id="{904F3C34-E204-F3CB-F38B-69718340888B}"/>
              </a:ext>
            </a:extLst>
          </p:cNvPr>
          <p:cNvSpPr/>
          <p:nvPr/>
        </p:nvSpPr>
        <p:spPr>
          <a:xfrm>
            <a:off x="7708392" y="3172968"/>
            <a:ext cx="33375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0" i="0">
                <a:solidFill>
                  <a:srgbClr val="172033"/>
                </a:solidFill>
                <a:latin typeface="Aptos"/>
              </a:rPr>
              <a:t>✓  Expected fit = [5, 20]</a:t>
            </a:r>
          </a:p>
        </p:txBody>
      </p:sp>
      <p:sp>
        <p:nvSpPr>
          <p:cNvPr id="9" name="TextBox 34">
            <a:extLst>
              <a:ext uri="{FF2B5EF4-FFF2-40B4-BE49-F238E27FC236}">
                <a16:creationId xmlns:a16="http://schemas.microsoft.com/office/drawing/2014/main" id="{6D458FF2-D3DB-848D-E491-3D1490F9D634}"/>
              </a:ext>
            </a:extLst>
          </p:cNvPr>
          <p:cNvSpPr/>
          <p:nvPr/>
        </p:nvSpPr>
        <p:spPr>
          <a:xfrm>
            <a:off x="7708392" y="3767328"/>
            <a:ext cx="33375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0" i="0">
                <a:solidFill>
                  <a:srgbClr val="172033"/>
                </a:solidFill>
                <a:latin typeface="Aptos"/>
              </a:rPr>
              <a:t>✓  Expected residuals = 0</a:t>
            </a:r>
          </a:p>
        </p:txBody>
      </p:sp>
      <p:sp>
        <p:nvSpPr>
          <p:cNvPr id="10" name="TextBox 40">
            <a:extLst>
              <a:ext uri="{FF2B5EF4-FFF2-40B4-BE49-F238E27FC236}">
                <a16:creationId xmlns:a16="http://schemas.microsoft.com/office/drawing/2014/main" id="{7B92CD10-D74E-5C63-B6C0-0E8F1058FFA0}"/>
              </a:ext>
            </a:extLst>
          </p:cNvPr>
          <p:cNvSpPr/>
          <p:nvPr/>
        </p:nvSpPr>
        <p:spPr>
          <a:xfrm>
            <a:off x="7680960" y="4617720"/>
            <a:ext cx="3337560" cy="65836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Fast + deterministic + local</a:t>
            </a:r>
          </a:p>
        </p:txBody>
      </p:sp>
      <p:sp>
        <p:nvSpPr>
          <p:cNvPr id="11" name="Line 906">
            <a:extLst>
              <a:ext uri="{FF2B5EF4-FFF2-40B4-BE49-F238E27FC236}">
                <a16:creationId xmlns:a16="http://schemas.microsoft.com/office/drawing/2014/main" id="{879E30B3-FD24-E63D-720C-95C08680297E}"/>
              </a:ext>
            </a:extLst>
          </p:cNvPr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907">
            <a:extLst>
              <a:ext uri="{FF2B5EF4-FFF2-40B4-BE49-F238E27FC236}">
                <a16:creationId xmlns:a16="http://schemas.microsoft.com/office/drawing/2014/main" id="{0D4274CD-BE0A-E5FB-08F3-2078F50724C6}"/>
              </a:ext>
            </a:extLst>
          </p:cNvPr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3" name="TextBox 908">
            <a:extLst>
              <a:ext uri="{FF2B5EF4-FFF2-40B4-BE49-F238E27FC236}">
                <a16:creationId xmlns:a16="http://schemas.microsoft.com/office/drawing/2014/main" id="{A36CFDF1-6C43-C821-DB4C-5C3FDD0C144F}"/>
              </a:ext>
            </a:extLst>
          </p:cNvPr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98EB13-8C27-0D21-41FD-4FD2B33136B1}"/>
              </a:ext>
            </a:extLst>
          </p:cNvPr>
          <p:cNvSpPr txBox="1"/>
          <p:nvPr/>
        </p:nvSpPr>
        <p:spPr>
          <a:xfrm>
            <a:off x="7807569" y="823965"/>
            <a:ext cx="35958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Complete working code in tutorial</a:t>
            </a:r>
          </a:p>
        </p:txBody>
      </p:sp>
    </p:spTree>
    <p:extLst>
      <p:ext uri="{BB962C8B-B14F-4D97-AF65-F5344CB8AC3E}">
        <p14:creationId xmlns:p14="http://schemas.microsoft.com/office/powerpoint/2010/main" val="38829395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Unit vs integration testing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51663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21"/>
          <p:cNvSpPr/>
          <p:nvPr/>
        </p:nvSpPr>
        <p:spPr>
          <a:xfrm>
            <a:off x="868680" y="1901952"/>
            <a:ext cx="44805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320" b="1" i="0">
                <a:solidFill>
                  <a:srgbClr val="172033"/>
                </a:solidFill>
                <a:latin typeface="Aptos"/>
              </a:rPr>
              <a:t>UNIT TEST</a:t>
            </a:r>
          </a:p>
        </p:txBody>
      </p:sp>
      <p:sp>
        <p:nvSpPr>
          <p:cNvPr id="6" name="TextBox 22"/>
          <p:cNvSpPr/>
          <p:nvPr/>
        </p:nvSpPr>
        <p:spPr>
          <a:xfrm>
            <a:off x="868680" y="2514600"/>
            <a:ext cx="438912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166" b="1" i="0">
                <a:solidFill>
                  <a:srgbClr val="172033"/>
                </a:solidFill>
                <a:latin typeface="Courier New"/>
              </a:rPr>
              <a:t>test_ols()</a:t>
            </a:r>
          </a:p>
        </p:txBody>
      </p:sp>
      <p:sp>
        <p:nvSpPr>
          <p:cNvPr id="7" name="TextBox 23"/>
          <p:cNvSpPr/>
          <p:nvPr/>
        </p:nvSpPr>
        <p:spPr>
          <a:xfrm>
            <a:off x="868680" y="3310128"/>
            <a:ext cx="4389120" cy="10058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Checks the isolated regression</a:t>
            </a:r>
          </a:p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function with toy data.</a:t>
            </a:r>
          </a:p>
        </p:txBody>
      </p:sp>
      <p:sp>
        <p:nvSpPr>
          <p:cNvPr id="8" name="Rect 30"/>
          <p:cNvSpPr/>
          <p:nvPr/>
        </p:nvSpPr>
        <p:spPr>
          <a:xfrm>
            <a:off x="6035040" y="1600200"/>
            <a:ext cx="45720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31"/>
          <p:cNvSpPr/>
          <p:nvPr/>
        </p:nvSpPr>
        <p:spPr>
          <a:xfrm>
            <a:off x="6309360" y="1901952"/>
            <a:ext cx="40233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320" b="1" i="0">
                <a:solidFill>
                  <a:srgbClr val="172033"/>
                </a:solidFill>
                <a:latin typeface="Aptos"/>
              </a:rPr>
              <a:t>INTEGRATION TEST</a:t>
            </a:r>
          </a:p>
        </p:txBody>
      </p:sp>
      <p:sp>
        <p:nvSpPr>
          <p:cNvPr id="10" name="TextBox 32"/>
          <p:cNvSpPr/>
          <p:nvPr/>
        </p:nvSpPr>
        <p:spPr>
          <a:xfrm>
            <a:off x="6309360" y="2514600"/>
            <a:ext cx="384048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166" b="1" i="0">
                <a:solidFill>
                  <a:srgbClr val="172033"/>
                </a:solidFill>
                <a:latin typeface="Courier New"/>
              </a:rPr>
              <a:t>test_main()</a:t>
            </a:r>
          </a:p>
        </p:txBody>
      </p:sp>
      <p:sp>
        <p:nvSpPr>
          <p:cNvPr id="11" name="TextBox 33"/>
          <p:cNvSpPr/>
          <p:nvPr/>
        </p:nvSpPr>
        <p:spPr>
          <a:xfrm>
            <a:off x="6309360" y="3310128"/>
            <a:ext cx="3840480" cy="10058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Checks file I/O + orchestration</a:t>
            </a:r>
          </a:p>
          <a:p>
            <a:pPr marL="0" lvl="0" indent="0" algn="l"/>
            <a:r>
              <a:rPr lang="en-US" sz="2000" b="0" i="0" dirty="0">
                <a:solidFill>
                  <a:srgbClr val="172033"/>
                </a:solidFill>
                <a:latin typeface="Aptos"/>
              </a:rPr>
              <a:t>through the public entry point.</a:t>
            </a:r>
          </a:p>
        </p:txBody>
      </p:sp>
      <p:sp>
        <p:nvSpPr>
          <p:cNvPr id="12" name="Line 40"/>
          <p:cNvSpPr/>
          <p:nvPr/>
        </p:nvSpPr>
        <p:spPr>
          <a:xfrm>
            <a:off x="5696712" y="3337560"/>
            <a:ext cx="320039" cy="9144"/>
          </a:xfrm>
          <a:ln w="381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41"/>
          <p:cNvSpPr/>
          <p:nvPr/>
        </p:nvSpPr>
        <p:spPr>
          <a:xfrm>
            <a:off x="594360" y="5669280"/>
            <a:ext cx="10789920" cy="4572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 dirty="0">
                <a:solidFill>
                  <a:srgbClr val="172033"/>
                </a:solidFill>
                <a:latin typeface="Aptos"/>
              </a:rPr>
              <a:t>Together: confidence in the building block and the assembled flow.</a:t>
            </a:r>
          </a:p>
        </p:txBody>
      </p:sp>
      <p:sp>
        <p:nvSpPr>
          <p:cNvPr id="14" name="Line 907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908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6" name="TextBox 909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Let pytest run the suite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548640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21"/>
          <p:cNvSpPr/>
          <p:nvPr/>
        </p:nvSpPr>
        <p:spPr>
          <a:xfrm>
            <a:off x="868680" y="1856231"/>
            <a:ext cx="4846320" cy="3657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02" b="1" i="0">
                <a:solidFill>
                  <a:srgbClr val="172033"/>
                </a:solidFill>
                <a:latin typeface="Aptos"/>
              </a:rPr>
              <a:t>TERMINAL</a:t>
            </a:r>
          </a:p>
        </p:txBody>
      </p:sp>
      <p:sp>
        <p:nvSpPr>
          <p:cNvPr id="6" name="Rect 22"/>
          <p:cNvSpPr/>
          <p:nvPr/>
        </p:nvSpPr>
        <p:spPr>
          <a:xfrm>
            <a:off x="868680" y="2423160"/>
            <a:ext cx="4846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$ </a:t>
            </a:r>
            <a:r>
              <a:rPr lang="en-US" sz="1102" b="0" i="0" dirty="0" err="1">
                <a:solidFill>
                  <a:srgbClr val="172033"/>
                </a:solidFill>
                <a:latin typeface="Courier New"/>
              </a:rPr>
              <a:t>pytest</a:t>
            </a:r>
            <a:endParaRPr lang="en-US" sz="1102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============== test session starts =====+=========</a:t>
            </a:r>
          </a:p>
          <a:p>
            <a:pPr marL="0" lvl="0" indent="0" algn="l"/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my_ols/tests/</a:t>
            </a:r>
            <a:r>
              <a:rPr lang="en-US" sz="1102" b="0" i="0" dirty="0" err="1">
                <a:solidFill>
                  <a:srgbClr val="172033"/>
                </a:solidFill>
                <a:latin typeface="Courier New"/>
              </a:rPr>
              <a:t>test_ols.py</a:t>
            </a:r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::</a:t>
            </a:r>
            <a:r>
              <a:rPr lang="en-US" sz="1102" b="0" i="0" dirty="0" err="1">
                <a:solidFill>
                  <a:srgbClr val="172033"/>
                </a:solidFill>
                <a:latin typeface="Courier New"/>
              </a:rPr>
              <a:t>test_ols</a:t>
            </a:r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 PASSED       </a:t>
            </a:r>
          </a:p>
          <a:p>
            <a:pPr marL="0" lvl="0" indent="0" algn="l"/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[ 50%]</a:t>
            </a:r>
          </a:p>
          <a:p>
            <a:pPr marL="0" lvl="0" indent="0" algn="l"/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my_ols/tests/</a:t>
            </a:r>
            <a:r>
              <a:rPr lang="en-US" sz="1102" b="0" i="0" dirty="0" err="1">
                <a:solidFill>
                  <a:srgbClr val="172033"/>
                </a:solidFill>
                <a:latin typeface="Courier New"/>
              </a:rPr>
              <a:t>test_ols.py</a:t>
            </a:r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::</a:t>
            </a:r>
            <a:r>
              <a:rPr lang="en-US" sz="1102" b="0" i="0" dirty="0" err="1">
                <a:solidFill>
                  <a:srgbClr val="172033"/>
                </a:solidFill>
                <a:latin typeface="Courier New"/>
              </a:rPr>
              <a:t>test_main</a:t>
            </a:r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 PASSED      [100%]</a:t>
            </a:r>
          </a:p>
          <a:p>
            <a:pPr marL="0" lvl="0" indent="0" algn="l"/>
            <a:endParaRPr lang="en-US" sz="1102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102" b="0" i="0" dirty="0">
                <a:solidFill>
                  <a:srgbClr val="172033"/>
                </a:solidFill>
                <a:latin typeface="Courier New"/>
              </a:rPr>
              <a:t>================ 2 passed in 0.06s ===============</a:t>
            </a:r>
          </a:p>
        </p:txBody>
      </p:sp>
      <p:sp>
        <p:nvSpPr>
          <p:cNvPr id="7" name="Rect 30"/>
          <p:cNvSpPr/>
          <p:nvPr/>
        </p:nvSpPr>
        <p:spPr>
          <a:xfrm>
            <a:off x="6400800" y="1600200"/>
            <a:ext cx="47091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31"/>
          <p:cNvSpPr/>
          <p:nvPr/>
        </p:nvSpPr>
        <p:spPr>
          <a:xfrm>
            <a:off x="6675120" y="1856231"/>
            <a:ext cx="40233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Why this matters</a:t>
            </a:r>
          </a:p>
        </p:txBody>
      </p:sp>
      <p:sp>
        <p:nvSpPr>
          <p:cNvPr id="9" name="TextBox 32"/>
          <p:cNvSpPr/>
          <p:nvPr/>
        </p:nvSpPr>
        <p:spPr>
          <a:xfrm>
            <a:off x="6675120" y="2542032"/>
            <a:ext cx="3977639" cy="5029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•  Discovers test_* functions</a:t>
            </a:r>
          </a:p>
        </p:txBody>
      </p:sp>
      <p:sp>
        <p:nvSpPr>
          <p:cNvPr id="10" name="TextBox 33"/>
          <p:cNvSpPr/>
          <p:nvPr/>
        </p:nvSpPr>
        <p:spPr>
          <a:xfrm>
            <a:off x="6675120" y="3200400"/>
            <a:ext cx="3977639" cy="5029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•  Runs the suite consistently</a:t>
            </a:r>
          </a:p>
        </p:txBody>
      </p:sp>
      <p:sp>
        <p:nvSpPr>
          <p:cNvPr id="11" name="TextBox 34"/>
          <p:cNvSpPr/>
          <p:nvPr/>
        </p:nvSpPr>
        <p:spPr>
          <a:xfrm>
            <a:off x="6675120" y="3858768"/>
            <a:ext cx="3977639" cy="5029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•  Supports focused runs: pytest -k test_ols</a:t>
            </a:r>
          </a:p>
        </p:txBody>
      </p:sp>
      <p:sp>
        <p:nvSpPr>
          <p:cNvPr id="12" name="TextBox 40"/>
          <p:cNvSpPr/>
          <p:nvPr/>
        </p:nvSpPr>
        <p:spPr>
          <a:xfrm>
            <a:off x="594360" y="5623560"/>
            <a:ext cx="1088136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 dirty="0">
                <a:solidFill>
                  <a:srgbClr val="172033"/>
                </a:solidFill>
                <a:latin typeface="Aptos"/>
              </a:rPr>
              <a:t>Convention reduces test-runner boilerplate.</a:t>
            </a:r>
          </a:p>
        </p:txBody>
      </p:sp>
      <p:sp>
        <p:nvSpPr>
          <p:cNvPr id="13" name="Line 908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Box 909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5" name="TextBox 910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Coverage shows </a:t>
            </a:r>
            <a:r>
              <a:rPr lang="en-US" sz="3080" b="1">
                <a:solidFill>
                  <a:srgbClr val="172033"/>
                </a:solidFill>
                <a:latin typeface="Aptos"/>
              </a:rPr>
              <a:t>if you are missing something</a:t>
            </a:r>
            <a:endParaRPr lang="en-US" sz="3080" b="1" i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4" name="Rect 20"/>
          <p:cNvSpPr/>
          <p:nvPr/>
        </p:nvSpPr>
        <p:spPr>
          <a:xfrm>
            <a:off x="594360" y="164592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21"/>
          <p:cNvSpPr/>
          <p:nvPr/>
        </p:nvSpPr>
        <p:spPr>
          <a:xfrm>
            <a:off x="868680" y="1938528"/>
            <a:ext cx="429768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55" b="1" i="0">
                <a:solidFill>
                  <a:srgbClr val="172033"/>
                </a:solidFill>
                <a:latin typeface="Aptos"/>
              </a:rPr>
              <a:t>EXAMPLE REPORT</a:t>
            </a:r>
          </a:p>
        </p:txBody>
      </p:sp>
      <p:sp>
        <p:nvSpPr>
          <p:cNvPr id="6" name="TextBox 22"/>
          <p:cNvSpPr/>
          <p:nvPr/>
        </p:nvSpPr>
        <p:spPr>
          <a:xfrm>
            <a:off x="868680" y="2542032"/>
            <a:ext cx="4297680" cy="14173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Name                 Stmts   Miss  Cover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----------------------------------------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my_ols/main.py          20      2    90%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----------------------------------------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TOTAL                   20      2    90%</a:t>
            </a:r>
          </a:p>
        </p:txBody>
      </p:sp>
      <p:sp>
        <p:nvSpPr>
          <p:cNvPr id="7" name="TextBox 23"/>
          <p:cNvSpPr/>
          <p:nvPr/>
        </p:nvSpPr>
        <p:spPr>
          <a:xfrm>
            <a:off x="868680" y="4315968"/>
            <a:ext cx="4206240" cy="5029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55" b="1" i="0">
                <a:solidFill>
                  <a:srgbClr val="172033"/>
                </a:solidFill>
                <a:latin typeface="Courier New"/>
              </a:rPr>
              <a:t>pytest --cov-report=html</a:t>
            </a:r>
          </a:p>
        </p:txBody>
      </p:sp>
      <p:sp>
        <p:nvSpPr>
          <p:cNvPr id="8" name="Rect 30"/>
          <p:cNvSpPr/>
          <p:nvPr/>
        </p:nvSpPr>
        <p:spPr>
          <a:xfrm>
            <a:off x="5897880" y="1645920"/>
            <a:ext cx="493776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31"/>
          <p:cNvSpPr/>
          <p:nvPr/>
        </p:nvSpPr>
        <p:spPr>
          <a:xfrm>
            <a:off x="6217920" y="1938528"/>
            <a:ext cx="393192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375" b="1" i="0">
                <a:solidFill>
                  <a:srgbClr val="172033"/>
                </a:solidFill>
                <a:latin typeface="Aptos"/>
              </a:rPr>
              <a:t>USE IT TO FIND GAPS</a:t>
            </a:r>
          </a:p>
        </p:txBody>
      </p:sp>
      <p:sp>
        <p:nvSpPr>
          <p:cNvPr id="10" name="Rect 32"/>
          <p:cNvSpPr/>
          <p:nvPr/>
        </p:nvSpPr>
        <p:spPr>
          <a:xfrm>
            <a:off x="6217920" y="2697480"/>
            <a:ext cx="3749039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 33"/>
          <p:cNvSpPr/>
          <p:nvPr/>
        </p:nvSpPr>
        <p:spPr>
          <a:xfrm>
            <a:off x="6217920" y="2697480"/>
            <a:ext cx="3374136" cy="3474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34"/>
          <p:cNvSpPr/>
          <p:nvPr/>
        </p:nvSpPr>
        <p:spPr>
          <a:xfrm>
            <a:off x="6217920" y="3218688"/>
            <a:ext cx="3749039" cy="5029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508" b="1" i="0">
                <a:solidFill>
                  <a:srgbClr val="172033"/>
                </a:solidFill>
                <a:latin typeface="Aptos"/>
              </a:rPr>
              <a:t>90% covered</a:t>
            </a:r>
          </a:p>
        </p:txBody>
      </p:sp>
      <p:sp>
        <p:nvSpPr>
          <p:cNvPr id="13" name="TextBox 35"/>
          <p:cNvSpPr/>
          <p:nvPr/>
        </p:nvSpPr>
        <p:spPr>
          <a:xfrm>
            <a:off x="6217920" y="4023360"/>
            <a:ext cx="3794760" cy="9144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0" i="0" dirty="0">
                <a:solidFill>
                  <a:srgbClr val="172033"/>
                </a:solidFill>
                <a:latin typeface="Aptos"/>
              </a:rPr>
              <a:t>Coverage shows tested code, not whether </a:t>
            </a:r>
            <a:r>
              <a:rPr lang="en-US" b="0" i="0" dirty="0" err="1">
                <a:solidFill>
                  <a:srgbClr val="172033"/>
                </a:solidFill>
                <a:latin typeface="Aptos"/>
              </a:rPr>
              <a:t>behaviour</a:t>
            </a:r>
            <a:r>
              <a:rPr lang="en-US" b="0" i="0" dirty="0">
                <a:solidFill>
                  <a:srgbClr val="172033"/>
                </a:solidFill>
                <a:latin typeface="Aptos"/>
              </a:rPr>
              <a:t> is correct.</a:t>
            </a:r>
          </a:p>
        </p:txBody>
      </p:sp>
      <p:sp>
        <p:nvSpPr>
          <p:cNvPr id="14" name="TextBox 40"/>
          <p:cNvSpPr/>
          <p:nvPr/>
        </p:nvSpPr>
        <p:spPr>
          <a:xfrm>
            <a:off x="594360" y="5669280"/>
            <a:ext cx="1097280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 dirty="0">
                <a:solidFill>
                  <a:srgbClr val="172033"/>
                </a:solidFill>
                <a:latin typeface="Aptos"/>
              </a:rPr>
              <a:t>Pair test assertions with coverage to see both correctness checks and untested paths.</a:t>
            </a:r>
          </a:p>
        </p:txBody>
      </p:sp>
      <p:sp>
        <p:nvSpPr>
          <p:cNvPr id="15" name="Line 909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910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7" name="TextBox 911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/>
          <p:nvPr/>
        </p:nvSpPr>
        <p:spPr>
          <a:xfrm>
            <a:off x="594360" y="320040"/>
            <a:ext cx="10972800" cy="25603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050" b="1" i="0">
                <a:solidFill>
                  <a:srgbClr val="172033"/>
                </a:solidFill>
                <a:latin typeface="Aptos"/>
              </a:rPr>
              <a:t>THREE WORKABLE LAYOUTS</a:t>
            </a:r>
          </a:p>
        </p:txBody>
      </p:sp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Where should tests live?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91640"/>
            <a:ext cx="3364992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30"/>
          <p:cNvSpPr/>
          <p:nvPr/>
        </p:nvSpPr>
        <p:spPr>
          <a:xfrm>
            <a:off x="832104" y="1938528"/>
            <a:ext cx="2880360" cy="43891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>
                <a:solidFill>
                  <a:srgbClr val="172033"/>
                </a:solidFill>
                <a:latin typeface="Aptos"/>
              </a:rPr>
              <a:t>Separate directory</a:t>
            </a:r>
          </a:p>
        </p:txBody>
      </p:sp>
      <p:sp>
        <p:nvSpPr>
          <p:cNvPr id="6" name="Rect 40"/>
          <p:cNvSpPr/>
          <p:nvPr/>
        </p:nvSpPr>
        <p:spPr>
          <a:xfrm>
            <a:off x="832104" y="2633472"/>
            <a:ext cx="288950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my_ols/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  main.py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tests/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  test_ols.py</a:t>
            </a:r>
          </a:p>
        </p:txBody>
      </p:sp>
      <p:sp>
        <p:nvSpPr>
          <p:cNvPr id="7" name="Rect 21"/>
          <p:cNvSpPr/>
          <p:nvPr/>
        </p:nvSpPr>
        <p:spPr>
          <a:xfrm>
            <a:off x="4361688" y="1691640"/>
            <a:ext cx="3364992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31"/>
          <p:cNvSpPr/>
          <p:nvPr/>
        </p:nvSpPr>
        <p:spPr>
          <a:xfrm>
            <a:off x="4599432" y="1938528"/>
            <a:ext cx="2880360" cy="43891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>
                <a:solidFill>
                  <a:srgbClr val="172033"/>
                </a:solidFill>
                <a:latin typeface="Aptos"/>
              </a:rPr>
              <a:t>Same directory</a:t>
            </a:r>
          </a:p>
        </p:txBody>
      </p:sp>
      <p:sp>
        <p:nvSpPr>
          <p:cNvPr id="9" name="Rect 41"/>
          <p:cNvSpPr/>
          <p:nvPr/>
        </p:nvSpPr>
        <p:spPr>
          <a:xfrm>
            <a:off x="4599432" y="2633472"/>
            <a:ext cx="288950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my_ols/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  main.py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  test_ols.py</a:t>
            </a:r>
          </a:p>
        </p:txBody>
      </p:sp>
      <p:sp>
        <p:nvSpPr>
          <p:cNvPr id="10" name="Rect 22"/>
          <p:cNvSpPr/>
          <p:nvPr/>
        </p:nvSpPr>
        <p:spPr>
          <a:xfrm>
            <a:off x="8129016" y="1691640"/>
            <a:ext cx="3364992" cy="384048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32"/>
          <p:cNvSpPr/>
          <p:nvPr/>
        </p:nvSpPr>
        <p:spPr>
          <a:xfrm>
            <a:off x="8366760" y="1938528"/>
            <a:ext cx="2880360" cy="43891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>
                <a:solidFill>
                  <a:srgbClr val="172033"/>
                </a:solidFill>
                <a:latin typeface="Aptos"/>
              </a:rPr>
              <a:t>Sub-package</a:t>
            </a:r>
          </a:p>
        </p:txBody>
      </p:sp>
      <p:sp>
        <p:nvSpPr>
          <p:cNvPr id="12" name="Rect 42"/>
          <p:cNvSpPr/>
          <p:nvPr/>
        </p:nvSpPr>
        <p:spPr>
          <a:xfrm>
            <a:off x="8366760" y="2633472"/>
            <a:ext cx="2889504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my_ols/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  main.py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  tests/</a:t>
            </a:r>
          </a:p>
          <a:p>
            <a:pPr marL="0" lvl="0" indent="0" algn="l"/>
            <a:r>
              <a:rPr lang="en-US" sz="1155" b="0" i="0">
                <a:solidFill>
                  <a:srgbClr val="172033"/>
                </a:solidFill>
                <a:latin typeface="Courier New"/>
              </a:rPr>
              <a:t>    test_ols.py</a:t>
            </a:r>
          </a:p>
        </p:txBody>
      </p:sp>
      <p:sp>
        <p:nvSpPr>
          <p:cNvPr id="13" name="TextBox 60"/>
          <p:cNvSpPr/>
          <p:nvPr/>
        </p:nvSpPr>
        <p:spPr>
          <a:xfrm>
            <a:off x="594360" y="5715000"/>
            <a:ext cx="1097280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GB" b="0" i="0" noProof="0" dirty="0">
                <a:solidFill>
                  <a:srgbClr val="172033"/>
                </a:solidFill>
                <a:latin typeface="Aptos"/>
              </a:rPr>
              <a:t>The tutorial favours the sub-directory / sub-package approach, but this is largely preference.</a:t>
            </a:r>
          </a:p>
        </p:txBody>
      </p:sp>
      <p:sp>
        <p:nvSpPr>
          <p:cNvPr id="14" name="Line 910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911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6" name="TextBox 912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Test continuously as the code evolves</a:t>
            </a:r>
          </a:p>
        </p:txBody>
      </p:sp>
      <p:sp>
        <p:nvSpPr>
          <p:cNvPr id="4" name="TextBox 20"/>
          <p:cNvSpPr/>
          <p:nvPr/>
        </p:nvSpPr>
        <p:spPr>
          <a:xfrm>
            <a:off x="658368" y="1572768"/>
            <a:ext cx="50292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02" b="1" i="0">
                <a:solidFill>
                  <a:srgbClr val="172033"/>
                </a:solidFill>
                <a:latin typeface="Aptos"/>
              </a:rPr>
              <a:t>01</a:t>
            </a:r>
          </a:p>
        </p:txBody>
      </p:sp>
      <p:sp>
        <p:nvSpPr>
          <p:cNvPr id="6" name="TextBox 40"/>
          <p:cNvSpPr/>
          <p:nvPr/>
        </p:nvSpPr>
        <p:spPr>
          <a:xfrm>
            <a:off x="2057400" y="1554480"/>
            <a:ext cx="896112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 dirty="0">
                <a:solidFill>
                  <a:srgbClr val="172033"/>
                </a:solidFill>
                <a:latin typeface="Aptos"/>
              </a:rPr>
              <a:t>Write tests alongside code</a:t>
            </a:r>
          </a:p>
          <a:p>
            <a:pPr marL="0" lvl="0" indent="0" algn="l"/>
            <a:r>
              <a:rPr lang="en-US" sz="1650" b="1" dirty="0">
                <a:solidFill>
                  <a:srgbClr val="172033"/>
                </a:solidFill>
                <a:latin typeface="Aptos"/>
              </a:rPr>
              <a:t>	</a:t>
            </a:r>
            <a:endParaRPr lang="en-US" sz="165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7" name="TextBox 21"/>
          <p:cNvSpPr/>
          <p:nvPr/>
        </p:nvSpPr>
        <p:spPr>
          <a:xfrm>
            <a:off x="658368" y="2395728"/>
            <a:ext cx="50292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02" b="1" i="0">
                <a:solidFill>
                  <a:srgbClr val="172033"/>
                </a:solidFill>
                <a:latin typeface="Aptos"/>
              </a:rPr>
              <a:t>02</a:t>
            </a:r>
          </a:p>
        </p:txBody>
      </p:sp>
      <p:sp>
        <p:nvSpPr>
          <p:cNvPr id="9" name="TextBox 41"/>
          <p:cNvSpPr/>
          <p:nvPr/>
        </p:nvSpPr>
        <p:spPr>
          <a:xfrm>
            <a:off x="2057400" y="2377440"/>
            <a:ext cx="8961120" cy="54663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 dirty="0">
                <a:solidFill>
                  <a:srgbClr val="172033"/>
                </a:solidFill>
                <a:latin typeface="Aptos"/>
              </a:rPr>
              <a:t>Keep tests fast</a:t>
            </a:r>
          </a:p>
          <a:p>
            <a:pPr marL="0" lvl="0" indent="0" algn="l"/>
            <a:r>
              <a:rPr lang="en-US" sz="1650" b="1" dirty="0">
                <a:solidFill>
                  <a:srgbClr val="172033"/>
                </a:solidFill>
                <a:latin typeface="Aptos"/>
              </a:rPr>
              <a:t>	small units</a:t>
            </a:r>
            <a:endParaRPr lang="en-US" sz="165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0" name="TextBox 22"/>
          <p:cNvSpPr/>
          <p:nvPr/>
        </p:nvSpPr>
        <p:spPr>
          <a:xfrm>
            <a:off x="658368" y="3218688"/>
            <a:ext cx="50292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02" b="1" i="0">
                <a:solidFill>
                  <a:srgbClr val="172033"/>
                </a:solidFill>
                <a:latin typeface="Aptos"/>
              </a:rPr>
              <a:t>03</a:t>
            </a:r>
          </a:p>
        </p:txBody>
      </p:sp>
      <p:sp>
        <p:nvSpPr>
          <p:cNvPr id="12" name="TextBox 42"/>
          <p:cNvSpPr/>
          <p:nvPr/>
        </p:nvSpPr>
        <p:spPr>
          <a:xfrm>
            <a:off x="2057400" y="3200400"/>
            <a:ext cx="8961120" cy="42062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>
                <a:solidFill>
                  <a:srgbClr val="172033"/>
                </a:solidFill>
                <a:latin typeface="Aptos"/>
              </a:rPr>
              <a:t>Test individual functions</a:t>
            </a:r>
          </a:p>
        </p:txBody>
      </p:sp>
      <p:sp>
        <p:nvSpPr>
          <p:cNvPr id="13" name="TextBox 23"/>
          <p:cNvSpPr/>
          <p:nvPr/>
        </p:nvSpPr>
        <p:spPr>
          <a:xfrm>
            <a:off x="658368" y="4041648"/>
            <a:ext cx="50292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02" b="1" i="0">
                <a:solidFill>
                  <a:srgbClr val="172033"/>
                </a:solidFill>
                <a:latin typeface="Aptos"/>
              </a:rPr>
              <a:t>04</a:t>
            </a:r>
          </a:p>
        </p:txBody>
      </p:sp>
      <p:sp>
        <p:nvSpPr>
          <p:cNvPr id="15" name="TextBox 43"/>
          <p:cNvSpPr/>
          <p:nvPr/>
        </p:nvSpPr>
        <p:spPr>
          <a:xfrm>
            <a:off x="2057400" y="4023360"/>
            <a:ext cx="8961120" cy="51578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 dirty="0">
                <a:solidFill>
                  <a:srgbClr val="172033"/>
                </a:solidFill>
                <a:latin typeface="Aptos"/>
              </a:rPr>
              <a:t>Add a test for every bug fix</a:t>
            </a:r>
          </a:p>
          <a:p>
            <a:pPr marL="0" lvl="0" indent="0" algn="l"/>
            <a:r>
              <a:rPr lang="en-US" sz="1650" b="1" dirty="0">
                <a:solidFill>
                  <a:srgbClr val="172033"/>
                </a:solidFill>
                <a:latin typeface="Aptos"/>
              </a:rPr>
              <a:t>	 regression test; bugs cannot return</a:t>
            </a:r>
            <a:endParaRPr lang="en-US" sz="165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16" name="TextBox 24"/>
          <p:cNvSpPr/>
          <p:nvPr/>
        </p:nvSpPr>
        <p:spPr>
          <a:xfrm>
            <a:off x="658368" y="4864608"/>
            <a:ext cx="50292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102" b="1" i="0">
                <a:solidFill>
                  <a:srgbClr val="172033"/>
                </a:solidFill>
                <a:latin typeface="Aptos"/>
              </a:rPr>
              <a:t>05</a:t>
            </a:r>
          </a:p>
        </p:txBody>
      </p:sp>
      <p:sp>
        <p:nvSpPr>
          <p:cNvPr id="18" name="TextBox 44"/>
          <p:cNvSpPr/>
          <p:nvPr/>
        </p:nvSpPr>
        <p:spPr>
          <a:xfrm>
            <a:off x="2057400" y="4846320"/>
            <a:ext cx="8961120" cy="682082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50" b="1" i="0" dirty="0">
                <a:solidFill>
                  <a:srgbClr val="172033"/>
                </a:solidFill>
                <a:latin typeface="Aptos"/>
              </a:rPr>
              <a:t>Keep smoke tests for releases</a:t>
            </a:r>
          </a:p>
          <a:p>
            <a:pPr marL="0" lvl="0" indent="0" algn="l"/>
            <a:r>
              <a:rPr lang="en-US" sz="1650" b="1" dirty="0">
                <a:solidFill>
                  <a:srgbClr val="172033"/>
                </a:solidFill>
                <a:latin typeface="Aptos"/>
              </a:rPr>
              <a:t>	protects against silly mistakes</a:t>
            </a:r>
            <a:endParaRPr lang="en-US" sz="1650" b="1" i="0" dirty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1" name="Line 911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Box 912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3" name="TextBox 913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When code is awkward to test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662940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342" b="0" i="0">
                <a:solidFill>
                  <a:srgbClr val="172033"/>
                </a:solidFill>
                <a:latin typeface="Courier New"/>
              </a:rPr>
              <a:t>def load_parameters():</a:t>
            </a:r>
          </a:p>
          <a:p>
            <a:pPr marL="0" lvl="0" indent="0" algn="l"/>
            <a:r>
              <a:rPr lang="en-US" sz="1342" b="0" i="0">
                <a:solidFill>
                  <a:srgbClr val="172033"/>
                </a:solidFill>
                <a:latin typeface="Courier New"/>
              </a:rPr>
              <a:t>    resp = requests.get('https://www.config.org/parameters.txt')</a:t>
            </a:r>
          </a:p>
          <a:p>
            <a:pPr marL="0" lvl="0" indent="0" algn="l"/>
            <a:r>
              <a:rPr lang="en-US" sz="1342" b="0" i="0">
                <a:solidFill>
                  <a:srgbClr val="172033"/>
                </a:solidFill>
                <a:latin typeface="Courier New"/>
              </a:rPr>
              <a:t>    config = resp.text.split('\n')</a:t>
            </a:r>
          </a:p>
          <a:p>
            <a:pPr marL="0" lvl="0" indent="0" algn="l"/>
            <a:r>
              <a:rPr lang="en-US" sz="1342" b="0" i="0">
                <a:solidFill>
                  <a:srgbClr val="172033"/>
                </a:solidFill>
                <a:latin typeface="Courier New"/>
              </a:rPr>
              <a:t>    return int(config[0]), int(config[1]), int(config[2])</a:t>
            </a:r>
          </a:p>
          <a:p>
            <a:pPr marL="0" lvl="0" indent="0" algn="l"/>
            <a:endParaRPr lang="en-US" sz="1342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342" b="0" i="0">
                <a:solidFill>
                  <a:srgbClr val="172033"/>
                </a:solidFill>
                <a:latin typeface="Courier New"/>
              </a:rPr>
              <a:t>def run_preprocessing(data):</a:t>
            </a:r>
          </a:p>
          <a:p>
            <a:pPr marL="0" lvl="0" indent="0" algn="l"/>
            <a:r>
              <a:rPr lang="en-US" sz="1342" b="0" i="0">
                <a:solidFill>
                  <a:srgbClr val="172033"/>
                </a:solidFill>
                <a:latin typeface="Courier New"/>
              </a:rPr>
              <a:t>    p1, p2, p3 = load_parameters()</a:t>
            </a:r>
          </a:p>
          <a:p>
            <a:pPr marL="0" lvl="0" indent="0" algn="l"/>
            <a:r>
              <a:rPr lang="en-US" sz="1342" b="0" i="0">
                <a:solidFill>
                  <a:srgbClr val="172033"/>
                </a:solidFill>
                <a:latin typeface="Courier New"/>
              </a:rPr>
              <a:t>    return data * p1 * p2 / p3</a:t>
            </a:r>
          </a:p>
        </p:txBody>
      </p:sp>
      <p:sp>
        <p:nvSpPr>
          <p:cNvPr id="5" name="Rect 30"/>
          <p:cNvSpPr/>
          <p:nvPr/>
        </p:nvSpPr>
        <p:spPr>
          <a:xfrm>
            <a:off x="7479792" y="1600200"/>
            <a:ext cx="3977639" cy="1143000"/>
          </a:xfrm>
          <a:prstGeom prst="roundRect">
            <a:avLst/>
          </a:prstGeom>
          <a:solidFill>
            <a:srgbClr val="FFFFFF"/>
          </a:solidFill>
          <a:ln>
            <a:solidFill>
              <a:schemeClr val="bg2">
                <a:lumMod val="9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1"/>
          <p:cNvSpPr/>
          <p:nvPr/>
        </p:nvSpPr>
        <p:spPr>
          <a:xfrm>
            <a:off x="7754112" y="1847088"/>
            <a:ext cx="342900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 dirty="0">
                <a:solidFill>
                  <a:srgbClr val="172033"/>
                </a:solidFill>
                <a:latin typeface="Aptos"/>
              </a:rPr>
              <a:t>Problem: external state</a:t>
            </a:r>
          </a:p>
        </p:txBody>
      </p:sp>
      <p:sp>
        <p:nvSpPr>
          <p:cNvPr id="7" name="TextBox 32"/>
          <p:cNvSpPr/>
          <p:nvPr/>
        </p:nvSpPr>
        <p:spPr>
          <a:xfrm>
            <a:off x="7754111" y="2304288"/>
            <a:ext cx="3428999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00" b="0" i="0" dirty="0">
                <a:solidFill>
                  <a:srgbClr val="172033"/>
                </a:solidFill>
                <a:latin typeface="Aptos"/>
              </a:rPr>
              <a:t>The response is outside the test’s control.</a:t>
            </a:r>
          </a:p>
        </p:txBody>
      </p:sp>
      <p:sp>
        <p:nvSpPr>
          <p:cNvPr id="8" name="Rect 33"/>
          <p:cNvSpPr/>
          <p:nvPr/>
        </p:nvSpPr>
        <p:spPr>
          <a:xfrm>
            <a:off x="7479792" y="2971800"/>
            <a:ext cx="3977639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TextBox 34"/>
          <p:cNvSpPr/>
          <p:nvPr/>
        </p:nvSpPr>
        <p:spPr>
          <a:xfrm>
            <a:off x="7754112" y="3227832"/>
            <a:ext cx="3429000" cy="3657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Better boundary</a:t>
            </a:r>
          </a:p>
        </p:txBody>
      </p:sp>
      <p:sp>
        <p:nvSpPr>
          <p:cNvPr id="10" name="TextBox 35"/>
          <p:cNvSpPr/>
          <p:nvPr/>
        </p:nvSpPr>
        <p:spPr>
          <a:xfrm>
            <a:off x="7754112" y="3785615"/>
            <a:ext cx="3246120" cy="7315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Pass p1, p2, p3</a:t>
            </a:r>
          </a:p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into the function.</a:t>
            </a:r>
          </a:p>
        </p:txBody>
      </p:sp>
      <p:sp>
        <p:nvSpPr>
          <p:cNvPr id="11" name="TextBox 40"/>
          <p:cNvSpPr/>
          <p:nvPr/>
        </p:nvSpPr>
        <p:spPr>
          <a:xfrm>
            <a:off x="594360" y="5897880"/>
            <a:ext cx="10789920" cy="3657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 dirty="0">
                <a:solidFill>
                  <a:srgbClr val="172033"/>
                </a:solidFill>
                <a:latin typeface="Aptos"/>
              </a:rPr>
              <a:t>Dependency injection turns “unknown external state” into explicit inputs.</a:t>
            </a:r>
          </a:p>
        </p:txBody>
      </p:sp>
      <p:sp>
        <p:nvSpPr>
          <p:cNvPr id="12" name="Line 912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913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4" name="TextBox 914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Mock the dependency when refactoring is not practical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73152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with mock.patch(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    'my_ols.preprocess.load_parameters',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    return_value=(10, 10, 10)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):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    assert preproc.run_preprocessing(10) == 100</a:t>
            </a:r>
          </a:p>
          <a:p>
            <a:pPr marL="0" lvl="0" indent="0" algn="l"/>
            <a:endParaRPr lang="en-US" sz="1176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with mock.patch(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    'my_ols.preprocess.load_parameters',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    return_value=(1, 2, 5)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):</a:t>
            </a:r>
          </a:p>
          <a:p>
            <a:pPr marL="0" lvl="0" indent="0" algn="l"/>
            <a:r>
              <a:rPr lang="en-US" sz="1176" b="0" i="0">
                <a:solidFill>
                  <a:srgbClr val="172033"/>
                </a:solidFill>
                <a:latin typeface="Courier New"/>
              </a:rPr>
              <a:t>    assert preproc.run_preprocessing(10) == 4</a:t>
            </a:r>
          </a:p>
        </p:txBody>
      </p:sp>
      <p:sp>
        <p:nvSpPr>
          <p:cNvPr id="5" name="Rect 30"/>
          <p:cNvSpPr/>
          <p:nvPr/>
        </p:nvSpPr>
        <p:spPr>
          <a:xfrm>
            <a:off x="8229600" y="1600200"/>
            <a:ext cx="324612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1"/>
          <p:cNvSpPr/>
          <p:nvPr/>
        </p:nvSpPr>
        <p:spPr>
          <a:xfrm>
            <a:off x="8503920" y="1874519"/>
            <a:ext cx="269748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595" b="1" i="0">
                <a:solidFill>
                  <a:srgbClr val="172033"/>
                </a:solidFill>
                <a:latin typeface="Aptos"/>
              </a:rPr>
              <a:t>MOCK</a:t>
            </a:r>
          </a:p>
        </p:txBody>
      </p:sp>
      <p:sp>
        <p:nvSpPr>
          <p:cNvPr id="7" name="TextBox 32"/>
          <p:cNvSpPr/>
          <p:nvPr/>
        </p:nvSpPr>
        <p:spPr>
          <a:xfrm>
            <a:off x="8503920" y="2560320"/>
            <a:ext cx="2514600" cy="11887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30" b="0" i="0">
                <a:solidFill>
                  <a:srgbClr val="172033"/>
                </a:solidFill>
                <a:latin typeface="Aptos"/>
              </a:rPr>
              <a:t>Replace</a:t>
            </a:r>
          </a:p>
          <a:p>
            <a:pPr marL="0" lvl="0" indent="0" algn="l"/>
            <a:r>
              <a:rPr lang="en-US" sz="1430" b="0" i="0">
                <a:solidFill>
                  <a:srgbClr val="172033"/>
                </a:solidFill>
                <a:latin typeface="Aptos"/>
              </a:rPr>
              <a:t>load_parameters()</a:t>
            </a:r>
          </a:p>
          <a:p>
            <a:pPr marL="0" lvl="0" indent="0" algn="l"/>
            <a:r>
              <a:rPr lang="en-US" sz="1430" b="0" i="0">
                <a:solidFill>
                  <a:srgbClr val="172033"/>
                </a:solidFill>
                <a:latin typeface="Aptos"/>
              </a:rPr>
              <a:t>with known values.</a:t>
            </a:r>
          </a:p>
        </p:txBody>
      </p:sp>
      <p:sp>
        <p:nvSpPr>
          <p:cNvPr id="8" name="Line 33"/>
          <p:cNvSpPr/>
          <p:nvPr/>
        </p:nvSpPr>
        <p:spPr>
          <a:xfrm>
            <a:off x="8503920" y="4160520"/>
            <a:ext cx="2468879" cy="9144"/>
          </a:xfrm>
          <a:ln w="25400">
            <a:solidFill>
              <a:srgbClr val="1D4ED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34"/>
          <p:cNvSpPr/>
          <p:nvPr/>
        </p:nvSpPr>
        <p:spPr>
          <a:xfrm>
            <a:off x="8503920" y="4389120"/>
            <a:ext cx="2560320" cy="6858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30" b="1" i="0">
                <a:solidFill>
                  <a:srgbClr val="172033"/>
                </a:solidFill>
                <a:latin typeface="Aptos"/>
              </a:rPr>
              <a:t>Now the test controls the input.</a:t>
            </a:r>
          </a:p>
        </p:txBody>
      </p:sp>
      <p:sp>
        <p:nvSpPr>
          <p:cNvPr id="10" name="Line 913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914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2" name="TextBox 915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Make tests data-driven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67208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tests = [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(10, (10, 10, 10), 100),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(10, (1, 2, 4), 5),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(20, (1, 2, 5), 8)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]</a:t>
            </a:r>
          </a:p>
          <a:p>
            <a:pPr marL="0" lvl="0" indent="0" algn="l"/>
            <a:endParaRPr lang="en-US" sz="1375" b="0" i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for data, params, result in tests: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with mock.patch(..., return_value=params):</a:t>
            </a:r>
          </a:p>
          <a:p>
            <a:pPr marL="0" lvl="0" indent="0" algn="l"/>
            <a:r>
              <a:rPr lang="en-US" sz="1375" b="0" i="0">
                <a:solidFill>
                  <a:srgbClr val="172033"/>
                </a:solidFill>
                <a:latin typeface="Courier New"/>
              </a:rPr>
              <a:t>        assert preproc.run_preprocessing(data) == result</a:t>
            </a:r>
          </a:p>
        </p:txBody>
      </p:sp>
      <p:sp>
        <p:nvSpPr>
          <p:cNvPr id="5" name="Rect 30"/>
          <p:cNvSpPr/>
          <p:nvPr/>
        </p:nvSpPr>
        <p:spPr>
          <a:xfrm>
            <a:off x="7635240" y="1600200"/>
            <a:ext cx="3840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1"/>
          <p:cNvSpPr/>
          <p:nvPr/>
        </p:nvSpPr>
        <p:spPr>
          <a:xfrm>
            <a:off x="7909560" y="1874519"/>
            <a:ext cx="320040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85" b="1" i="0">
                <a:solidFill>
                  <a:srgbClr val="172033"/>
                </a:solidFill>
                <a:latin typeface="Aptos"/>
              </a:rPr>
              <a:t>One test shape</a:t>
            </a:r>
          </a:p>
        </p:txBody>
      </p:sp>
      <p:sp>
        <p:nvSpPr>
          <p:cNvPr id="7" name="TextBox 32"/>
          <p:cNvSpPr/>
          <p:nvPr/>
        </p:nvSpPr>
        <p:spPr>
          <a:xfrm>
            <a:off x="7909560" y="2395728"/>
            <a:ext cx="3154680" cy="8229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320" b="0" i="0">
                <a:solidFill>
                  <a:srgbClr val="172033"/>
                </a:solidFill>
                <a:latin typeface="Aptos"/>
              </a:rPr>
              <a:t>input</a:t>
            </a:r>
          </a:p>
          <a:p>
            <a:pPr marL="0" lvl="0" indent="0" algn="l"/>
            <a:r>
              <a:rPr lang="en-US" sz="1320" b="0" i="0">
                <a:solidFill>
                  <a:srgbClr val="172033"/>
                </a:solidFill>
                <a:latin typeface="Aptos"/>
              </a:rPr>
              <a:t>+ parameters</a:t>
            </a:r>
          </a:p>
          <a:p>
            <a:pPr marL="0" lvl="0" indent="0" algn="l"/>
            <a:r>
              <a:rPr lang="en-US" sz="1320" b="0" i="0">
                <a:solidFill>
                  <a:srgbClr val="172033"/>
                </a:solidFill>
                <a:latin typeface="Aptos"/>
              </a:rPr>
              <a:t>+ expected result</a:t>
            </a:r>
          </a:p>
        </p:txBody>
      </p:sp>
      <p:sp>
        <p:nvSpPr>
          <p:cNvPr id="8" name="Rect 33"/>
          <p:cNvSpPr/>
          <p:nvPr/>
        </p:nvSpPr>
        <p:spPr>
          <a:xfrm>
            <a:off x="7635240" y="3977639"/>
            <a:ext cx="3287318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34"/>
          <p:cNvSpPr/>
          <p:nvPr/>
        </p:nvSpPr>
        <p:spPr>
          <a:xfrm>
            <a:off x="7909560" y="4251960"/>
            <a:ext cx="315468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485" b="1" i="0">
                <a:solidFill>
                  <a:srgbClr val="172033"/>
                </a:solidFill>
                <a:latin typeface="Aptos"/>
              </a:rPr>
              <a:t>Easy to extend</a:t>
            </a:r>
          </a:p>
        </p:txBody>
      </p:sp>
      <p:sp>
        <p:nvSpPr>
          <p:cNvPr id="10" name="TextBox 35"/>
          <p:cNvSpPr/>
          <p:nvPr/>
        </p:nvSpPr>
        <p:spPr>
          <a:xfrm>
            <a:off x="7909560" y="4800600"/>
            <a:ext cx="3108960" cy="74980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540" b="1" i="0">
                <a:solidFill>
                  <a:srgbClr val="172033"/>
                </a:solidFill>
                <a:latin typeface="Aptos"/>
              </a:rPr>
              <a:t>Add rows, not repeated code.</a:t>
            </a:r>
          </a:p>
        </p:txBody>
      </p:sp>
      <p:sp>
        <p:nvSpPr>
          <p:cNvPr id="11" name="TextBox 40"/>
          <p:cNvSpPr/>
          <p:nvPr/>
        </p:nvSpPr>
        <p:spPr>
          <a:xfrm>
            <a:off x="594360" y="5806440"/>
            <a:ext cx="10881360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540" b="1" i="0">
                <a:solidFill>
                  <a:srgbClr val="172033"/>
                </a:solidFill>
                <a:latin typeface="Aptos"/>
              </a:rPr>
              <a:t>Data-driven tests make dozens or hundreds of cases easier to maintain.</a:t>
            </a:r>
          </a:p>
        </p:txBody>
      </p:sp>
      <p:sp>
        <p:nvSpPr>
          <p:cNvPr id="12" name="Line 914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915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4" name="TextBox 916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CI/CD turns “remember to test” into automation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783080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30"/>
          <p:cNvSpPr/>
          <p:nvPr/>
        </p:nvSpPr>
        <p:spPr>
          <a:xfrm>
            <a:off x="813816" y="2029968"/>
            <a:ext cx="457200" cy="402336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1</a:t>
            </a:r>
          </a:p>
        </p:txBody>
      </p:sp>
      <p:sp>
        <p:nvSpPr>
          <p:cNvPr id="6" name="TextBox 40"/>
          <p:cNvSpPr/>
          <p:nvPr/>
        </p:nvSpPr>
        <p:spPr>
          <a:xfrm>
            <a:off x="813816" y="2633472"/>
            <a:ext cx="2011680" cy="5943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Push changes</a:t>
            </a:r>
          </a:p>
        </p:txBody>
      </p:sp>
      <p:sp>
        <p:nvSpPr>
          <p:cNvPr id="7" name="TextBox 50"/>
          <p:cNvSpPr/>
          <p:nvPr/>
        </p:nvSpPr>
        <p:spPr>
          <a:xfrm>
            <a:off x="813816" y="3401568"/>
            <a:ext cx="1993392" cy="8686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Repository</a:t>
            </a:r>
          </a:p>
        </p:txBody>
      </p:sp>
      <p:sp>
        <p:nvSpPr>
          <p:cNvPr id="8" name="Line 60"/>
          <p:cNvSpPr/>
          <p:nvPr/>
        </p:nvSpPr>
        <p:spPr>
          <a:xfrm>
            <a:off x="3081528" y="3154680"/>
            <a:ext cx="283463" cy="9144"/>
          </a:xfrm>
          <a:ln w="38100">
            <a:solidFill>
              <a:srgbClr val="176B5A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9" name="Rect 21"/>
          <p:cNvSpPr/>
          <p:nvPr/>
        </p:nvSpPr>
        <p:spPr>
          <a:xfrm>
            <a:off x="3429000" y="1783080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31"/>
          <p:cNvSpPr/>
          <p:nvPr/>
        </p:nvSpPr>
        <p:spPr>
          <a:xfrm>
            <a:off x="3648456" y="2029968"/>
            <a:ext cx="457200" cy="402336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2</a:t>
            </a:r>
          </a:p>
        </p:txBody>
      </p:sp>
      <p:sp>
        <p:nvSpPr>
          <p:cNvPr id="11" name="TextBox 41"/>
          <p:cNvSpPr/>
          <p:nvPr/>
        </p:nvSpPr>
        <p:spPr>
          <a:xfrm>
            <a:off x="3648456" y="2633472"/>
            <a:ext cx="2011680" cy="5943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Trigger CI</a:t>
            </a:r>
          </a:p>
        </p:txBody>
      </p:sp>
      <p:sp>
        <p:nvSpPr>
          <p:cNvPr id="12" name="TextBox 51"/>
          <p:cNvSpPr/>
          <p:nvPr/>
        </p:nvSpPr>
        <p:spPr>
          <a:xfrm>
            <a:off x="3648456" y="3401568"/>
            <a:ext cx="1993392" cy="8686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GitHub notifies CI</a:t>
            </a:r>
          </a:p>
        </p:txBody>
      </p:sp>
      <p:sp>
        <p:nvSpPr>
          <p:cNvPr id="13" name="Line 61"/>
          <p:cNvSpPr/>
          <p:nvPr/>
        </p:nvSpPr>
        <p:spPr>
          <a:xfrm>
            <a:off x="5916168" y="3154680"/>
            <a:ext cx="283463" cy="9144"/>
          </a:xfrm>
          <a:ln w="38100">
            <a:solidFill>
              <a:srgbClr val="176B5A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Rect 22"/>
          <p:cNvSpPr/>
          <p:nvPr/>
        </p:nvSpPr>
        <p:spPr>
          <a:xfrm>
            <a:off x="6263640" y="1783080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Box 32"/>
          <p:cNvSpPr/>
          <p:nvPr/>
        </p:nvSpPr>
        <p:spPr>
          <a:xfrm>
            <a:off x="6483096" y="2029968"/>
            <a:ext cx="457200" cy="402336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3</a:t>
            </a:r>
          </a:p>
        </p:txBody>
      </p:sp>
      <p:sp>
        <p:nvSpPr>
          <p:cNvPr id="16" name="TextBox 42"/>
          <p:cNvSpPr/>
          <p:nvPr/>
        </p:nvSpPr>
        <p:spPr>
          <a:xfrm>
            <a:off x="6483096" y="2633472"/>
            <a:ext cx="2011680" cy="5943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Run in cloud</a:t>
            </a:r>
          </a:p>
        </p:txBody>
      </p:sp>
      <p:sp>
        <p:nvSpPr>
          <p:cNvPr id="17" name="TextBox 52"/>
          <p:cNvSpPr/>
          <p:nvPr/>
        </p:nvSpPr>
        <p:spPr>
          <a:xfrm>
            <a:off x="6483096" y="3401568"/>
            <a:ext cx="1993392" cy="8686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Container / VM</a:t>
            </a:r>
          </a:p>
        </p:txBody>
      </p:sp>
      <p:sp>
        <p:nvSpPr>
          <p:cNvPr id="18" name="Line 62"/>
          <p:cNvSpPr/>
          <p:nvPr/>
        </p:nvSpPr>
        <p:spPr>
          <a:xfrm>
            <a:off x="8750808" y="3154680"/>
            <a:ext cx="283464" cy="9144"/>
          </a:xfrm>
          <a:ln w="38100">
            <a:solidFill>
              <a:srgbClr val="176B5A"/>
            </a:solidFill>
          </a:ln>
        </p:spPr>
        <p:txBody>
          <a:bodyPr/>
          <a:lstStyle/>
          <a:p>
            <a:endParaRPr lang="en-US" sz="2400"/>
          </a:p>
        </p:txBody>
      </p:sp>
      <p:sp>
        <p:nvSpPr>
          <p:cNvPr id="19" name="Rect 23"/>
          <p:cNvSpPr/>
          <p:nvPr/>
        </p:nvSpPr>
        <p:spPr>
          <a:xfrm>
            <a:off x="9098280" y="1783080"/>
            <a:ext cx="24688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33"/>
          <p:cNvSpPr/>
          <p:nvPr/>
        </p:nvSpPr>
        <p:spPr>
          <a:xfrm>
            <a:off x="9317736" y="2029968"/>
            <a:ext cx="457200" cy="402336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4</a:t>
            </a:r>
          </a:p>
        </p:txBody>
      </p:sp>
      <p:sp>
        <p:nvSpPr>
          <p:cNvPr id="21" name="TextBox 43"/>
          <p:cNvSpPr/>
          <p:nvPr/>
        </p:nvSpPr>
        <p:spPr>
          <a:xfrm>
            <a:off x="9317736" y="2633472"/>
            <a:ext cx="2011680" cy="5943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b="1" i="0">
                <a:solidFill>
                  <a:srgbClr val="172033"/>
                </a:solidFill>
                <a:latin typeface="Aptos"/>
              </a:rPr>
              <a:t>Execute tests</a:t>
            </a:r>
          </a:p>
        </p:txBody>
      </p:sp>
      <p:sp>
        <p:nvSpPr>
          <p:cNvPr id="22" name="TextBox 53"/>
          <p:cNvSpPr/>
          <p:nvPr/>
        </p:nvSpPr>
        <p:spPr>
          <a:xfrm>
            <a:off x="9317736" y="3401568"/>
            <a:ext cx="1993392" cy="8686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0" i="0">
                <a:solidFill>
                  <a:srgbClr val="172033"/>
                </a:solidFill>
                <a:latin typeface="Aptos"/>
              </a:rPr>
              <a:t>Script runs pytest</a:t>
            </a:r>
          </a:p>
        </p:txBody>
      </p:sp>
      <p:sp>
        <p:nvSpPr>
          <p:cNvPr id="23" name="TextBox 70"/>
          <p:cNvSpPr/>
          <p:nvPr/>
        </p:nvSpPr>
        <p:spPr>
          <a:xfrm>
            <a:off x="594360" y="5623560"/>
            <a:ext cx="10881360" cy="5029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 dirty="0">
                <a:solidFill>
                  <a:srgbClr val="172033"/>
                </a:solidFill>
                <a:latin typeface="Aptos"/>
              </a:rPr>
              <a:t>GitHub Actions is GitHub’s built-in CI infrastructure for this workflow.</a:t>
            </a:r>
          </a:p>
        </p:txBody>
      </p:sp>
      <p:sp>
        <p:nvSpPr>
          <p:cNvPr id="24" name="Line 915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916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6" name="TextBox 917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Set up a local development environment</a:t>
            </a:r>
          </a:p>
        </p:txBody>
      </p:sp>
      <p:sp>
        <p:nvSpPr>
          <p:cNvPr id="4" name="TextBox 20"/>
          <p:cNvSpPr/>
          <p:nvPr/>
        </p:nvSpPr>
        <p:spPr>
          <a:xfrm>
            <a:off x="640080" y="1527048"/>
            <a:ext cx="45720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01</a:t>
            </a:r>
          </a:p>
        </p:txBody>
      </p:sp>
      <p:sp>
        <p:nvSpPr>
          <p:cNvPr id="5" name="TextBox 30"/>
          <p:cNvSpPr/>
          <p:nvPr/>
        </p:nvSpPr>
        <p:spPr>
          <a:xfrm>
            <a:off x="1325880" y="1508760"/>
            <a:ext cx="9875520" cy="47548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0" i="0">
                <a:solidFill>
                  <a:srgbClr val="172033"/>
                </a:solidFill>
                <a:latin typeface="Aptos"/>
              </a:rPr>
              <a:t>Install Python environment + pytest + coverage</a:t>
            </a:r>
          </a:p>
        </p:txBody>
      </p:sp>
      <p:sp>
        <p:nvSpPr>
          <p:cNvPr id="6" name="Line 40"/>
          <p:cNvSpPr/>
          <p:nvPr/>
        </p:nvSpPr>
        <p:spPr>
          <a:xfrm>
            <a:off x="1143000" y="1682495"/>
            <a:ext cx="91440" cy="9144"/>
          </a:xfrm>
          <a:ln w="25400">
            <a:solidFill>
              <a:srgbClr val="D5DDE7"/>
            </a:solidFill>
          </a:ln>
        </p:spPr>
        <p:txBody>
          <a:bodyPr/>
          <a:lstStyle/>
          <a:p>
            <a:endParaRPr lang="en-US" sz="3200"/>
          </a:p>
        </p:txBody>
      </p:sp>
      <p:sp>
        <p:nvSpPr>
          <p:cNvPr id="7" name="TextBox 21"/>
          <p:cNvSpPr/>
          <p:nvPr/>
        </p:nvSpPr>
        <p:spPr>
          <a:xfrm>
            <a:off x="640080" y="2368296"/>
            <a:ext cx="45720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02</a:t>
            </a:r>
          </a:p>
        </p:txBody>
      </p:sp>
      <p:sp>
        <p:nvSpPr>
          <p:cNvPr id="8" name="TextBox 31"/>
          <p:cNvSpPr/>
          <p:nvPr/>
        </p:nvSpPr>
        <p:spPr>
          <a:xfrm>
            <a:off x="1325880" y="2350008"/>
            <a:ext cx="9875520" cy="47548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0" i="0" dirty="0">
                <a:solidFill>
                  <a:srgbClr val="172033"/>
                </a:solidFill>
                <a:latin typeface="Aptos"/>
              </a:rPr>
              <a:t>Fork the </a:t>
            </a:r>
            <a:r>
              <a:rPr lang="en-US" sz="2400" b="0" i="0" dirty="0">
                <a:solidFill>
                  <a:srgbClr val="172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my_ols</a:t>
            </a:r>
            <a:r>
              <a:rPr lang="en-US" sz="2400" b="0" i="0" dirty="0">
                <a:solidFill>
                  <a:srgbClr val="172033"/>
                </a:solidFill>
                <a:latin typeface="Aptos"/>
              </a:rPr>
              <a:t> repository</a:t>
            </a:r>
          </a:p>
        </p:txBody>
      </p:sp>
      <p:sp>
        <p:nvSpPr>
          <p:cNvPr id="9" name="Line 41"/>
          <p:cNvSpPr/>
          <p:nvPr/>
        </p:nvSpPr>
        <p:spPr>
          <a:xfrm>
            <a:off x="1143000" y="2523744"/>
            <a:ext cx="91440" cy="9144"/>
          </a:xfrm>
          <a:ln w="25400">
            <a:solidFill>
              <a:srgbClr val="D5DDE7"/>
            </a:solidFill>
          </a:ln>
        </p:spPr>
        <p:txBody>
          <a:bodyPr/>
          <a:lstStyle/>
          <a:p>
            <a:endParaRPr lang="en-US" sz="3200"/>
          </a:p>
        </p:txBody>
      </p:sp>
      <p:sp>
        <p:nvSpPr>
          <p:cNvPr id="10" name="TextBox 22"/>
          <p:cNvSpPr/>
          <p:nvPr/>
        </p:nvSpPr>
        <p:spPr>
          <a:xfrm>
            <a:off x="640080" y="3209544"/>
            <a:ext cx="45720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 dirty="0">
                <a:solidFill>
                  <a:srgbClr val="172033"/>
                </a:solidFill>
                <a:latin typeface="Aptos"/>
              </a:rPr>
              <a:t>03</a:t>
            </a:r>
          </a:p>
        </p:txBody>
      </p:sp>
      <p:sp>
        <p:nvSpPr>
          <p:cNvPr id="11" name="TextBox 32"/>
          <p:cNvSpPr/>
          <p:nvPr/>
        </p:nvSpPr>
        <p:spPr>
          <a:xfrm>
            <a:off x="1325880" y="3191256"/>
            <a:ext cx="9875520" cy="47548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0" i="0" dirty="0">
                <a:solidFill>
                  <a:srgbClr val="172033"/>
                </a:solidFill>
                <a:latin typeface="Aptos"/>
              </a:rPr>
              <a:t>Clone your fork</a:t>
            </a:r>
          </a:p>
        </p:txBody>
      </p:sp>
      <p:sp>
        <p:nvSpPr>
          <p:cNvPr id="12" name="Line 42"/>
          <p:cNvSpPr/>
          <p:nvPr/>
        </p:nvSpPr>
        <p:spPr>
          <a:xfrm>
            <a:off x="1143000" y="3364991"/>
            <a:ext cx="91440" cy="9144"/>
          </a:xfrm>
          <a:ln w="25400">
            <a:solidFill>
              <a:srgbClr val="D5DDE7"/>
            </a:solidFill>
          </a:ln>
        </p:spPr>
        <p:txBody>
          <a:bodyPr/>
          <a:lstStyle/>
          <a:p>
            <a:endParaRPr lang="en-US" sz="3200"/>
          </a:p>
        </p:txBody>
      </p:sp>
      <p:sp>
        <p:nvSpPr>
          <p:cNvPr id="13" name="TextBox 23"/>
          <p:cNvSpPr/>
          <p:nvPr/>
        </p:nvSpPr>
        <p:spPr>
          <a:xfrm>
            <a:off x="640080" y="4050791"/>
            <a:ext cx="45720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04</a:t>
            </a:r>
          </a:p>
        </p:txBody>
      </p:sp>
      <p:sp>
        <p:nvSpPr>
          <p:cNvPr id="14" name="TextBox 33"/>
          <p:cNvSpPr/>
          <p:nvPr/>
        </p:nvSpPr>
        <p:spPr>
          <a:xfrm>
            <a:off x="1325880" y="4032504"/>
            <a:ext cx="9875520" cy="47548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0" i="0">
                <a:solidFill>
                  <a:srgbClr val="172033"/>
                </a:solidFill>
                <a:latin typeface="Aptos"/>
              </a:rPr>
              <a:t>Install dependencies with uv sync --all-extras</a:t>
            </a:r>
          </a:p>
        </p:txBody>
      </p:sp>
      <p:sp>
        <p:nvSpPr>
          <p:cNvPr id="15" name="Line 43"/>
          <p:cNvSpPr/>
          <p:nvPr/>
        </p:nvSpPr>
        <p:spPr>
          <a:xfrm>
            <a:off x="1143000" y="4206240"/>
            <a:ext cx="91440" cy="9144"/>
          </a:xfrm>
          <a:ln w="25400">
            <a:solidFill>
              <a:srgbClr val="D5DDE7"/>
            </a:solidFill>
          </a:ln>
        </p:spPr>
        <p:txBody>
          <a:bodyPr/>
          <a:lstStyle/>
          <a:p>
            <a:endParaRPr lang="en-US" sz="3200"/>
          </a:p>
        </p:txBody>
      </p:sp>
      <p:sp>
        <p:nvSpPr>
          <p:cNvPr id="16" name="TextBox 24"/>
          <p:cNvSpPr/>
          <p:nvPr/>
        </p:nvSpPr>
        <p:spPr>
          <a:xfrm>
            <a:off x="640080" y="4892040"/>
            <a:ext cx="457200" cy="329184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05</a:t>
            </a:r>
          </a:p>
        </p:txBody>
      </p:sp>
      <p:sp>
        <p:nvSpPr>
          <p:cNvPr id="17" name="TextBox 34"/>
          <p:cNvSpPr/>
          <p:nvPr/>
        </p:nvSpPr>
        <p:spPr>
          <a:xfrm>
            <a:off x="1325880" y="4873752"/>
            <a:ext cx="9875520" cy="47548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400" b="0" i="0">
                <a:solidFill>
                  <a:srgbClr val="172033"/>
                </a:solidFill>
                <a:latin typeface="Aptos"/>
              </a:rPr>
              <a:t>Run uv run my_ols and uv run pytest</a:t>
            </a:r>
          </a:p>
        </p:txBody>
      </p:sp>
      <p:sp>
        <p:nvSpPr>
          <p:cNvPr id="18" name="Line 44"/>
          <p:cNvSpPr/>
          <p:nvPr/>
        </p:nvSpPr>
        <p:spPr>
          <a:xfrm>
            <a:off x="1143000" y="5047488"/>
            <a:ext cx="91440" cy="9144"/>
          </a:xfrm>
          <a:ln w="25400">
            <a:solidFill>
              <a:srgbClr val="D5DDE7"/>
            </a:solidFill>
          </a:ln>
        </p:spPr>
        <p:txBody>
          <a:bodyPr/>
          <a:lstStyle/>
          <a:p>
            <a:endParaRPr lang="en-US" sz="3200"/>
          </a:p>
        </p:txBody>
      </p:sp>
      <p:sp>
        <p:nvSpPr>
          <p:cNvPr id="19" name="Rect 60"/>
          <p:cNvSpPr/>
          <p:nvPr/>
        </p:nvSpPr>
        <p:spPr>
          <a:xfrm>
            <a:off x="4198620" y="5385816"/>
            <a:ext cx="379476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320" b="0" i="0">
                <a:solidFill>
                  <a:srgbClr val="172033"/>
                </a:solidFill>
                <a:latin typeface="Courier New"/>
              </a:rPr>
              <a:t>uv run pytest</a:t>
            </a:r>
          </a:p>
        </p:txBody>
      </p:sp>
      <p:sp>
        <p:nvSpPr>
          <p:cNvPr id="20" name="Line 916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Box 917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2" name="TextBox 918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E53580-EA8F-DE0C-3DAC-3B86ED0BCB1D}"/>
              </a:ext>
            </a:extLst>
          </p:cNvPr>
          <p:cNvSpPr txBox="1"/>
          <p:nvPr/>
        </p:nvSpPr>
        <p:spPr>
          <a:xfrm>
            <a:off x="7993380" y="1270230"/>
            <a:ext cx="3967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Complete working example in tutorial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Create a GitHub Actions workflow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600200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on: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push: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branches: main</a:t>
            </a:r>
          </a:p>
          <a:p>
            <a:pPr marL="0" lvl="0" indent="0" algn="l"/>
            <a:endParaRPr lang="en-US" sz="1430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endParaRPr lang="en-US" sz="1430" b="0" i="0" dirty="0">
              <a:solidFill>
                <a:srgbClr val="172033"/>
              </a:solidFill>
              <a:latin typeface="Courier New"/>
            </a:endParaRPr>
          </a:p>
        </p:txBody>
      </p:sp>
      <p:sp>
        <p:nvSpPr>
          <p:cNvPr id="5" name="Rect 30"/>
          <p:cNvSpPr/>
          <p:nvPr/>
        </p:nvSpPr>
        <p:spPr>
          <a:xfrm>
            <a:off x="7498079" y="1600200"/>
            <a:ext cx="4343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31"/>
          <p:cNvSpPr/>
          <p:nvPr/>
        </p:nvSpPr>
        <p:spPr>
          <a:xfrm>
            <a:off x="7790688" y="1883664"/>
            <a:ext cx="342900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WORKFLOW RULE</a:t>
            </a:r>
          </a:p>
        </p:txBody>
      </p:sp>
      <p:sp>
        <p:nvSpPr>
          <p:cNvPr id="7" name="TextBox 32"/>
          <p:cNvSpPr/>
          <p:nvPr/>
        </p:nvSpPr>
        <p:spPr>
          <a:xfrm>
            <a:off x="7790688" y="2578608"/>
            <a:ext cx="3246120" cy="68580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i="0" dirty="0">
                <a:solidFill>
                  <a:srgbClr val="172033"/>
                </a:solidFill>
                <a:latin typeface="Aptos"/>
              </a:rPr>
              <a:t>Run when commits</a:t>
            </a:r>
          </a:p>
          <a:p>
            <a:pPr marL="0" lvl="0" indent="0" algn="l"/>
            <a:r>
              <a:rPr lang="en-US" sz="2000" i="0" dirty="0">
                <a:solidFill>
                  <a:srgbClr val="172033"/>
                </a:solidFill>
                <a:latin typeface="Aptos"/>
              </a:rPr>
              <a:t>are pushed to main.</a:t>
            </a:r>
          </a:p>
        </p:txBody>
      </p:sp>
      <p:sp>
        <p:nvSpPr>
          <p:cNvPr id="9" name="Line 918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Box 919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11" name="TextBox 920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1A885A-6F0F-C433-F4E1-9328E19F5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D90978D8-D7FE-ABF3-2B9C-D3A6A9FB2A1D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Create a GitHub Actions workflow</a:t>
            </a:r>
          </a:p>
        </p:txBody>
      </p:sp>
      <p:sp>
        <p:nvSpPr>
          <p:cNvPr id="4" name="Rect 20">
            <a:extLst>
              <a:ext uri="{FF2B5EF4-FFF2-40B4-BE49-F238E27FC236}">
                <a16:creationId xmlns:a16="http://schemas.microsoft.com/office/drawing/2014/main" id="{19500ECF-6662-512C-4B0F-6650792D78C9}"/>
              </a:ext>
            </a:extLst>
          </p:cNvPr>
          <p:cNvSpPr/>
          <p:nvPr/>
        </p:nvSpPr>
        <p:spPr>
          <a:xfrm>
            <a:off x="594360" y="1600200"/>
            <a:ext cx="662940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 lIns="164592" tIns="128016" rIns="164592" bIns="128016"/>
          <a:lstStyle/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on: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push: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branches: main</a:t>
            </a:r>
          </a:p>
          <a:p>
            <a:pPr marL="0" lvl="0" indent="0" algn="l"/>
            <a:endParaRPr lang="en-US" sz="1430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jobs: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test: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runs-on: ubuntu-latest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steps: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  - uses: actions/checkout@v4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  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  - name: Set up Python 3.14</a:t>
            </a:r>
          </a:p>
          <a:p>
            <a:pPr marL="0" lvl="0" indent="0" algn="l"/>
            <a:r>
              <a:rPr lang="en-US" sz="1430" b="0" i="0" dirty="0">
                <a:solidFill>
                  <a:srgbClr val="172033"/>
                </a:solidFill>
                <a:latin typeface="Courier New"/>
              </a:rPr>
              <a:t>        uses: actions/setup-python@v6</a:t>
            </a:r>
          </a:p>
          <a:p>
            <a:pPr marL="0" lvl="0" indent="0" algn="l"/>
            <a:r>
              <a:rPr lang="en-US" sz="1400" b="0" i="0" dirty="0">
                <a:solidFill>
                  <a:srgbClr val="172033"/>
                </a:solidFill>
                <a:latin typeface="Courier New"/>
              </a:rPr>
              <a:t>	with:</a:t>
            </a:r>
          </a:p>
          <a:p>
            <a:pPr marL="0" lvl="0" indent="0" algn="l"/>
            <a:r>
              <a:rPr lang="en-US" sz="1400" b="0" i="0" dirty="0">
                <a:solidFill>
                  <a:srgbClr val="172033"/>
                </a:solidFill>
                <a:latin typeface="Courier New"/>
              </a:rPr>
              <a:t>    	    python-version: "3.14"</a:t>
            </a:r>
          </a:p>
          <a:p>
            <a:pPr marL="0" lvl="0" indent="0" algn="l"/>
            <a:endParaRPr lang="en-US" sz="1400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400" b="0" i="0" dirty="0">
                <a:solidFill>
                  <a:srgbClr val="172033"/>
                </a:solidFill>
                <a:latin typeface="Courier New"/>
              </a:rPr>
              <a:t>      - name: Install package and dependencies</a:t>
            </a:r>
          </a:p>
          <a:p>
            <a:pPr marL="0" lvl="0" indent="0" algn="l"/>
            <a:r>
              <a:rPr lang="en-US" sz="1400" b="0" i="0" dirty="0">
                <a:solidFill>
                  <a:srgbClr val="172033"/>
                </a:solidFill>
                <a:latin typeface="Courier New"/>
              </a:rPr>
              <a:t>            run: pip install ".[test]"</a:t>
            </a:r>
          </a:p>
          <a:p>
            <a:pPr marL="0" lvl="0" indent="0" algn="l"/>
            <a:endParaRPr lang="en-US" sz="1400" b="0" i="0" dirty="0">
              <a:solidFill>
                <a:srgbClr val="172033"/>
              </a:solidFill>
              <a:latin typeface="Courier New"/>
            </a:endParaRPr>
          </a:p>
          <a:p>
            <a:pPr marL="0" lvl="0" indent="0" algn="l"/>
            <a:r>
              <a:rPr lang="en-US" sz="1400" b="0" i="0" dirty="0">
                <a:solidFill>
                  <a:srgbClr val="172033"/>
                </a:solidFill>
                <a:latin typeface="Courier New"/>
              </a:rPr>
              <a:t>      - name: Run tests</a:t>
            </a:r>
          </a:p>
          <a:p>
            <a:pPr marL="0" lvl="0" indent="0" algn="l"/>
            <a:r>
              <a:rPr lang="en-US" sz="1400" b="0" i="0" dirty="0">
                <a:solidFill>
                  <a:srgbClr val="172033"/>
                </a:solidFill>
                <a:latin typeface="Courier New"/>
              </a:rPr>
              <a:t>            run: </a:t>
            </a:r>
            <a:r>
              <a:rPr lang="en-US" sz="1400" b="0" i="0" dirty="0" err="1">
                <a:solidFill>
                  <a:srgbClr val="172033"/>
                </a:solidFill>
                <a:latin typeface="Courier New"/>
              </a:rPr>
              <a:t>pytest</a:t>
            </a:r>
            <a:endParaRPr lang="en-US" sz="1430" b="0" i="0" dirty="0">
              <a:solidFill>
                <a:srgbClr val="172033"/>
              </a:solidFill>
              <a:latin typeface="Courier New"/>
            </a:endParaRPr>
          </a:p>
        </p:txBody>
      </p:sp>
      <p:sp>
        <p:nvSpPr>
          <p:cNvPr id="5" name="Rect 30">
            <a:extLst>
              <a:ext uri="{FF2B5EF4-FFF2-40B4-BE49-F238E27FC236}">
                <a16:creationId xmlns:a16="http://schemas.microsoft.com/office/drawing/2014/main" id="{844F9A06-35CC-3EEE-291F-3D2E8A2769AC}"/>
              </a:ext>
            </a:extLst>
          </p:cNvPr>
          <p:cNvSpPr/>
          <p:nvPr/>
        </p:nvSpPr>
        <p:spPr>
          <a:xfrm>
            <a:off x="7498079" y="1600200"/>
            <a:ext cx="43434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Box 31">
            <a:extLst>
              <a:ext uri="{FF2B5EF4-FFF2-40B4-BE49-F238E27FC236}">
                <a16:creationId xmlns:a16="http://schemas.microsoft.com/office/drawing/2014/main" id="{466C84E6-1646-19DD-3C7C-59A087FE62FC}"/>
              </a:ext>
            </a:extLst>
          </p:cNvPr>
          <p:cNvSpPr/>
          <p:nvPr/>
        </p:nvSpPr>
        <p:spPr>
          <a:xfrm>
            <a:off x="7790688" y="1883664"/>
            <a:ext cx="3429000" cy="4114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 dirty="0">
                <a:solidFill>
                  <a:srgbClr val="172033"/>
                </a:solidFill>
                <a:latin typeface="Aptos"/>
              </a:rPr>
              <a:t>WORKFLOW RULE</a:t>
            </a:r>
          </a:p>
        </p:txBody>
      </p:sp>
      <p:sp>
        <p:nvSpPr>
          <p:cNvPr id="7" name="TextBox 32">
            <a:extLst>
              <a:ext uri="{FF2B5EF4-FFF2-40B4-BE49-F238E27FC236}">
                <a16:creationId xmlns:a16="http://schemas.microsoft.com/office/drawing/2014/main" id="{AE5D4897-8E6A-714B-8EFF-6AB1DA67F2C7}"/>
              </a:ext>
            </a:extLst>
          </p:cNvPr>
          <p:cNvSpPr/>
          <p:nvPr/>
        </p:nvSpPr>
        <p:spPr>
          <a:xfrm>
            <a:off x="7790688" y="2578608"/>
            <a:ext cx="3246120" cy="2274746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2000" dirty="0">
                <a:solidFill>
                  <a:srgbClr val="172033"/>
                </a:solidFill>
                <a:latin typeface="Aptos"/>
              </a:rPr>
              <a:t>On an </a:t>
            </a:r>
            <a:r>
              <a:rPr lang="en-US" sz="2000" dirty="0">
                <a:solidFill>
                  <a:srgbClr val="172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ubuntu-latest</a:t>
            </a:r>
            <a:r>
              <a:rPr lang="en-US" sz="2000" dirty="0">
                <a:solidFill>
                  <a:srgbClr val="172033"/>
                </a:solidFill>
                <a:latin typeface="Aptos"/>
              </a:rPr>
              <a:t> VM</a:t>
            </a:r>
          </a:p>
          <a:p>
            <a:pPr marL="0" lvl="0" indent="0" algn="l"/>
            <a:endParaRPr lang="en-US" sz="2000" i="0" dirty="0">
              <a:solidFill>
                <a:srgbClr val="172033"/>
              </a:solidFill>
              <a:latin typeface="Aptos"/>
            </a:endParaRPr>
          </a:p>
          <a:p>
            <a:pPr marL="0" lvl="0" indent="0" algn="l"/>
            <a:r>
              <a:rPr lang="en-US" sz="2000" dirty="0">
                <a:solidFill>
                  <a:srgbClr val="172033"/>
                </a:solidFill>
                <a:latin typeface="Aptos"/>
              </a:rPr>
              <a:t>With Python 3.14</a:t>
            </a:r>
          </a:p>
          <a:p>
            <a:pPr marL="0" lvl="0" indent="0" algn="l"/>
            <a:endParaRPr lang="en-US" sz="2000" i="0" dirty="0">
              <a:solidFill>
                <a:srgbClr val="172033"/>
              </a:solidFill>
              <a:latin typeface="Aptos"/>
            </a:endParaRPr>
          </a:p>
          <a:p>
            <a:pPr marL="0" lvl="0" indent="0" algn="l"/>
            <a:r>
              <a:rPr lang="en-US" sz="2000" dirty="0">
                <a:solidFill>
                  <a:srgbClr val="172033"/>
                </a:solidFill>
                <a:latin typeface="Aptos"/>
              </a:rPr>
              <a:t>Install listed packages</a:t>
            </a:r>
          </a:p>
          <a:p>
            <a:pPr marL="0" lvl="0" indent="0" algn="l"/>
            <a:endParaRPr lang="en-US" sz="2000" i="0" dirty="0">
              <a:solidFill>
                <a:srgbClr val="172033"/>
              </a:solidFill>
              <a:latin typeface="Aptos"/>
            </a:endParaRPr>
          </a:p>
          <a:p>
            <a:pPr marL="0" lvl="0" indent="0" algn="l"/>
            <a:r>
              <a:rPr lang="en-US" sz="2000" dirty="0">
                <a:solidFill>
                  <a:srgbClr val="172033"/>
                </a:solidFill>
                <a:latin typeface="Aptos"/>
              </a:rPr>
              <a:t>Run </a:t>
            </a:r>
            <a:r>
              <a:rPr lang="en-US" sz="2000" dirty="0" err="1">
                <a:solidFill>
                  <a:srgbClr val="17203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en-US" sz="2000" i="0" dirty="0">
              <a:solidFill>
                <a:srgbClr val="172033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137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The reusable testing workflow</a:t>
            </a:r>
          </a:p>
        </p:txBody>
      </p:sp>
      <p:sp>
        <p:nvSpPr>
          <p:cNvPr id="4" name="Rect 20"/>
          <p:cNvSpPr/>
          <p:nvPr/>
        </p:nvSpPr>
        <p:spPr>
          <a:xfrm>
            <a:off x="594360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" name="TextBox 30"/>
          <p:cNvSpPr/>
          <p:nvPr/>
        </p:nvSpPr>
        <p:spPr>
          <a:xfrm>
            <a:off x="777240" y="1993392"/>
            <a:ext cx="164592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>
                <a:solidFill>
                  <a:srgbClr val="172033"/>
                </a:solidFill>
                <a:latin typeface="Aptos"/>
              </a:rPr>
              <a:t>DESIGN</a:t>
            </a:r>
          </a:p>
        </p:txBody>
      </p:sp>
      <p:sp>
        <p:nvSpPr>
          <p:cNvPr id="6" name="TextBox 40"/>
          <p:cNvSpPr/>
          <p:nvPr/>
        </p:nvSpPr>
        <p:spPr>
          <a:xfrm>
            <a:off x="777240" y="2523744"/>
            <a:ext cx="1627632" cy="12801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Separate logic from I/O</a:t>
            </a:r>
          </a:p>
        </p:txBody>
      </p:sp>
      <p:sp>
        <p:nvSpPr>
          <p:cNvPr id="7" name="Rect 21"/>
          <p:cNvSpPr/>
          <p:nvPr/>
        </p:nvSpPr>
        <p:spPr>
          <a:xfrm>
            <a:off x="2862072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8" name="TextBox 31"/>
          <p:cNvSpPr/>
          <p:nvPr/>
        </p:nvSpPr>
        <p:spPr>
          <a:xfrm>
            <a:off x="3044952" y="1993392"/>
            <a:ext cx="164592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>
                <a:solidFill>
                  <a:srgbClr val="172033"/>
                </a:solidFill>
                <a:latin typeface="Aptos"/>
              </a:rPr>
              <a:t>TEST</a:t>
            </a:r>
          </a:p>
        </p:txBody>
      </p:sp>
      <p:sp>
        <p:nvSpPr>
          <p:cNvPr id="9" name="TextBox 41"/>
          <p:cNvSpPr/>
          <p:nvPr/>
        </p:nvSpPr>
        <p:spPr>
          <a:xfrm>
            <a:off x="3044952" y="2523744"/>
            <a:ext cx="1627632" cy="12801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Use unit + integration tests</a:t>
            </a:r>
          </a:p>
        </p:txBody>
      </p:sp>
      <p:sp>
        <p:nvSpPr>
          <p:cNvPr id="10" name="Rect 22"/>
          <p:cNvSpPr/>
          <p:nvPr/>
        </p:nvSpPr>
        <p:spPr>
          <a:xfrm>
            <a:off x="5129784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1" name="TextBox 32"/>
          <p:cNvSpPr/>
          <p:nvPr/>
        </p:nvSpPr>
        <p:spPr>
          <a:xfrm>
            <a:off x="5312664" y="1993392"/>
            <a:ext cx="164592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>
                <a:solidFill>
                  <a:srgbClr val="172033"/>
                </a:solidFill>
                <a:latin typeface="Aptos"/>
              </a:rPr>
              <a:t>CONTROL</a:t>
            </a:r>
          </a:p>
        </p:txBody>
      </p:sp>
      <p:sp>
        <p:nvSpPr>
          <p:cNvPr id="12" name="TextBox 42"/>
          <p:cNvSpPr/>
          <p:nvPr/>
        </p:nvSpPr>
        <p:spPr>
          <a:xfrm>
            <a:off x="5312664" y="2523744"/>
            <a:ext cx="1627632" cy="12801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Inject or mock dependencies</a:t>
            </a:r>
          </a:p>
        </p:txBody>
      </p:sp>
      <p:sp>
        <p:nvSpPr>
          <p:cNvPr id="13" name="Rect 23"/>
          <p:cNvSpPr/>
          <p:nvPr/>
        </p:nvSpPr>
        <p:spPr>
          <a:xfrm>
            <a:off x="7397496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" name="TextBox 33"/>
          <p:cNvSpPr/>
          <p:nvPr/>
        </p:nvSpPr>
        <p:spPr>
          <a:xfrm>
            <a:off x="7580375" y="1993392"/>
            <a:ext cx="164592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>
                <a:solidFill>
                  <a:srgbClr val="172033"/>
                </a:solidFill>
                <a:latin typeface="Aptos"/>
              </a:rPr>
              <a:t>SCALE</a:t>
            </a:r>
          </a:p>
        </p:txBody>
      </p:sp>
      <p:sp>
        <p:nvSpPr>
          <p:cNvPr id="15" name="TextBox 43"/>
          <p:cNvSpPr/>
          <p:nvPr/>
        </p:nvSpPr>
        <p:spPr>
          <a:xfrm>
            <a:off x="7580375" y="2523744"/>
            <a:ext cx="1627632" cy="12801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Make cases data-driven</a:t>
            </a:r>
          </a:p>
        </p:txBody>
      </p:sp>
      <p:sp>
        <p:nvSpPr>
          <p:cNvPr id="16" name="Rect 24"/>
          <p:cNvSpPr/>
          <p:nvPr/>
        </p:nvSpPr>
        <p:spPr>
          <a:xfrm>
            <a:off x="9665208" y="1737360"/>
            <a:ext cx="20116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" name="TextBox 34"/>
          <p:cNvSpPr/>
          <p:nvPr/>
        </p:nvSpPr>
        <p:spPr>
          <a:xfrm>
            <a:off x="9848088" y="1993392"/>
            <a:ext cx="1645920" cy="32004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1600" b="1" i="0">
                <a:solidFill>
                  <a:srgbClr val="172033"/>
                </a:solidFill>
                <a:latin typeface="Aptos"/>
              </a:rPr>
              <a:t>AUTOMATE</a:t>
            </a:r>
          </a:p>
        </p:txBody>
      </p:sp>
      <p:sp>
        <p:nvSpPr>
          <p:cNvPr id="18" name="TextBox 44"/>
          <p:cNvSpPr/>
          <p:nvPr/>
        </p:nvSpPr>
        <p:spPr>
          <a:xfrm>
            <a:off x="9848088" y="2523744"/>
            <a:ext cx="1627632" cy="128016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b="1" i="0">
                <a:solidFill>
                  <a:srgbClr val="172033"/>
                </a:solidFill>
                <a:latin typeface="Aptos"/>
              </a:rPr>
              <a:t>Run the suite in CI</a:t>
            </a:r>
          </a:p>
        </p:txBody>
      </p:sp>
      <p:sp>
        <p:nvSpPr>
          <p:cNvPr id="19" name="Rect 50"/>
          <p:cNvSpPr/>
          <p:nvPr/>
        </p:nvSpPr>
        <p:spPr>
          <a:xfrm>
            <a:off x="594360" y="5074920"/>
            <a:ext cx="10972800" cy="841248"/>
          </a:xfrm>
          <a:prstGeom prst="roundRect">
            <a:avLst/>
          </a:prstGeom>
          <a:solidFill>
            <a:srgbClr val="FFFFFF"/>
          </a:solidFill>
          <a:ln>
            <a:solidFill>
              <a:srgbClr val="D5DD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51"/>
          <p:cNvSpPr/>
          <p:nvPr/>
        </p:nvSpPr>
        <p:spPr>
          <a:xfrm>
            <a:off x="624840" y="5285232"/>
            <a:ext cx="10869168" cy="384048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ctr"/>
            <a:r>
              <a:rPr lang="en-US" sz="1600" b="1" i="0" dirty="0">
                <a:solidFill>
                  <a:srgbClr val="172033"/>
                </a:solidFill>
                <a:latin typeface="Aptos"/>
              </a:rPr>
              <a:t>Final mental model: make </a:t>
            </a:r>
            <a:r>
              <a:rPr lang="en-US" sz="1600" b="1" i="0" dirty="0" err="1">
                <a:solidFill>
                  <a:srgbClr val="172033"/>
                </a:solidFill>
                <a:latin typeface="Aptos"/>
              </a:rPr>
              <a:t>behaviour</a:t>
            </a:r>
            <a:r>
              <a:rPr lang="en-US" sz="1600" b="1" i="0" dirty="0">
                <a:solidFill>
                  <a:srgbClr val="172033"/>
                </a:solidFill>
                <a:latin typeface="Aptos"/>
              </a:rPr>
              <a:t> callable → test it cheaply → automate the same checks on every change.</a:t>
            </a:r>
          </a:p>
        </p:txBody>
      </p:sp>
      <p:sp>
        <p:nvSpPr>
          <p:cNvPr id="21" name="TextBox 60"/>
          <p:cNvSpPr/>
          <p:nvPr/>
        </p:nvSpPr>
        <p:spPr>
          <a:xfrm>
            <a:off x="594360" y="6080760"/>
            <a:ext cx="10881360" cy="27432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ctr"/>
            <a:endParaRPr lang="en-US" sz="1155" b="0" i="0">
              <a:solidFill>
                <a:srgbClr val="172033"/>
              </a:solidFill>
              <a:latin typeface="Aptos"/>
            </a:endParaRPr>
          </a:p>
        </p:txBody>
      </p:sp>
      <p:sp>
        <p:nvSpPr>
          <p:cNvPr id="22" name="Line 928"/>
          <p:cNvSpPr/>
          <p:nvPr/>
        </p:nvSpPr>
        <p:spPr>
          <a:xfrm>
            <a:off x="594360" y="6446520"/>
            <a:ext cx="10972800" cy="9144"/>
          </a:xfrm>
          <a:ln w="12700">
            <a:solidFill>
              <a:srgbClr val="D5DDE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Box 929"/>
          <p:cNvSpPr/>
          <p:nvPr/>
        </p:nvSpPr>
        <p:spPr>
          <a:xfrm>
            <a:off x="594360" y="6492240"/>
            <a:ext cx="896112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892" b="0" i="0">
                <a:solidFill>
                  <a:srgbClr val="172033"/>
                </a:solidFill>
                <a:latin typeface="Aptos"/>
              </a:rPr>
              <a:t>HOW TO TEST YOUR CODE ON GITHUB</a:t>
            </a:r>
          </a:p>
        </p:txBody>
      </p:sp>
      <p:sp>
        <p:nvSpPr>
          <p:cNvPr id="24" name="TextBox 930"/>
          <p:cNvSpPr/>
          <p:nvPr/>
        </p:nvSpPr>
        <p:spPr>
          <a:xfrm>
            <a:off x="10058400" y="6492240"/>
            <a:ext cx="1508760" cy="1828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r"/>
            <a:endParaRPr lang="en-US" sz="892" b="0" i="0">
              <a:solidFill>
                <a:srgbClr val="17203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6D40B-125D-BD49-A1E7-E3FC7A17B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548707-AEFE-0F5F-75AD-502E81FD157A}"/>
              </a:ext>
            </a:extLst>
          </p:cNvPr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117"/>
                </a:solidFill>
                <a:latin typeface="Aptos"/>
              </a:defRPr>
            </a:pPr>
            <a:r>
              <a:t>GitHub Issues: a shared record of development work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2A880B-D80A-9C25-16AD-D06358102EA2}"/>
              </a:ext>
            </a:extLst>
          </p:cNvPr>
          <p:cNvSpPr txBox="1"/>
          <p:nvPr/>
        </p:nvSpPr>
        <p:spPr>
          <a:xfrm>
            <a:off x="731520" y="148132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7606A"/>
                </a:solidFill>
                <a:latin typeface="Aptos"/>
              </a:defRPr>
            </a:pPr>
            <a:r>
              <a:t>Issues turn bugs, features and engineering tasks into visible, discussable units of work.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0518BB-335C-286B-1018-F28588F161A3}"/>
              </a:ext>
            </a:extLst>
          </p:cNvPr>
          <p:cNvSpPr/>
          <p:nvPr/>
        </p:nvSpPr>
        <p:spPr>
          <a:xfrm>
            <a:off x="731520" y="242316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EBCAC9-3602-9274-8A6F-2DF67D78E195}"/>
              </a:ext>
            </a:extLst>
          </p:cNvPr>
          <p:cNvSpPr txBox="1"/>
          <p:nvPr/>
        </p:nvSpPr>
        <p:spPr>
          <a:xfrm>
            <a:off x="987552" y="2697480"/>
            <a:ext cx="2788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117"/>
                </a:solidFill>
                <a:latin typeface="Aptos"/>
              </a:defRPr>
            </a:pPr>
            <a:r>
              <a:rPr sz="2800"/>
              <a:t>Capture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7FAEB3-9F9C-15C8-9C1B-B7150DF98877}"/>
              </a:ext>
            </a:extLst>
          </p:cNvPr>
          <p:cNvSpPr txBox="1"/>
          <p:nvPr/>
        </p:nvSpPr>
        <p:spPr>
          <a:xfrm>
            <a:off x="987552" y="324612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7606A"/>
                </a:solidFill>
                <a:latin typeface="Aptos"/>
              </a:defRPr>
            </a:pPr>
            <a:r>
              <a:rPr sz="1600"/>
              <a:t>Record the problem, goal, context and acceptance criteria before coding starts.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75FCFAD-6414-C9CF-11CD-38E84C4D59D5}"/>
              </a:ext>
            </a:extLst>
          </p:cNvPr>
          <p:cNvSpPr/>
          <p:nvPr/>
        </p:nvSpPr>
        <p:spPr>
          <a:xfrm>
            <a:off x="4425696" y="242316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0F2AE52-B8AA-BED1-80B8-18DC8C7B3091}"/>
              </a:ext>
            </a:extLst>
          </p:cNvPr>
          <p:cNvSpPr txBox="1"/>
          <p:nvPr/>
        </p:nvSpPr>
        <p:spPr>
          <a:xfrm>
            <a:off x="4681728" y="2697480"/>
            <a:ext cx="2788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117"/>
                </a:solidFill>
                <a:latin typeface="Aptos"/>
              </a:defRPr>
            </a:pPr>
            <a:r>
              <a:rPr sz="2800"/>
              <a:t>Organise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878103-7632-4C5A-AF8E-15C505169806}"/>
              </a:ext>
            </a:extLst>
          </p:cNvPr>
          <p:cNvSpPr txBox="1"/>
          <p:nvPr/>
        </p:nvSpPr>
        <p:spPr>
          <a:xfrm>
            <a:off x="4681728" y="3246120"/>
            <a:ext cx="27889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7606A"/>
                </a:solidFill>
                <a:latin typeface="Aptos"/>
              </a:defRPr>
            </a:pPr>
            <a:r>
              <a:rPr sz="1600"/>
              <a:t>Use assignees, labels, milestones and sub-issues to make ownership and scope visible.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61106B31-3611-4C15-AA0C-DA9C6F854A4F}"/>
              </a:ext>
            </a:extLst>
          </p:cNvPr>
          <p:cNvSpPr/>
          <p:nvPr/>
        </p:nvSpPr>
        <p:spPr>
          <a:xfrm>
            <a:off x="8119872" y="2423160"/>
            <a:ext cx="333756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1E2A873-0716-631B-588A-8E00715D18BE}"/>
              </a:ext>
            </a:extLst>
          </p:cNvPr>
          <p:cNvSpPr txBox="1"/>
          <p:nvPr/>
        </p:nvSpPr>
        <p:spPr>
          <a:xfrm>
            <a:off x="8375904" y="2697480"/>
            <a:ext cx="2788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1117"/>
                </a:solidFill>
                <a:latin typeface="Aptos"/>
              </a:defRPr>
            </a:pPr>
            <a:r>
              <a:rPr sz="2800"/>
              <a:t>Discuss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A7DA35-37D1-E550-5A74-0713326D1488}"/>
              </a:ext>
            </a:extLst>
          </p:cNvPr>
          <p:cNvSpPr txBox="1"/>
          <p:nvPr/>
        </p:nvSpPr>
        <p:spPr>
          <a:xfrm>
            <a:off x="8375904" y="3246120"/>
            <a:ext cx="2788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7606A"/>
                </a:solidFill>
                <a:latin typeface="Aptos"/>
              </a:defRPr>
            </a:pPr>
            <a:r>
              <a:rPr sz="1600"/>
              <a:t>Keep questions, decisions and implementation context attached to the work.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A7BAC90-4869-BAA0-72DB-2E77DA978CA6}"/>
              </a:ext>
            </a:extLst>
          </p:cNvPr>
          <p:cNvSpPr txBox="1"/>
          <p:nvPr/>
        </p:nvSpPr>
        <p:spPr>
          <a:xfrm>
            <a:off x="731520" y="5715000"/>
            <a:ext cx="106984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969DA"/>
                </a:solidFill>
                <a:latin typeface="Aptos"/>
              </a:defRPr>
            </a:pPr>
            <a:r>
              <a:rPr sz="2400" dirty="0">
                <a:solidFill>
                  <a:schemeClr val="tx1"/>
                </a:solidFill>
              </a:rPr>
              <a:t>Key idea: an issue explains why a change is needed.</a:t>
            </a:r>
          </a:p>
        </p:txBody>
      </p:sp>
    </p:spTree>
    <p:extLst>
      <p:ext uri="{BB962C8B-B14F-4D97-AF65-F5344CB8AC3E}">
        <p14:creationId xmlns:p14="http://schemas.microsoft.com/office/powerpoint/2010/main" val="15937998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8FE755-A88C-E481-36BF-64F9ED3E4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3722B1-C594-17BC-32D0-B410068D48DB}"/>
              </a:ext>
            </a:extLst>
          </p:cNvPr>
          <p:cNvSpPr txBox="1"/>
          <p:nvPr/>
        </p:nvSpPr>
        <p:spPr>
          <a:xfrm>
            <a:off x="731520" y="749808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D1117"/>
                </a:solidFill>
                <a:latin typeface="Aptos"/>
              </a:defRPr>
            </a:pPr>
            <a:r>
              <a:t>Connect the issue to the code that resolves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8FC641-64E3-6DE8-EA18-071DD6B2EDBE}"/>
              </a:ext>
            </a:extLst>
          </p:cNvPr>
          <p:cNvSpPr txBox="1"/>
          <p:nvPr/>
        </p:nvSpPr>
        <p:spPr>
          <a:xfrm>
            <a:off x="731520" y="141732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57606A"/>
                </a:solidFill>
                <a:latin typeface="Aptos"/>
              </a:defRPr>
            </a:pPr>
            <a:r>
              <a:t>A branch and pull request create traceability from the original task to the final code change.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BCAF23E-BD4D-895D-C992-1366654071F3}"/>
              </a:ext>
            </a:extLst>
          </p:cNvPr>
          <p:cNvSpPr/>
          <p:nvPr/>
        </p:nvSpPr>
        <p:spPr>
          <a:xfrm>
            <a:off x="502920" y="2423160"/>
            <a:ext cx="1673352" cy="18288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1DAFA7-4904-9FD8-C479-DA439A82604A}"/>
              </a:ext>
            </a:extLst>
          </p:cNvPr>
          <p:cNvSpPr txBox="1"/>
          <p:nvPr/>
        </p:nvSpPr>
        <p:spPr>
          <a:xfrm>
            <a:off x="576072" y="2688336"/>
            <a:ext cx="1527048" cy="347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Aptos"/>
              </a:defRPr>
            </a:pPr>
            <a:r>
              <a:t>#42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BABEBD-6A55-7D15-FA7B-5E8993EB75B7}"/>
              </a:ext>
            </a:extLst>
          </p:cNvPr>
          <p:cNvSpPr txBox="1"/>
          <p:nvPr/>
        </p:nvSpPr>
        <p:spPr>
          <a:xfrm>
            <a:off x="576072" y="3136392"/>
            <a:ext cx="152704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69DA"/>
                </a:solidFill>
                <a:latin typeface="Aptos"/>
              </a:defRPr>
            </a:pPr>
            <a:r>
              <a:rPr sz="1600"/>
              <a:t>Issue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9B31D3-9A36-5004-E344-119A29CAEC3E}"/>
              </a:ext>
            </a:extLst>
          </p:cNvPr>
          <p:cNvSpPr txBox="1"/>
          <p:nvPr/>
        </p:nvSpPr>
        <p:spPr>
          <a:xfrm>
            <a:off x="576072" y="3584448"/>
            <a:ext cx="1527048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606A"/>
                </a:solidFill>
                <a:latin typeface="Aptos"/>
              </a:defRPr>
            </a:pPr>
            <a:r>
              <a:t>Describe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A0E0C1-E623-CB04-6B4F-4820B6029D75}"/>
              </a:ext>
            </a:extLst>
          </p:cNvPr>
          <p:cNvSpPr txBox="1"/>
          <p:nvPr/>
        </p:nvSpPr>
        <p:spPr>
          <a:xfrm>
            <a:off x="2194560" y="3063240"/>
            <a:ext cx="65836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7606A"/>
                </a:solidFill>
                <a:latin typeface="Aptos"/>
              </a:defRPr>
            </a:pPr>
            <a:r>
              <a:rPr sz="1600"/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059623-1901-E662-8583-D410753B7AC8}"/>
              </a:ext>
            </a:extLst>
          </p:cNvPr>
          <p:cNvSpPr/>
          <p:nvPr/>
        </p:nvSpPr>
        <p:spPr>
          <a:xfrm>
            <a:off x="2880360" y="2423160"/>
            <a:ext cx="1673352" cy="18288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705E1C-6A03-3028-5E29-DE51CF3C63DC}"/>
              </a:ext>
            </a:extLst>
          </p:cNvPr>
          <p:cNvSpPr txBox="1"/>
          <p:nvPr/>
        </p:nvSpPr>
        <p:spPr>
          <a:xfrm>
            <a:off x="2953512" y="2688336"/>
            <a:ext cx="1527048" cy="276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D1117"/>
                </a:solidFill>
                <a:latin typeface="Aptos"/>
              </a:defRPr>
            </a:pPr>
            <a:r>
              <a:rPr dirty="0"/>
              <a:t>42-</a:t>
            </a:r>
            <a:r>
              <a:rPr lang="en-GB" dirty="0"/>
              <a:t>file-opening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D151218-5301-92CD-3CC9-E7FA84C0DA9C}"/>
              </a:ext>
            </a:extLst>
          </p:cNvPr>
          <p:cNvSpPr txBox="1"/>
          <p:nvPr/>
        </p:nvSpPr>
        <p:spPr>
          <a:xfrm>
            <a:off x="2953512" y="3136392"/>
            <a:ext cx="152704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69DA"/>
                </a:solidFill>
                <a:latin typeface="Aptos"/>
              </a:defRPr>
            </a:pPr>
            <a:r>
              <a:rPr sz="1600"/>
              <a:t>Branch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FA9A6A-4760-F132-E594-2CEC1EB59334}"/>
              </a:ext>
            </a:extLst>
          </p:cNvPr>
          <p:cNvSpPr txBox="1"/>
          <p:nvPr/>
        </p:nvSpPr>
        <p:spPr>
          <a:xfrm>
            <a:off x="2953512" y="3584448"/>
            <a:ext cx="1527048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606A"/>
                </a:solidFill>
                <a:latin typeface="Aptos"/>
              </a:defRPr>
            </a:pPr>
            <a:r>
              <a:t>Implement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A51FD8-273A-0849-F55F-DABAA5A41B1E}"/>
              </a:ext>
            </a:extLst>
          </p:cNvPr>
          <p:cNvSpPr txBox="1"/>
          <p:nvPr/>
        </p:nvSpPr>
        <p:spPr>
          <a:xfrm>
            <a:off x="4572000" y="3063240"/>
            <a:ext cx="65836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7606A"/>
                </a:solidFill>
                <a:latin typeface="Aptos"/>
              </a:defRPr>
            </a:pPr>
            <a:r>
              <a:rPr sz="1600"/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DCF4BE2-F71C-6FF0-783E-F58E9C28DA4E}"/>
              </a:ext>
            </a:extLst>
          </p:cNvPr>
          <p:cNvSpPr/>
          <p:nvPr/>
        </p:nvSpPr>
        <p:spPr>
          <a:xfrm>
            <a:off x="5257800" y="2423160"/>
            <a:ext cx="1673352" cy="18288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8F29EE-C011-4CCD-C24D-94378A3AE5C6}"/>
              </a:ext>
            </a:extLst>
          </p:cNvPr>
          <p:cNvSpPr txBox="1"/>
          <p:nvPr/>
        </p:nvSpPr>
        <p:spPr>
          <a:xfrm>
            <a:off x="5330952" y="2688336"/>
            <a:ext cx="1527048" cy="347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Aptos"/>
              </a:defRPr>
            </a:pPr>
            <a:r>
              <a:rPr dirty="0"/>
              <a:t>Commit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0D0C9C-2BE4-0EEB-7619-03CBEDCC6D87}"/>
              </a:ext>
            </a:extLst>
          </p:cNvPr>
          <p:cNvSpPr txBox="1"/>
          <p:nvPr/>
        </p:nvSpPr>
        <p:spPr>
          <a:xfrm>
            <a:off x="5330952" y="3136392"/>
            <a:ext cx="152704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69DA"/>
                </a:solidFill>
                <a:latin typeface="Aptos"/>
              </a:defRPr>
            </a:pPr>
            <a:r>
              <a:rPr sz="1600" dirty="0"/>
              <a:t>Changes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1B11DE-ECA0-9B77-4076-276E9705F6FF}"/>
              </a:ext>
            </a:extLst>
          </p:cNvPr>
          <p:cNvSpPr txBox="1"/>
          <p:nvPr/>
        </p:nvSpPr>
        <p:spPr>
          <a:xfrm>
            <a:off x="5330952" y="3584448"/>
            <a:ext cx="1527048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606A"/>
                </a:solidFill>
                <a:latin typeface="Aptos"/>
              </a:defRPr>
            </a:pPr>
            <a:r>
              <a:t>Build &amp; test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B9786F-7CD9-BE0D-6260-D94B5DDAD59F}"/>
              </a:ext>
            </a:extLst>
          </p:cNvPr>
          <p:cNvSpPr txBox="1"/>
          <p:nvPr/>
        </p:nvSpPr>
        <p:spPr>
          <a:xfrm>
            <a:off x="6949440" y="3063240"/>
            <a:ext cx="65836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7606A"/>
                </a:solidFill>
                <a:latin typeface="Aptos"/>
              </a:defRPr>
            </a:pPr>
            <a:r>
              <a:rPr sz="1600"/>
              <a:t>→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8AC151F-A88A-CFB4-4C02-E8B406FFE113}"/>
              </a:ext>
            </a:extLst>
          </p:cNvPr>
          <p:cNvSpPr/>
          <p:nvPr/>
        </p:nvSpPr>
        <p:spPr>
          <a:xfrm>
            <a:off x="7635240" y="2423160"/>
            <a:ext cx="1673352" cy="18288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0AAF62-3631-42E5-75F2-D15EB53AB33F}"/>
              </a:ext>
            </a:extLst>
          </p:cNvPr>
          <p:cNvSpPr txBox="1"/>
          <p:nvPr/>
        </p:nvSpPr>
        <p:spPr>
          <a:xfrm>
            <a:off x="7708392" y="2688336"/>
            <a:ext cx="1527048" cy="347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Aptos"/>
              </a:defRPr>
            </a:pPr>
            <a:r>
              <a:t>PR #61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3BC2ECD-6157-E6D3-2DCE-0800C3FF8164}"/>
              </a:ext>
            </a:extLst>
          </p:cNvPr>
          <p:cNvSpPr txBox="1"/>
          <p:nvPr/>
        </p:nvSpPr>
        <p:spPr>
          <a:xfrm>
            <a:off x="7708392" y="3136392"/>
            <a:ext cx="152704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969DA"/>
                </a:solidFill>
                <a:latin typeface="Aptos"/>
              </a:defRPr>
            </a:pPr>
            <a:r>
              <a:rPr sz="1600" dirty="0"/>
              <a:t>Pull r</a:t>
            </a:r>
            <a:r>
              <a:rPr lang="en-GB" sz="1600" dirty="0" err="1"/>
              <a:t>eq</a:t>
            </a:r>
            <a:r>
              <a:rPr sz="1600" dirty="0" err="1"/>
              <a:t>uest</a:t>
            </a:r>
            <a:endParaRPr sz="16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073A9-F8F6-660E-C23A-9B10349301C0}"/>
              </a:ext>
            </a:extLst>
          </p:cNvPr>
          <p:cNvSpPr txBox="1"/>
          <p:nvPr/>
        </p:nvSpPr>
        <p:spPr>
          <a:xfrm>
            <a:off x="7708392" y="3584448"/>
            <a:ext cx="1527048" cy="2743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606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D5A49B-22C3-767B-D6CE-0259B9B094A6}"/>
              </a:ext>
            </a:extLst>
          </p:cNvPr>
          <p:cNvSpPr txBox="1"/>
          <p:nvPr/>
        </p:nvSpPr>
        <p:spPr>
          <a:xfrm>
            <a:off x="9326880" y="3063240"/>
            <a:ext cx="65836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57606A"/>
                </a:solidFill>
                <a:latin typeface="Aptos"/>
              </a:defRPr>
            </a:pPr>
            <a:r>
              <a:rPr sz="1600"/>
              <a:t>→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60C2C4FA-1C85-7F7A-2C38-47E2D79983A9}"/>
              </a:ext>
            </a:extLst>
          </p:cNvPr>
          <p:cNvSpPr/>
          <p:nvPr/>
        </p:nvSpPr>
        <p:spPr>
          <a:xfrm>
            <a:off x="10012680" y="2423160"/>
            <a:ext cx="1673352" cy="182880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932B7D-D620-BC8A-AF97-2EACAEFEB6C0}"/>
              </a:ext>
            </a:extLst>
          </p:cNvPr>
          <p:cNvSpPr txBox="1"/>
          <p:nvPr/>
        </p:nvSpPr>
        <p:spPr>
          <a:xfrm>
            <a:off x="10085832" y="2688336"/>
            <a:ext cx="1527048" cy="3474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D1117"/>
                </a:solidFill>
                <a:latin typeface="Aptos"/>
              </a:defRPr>
            </a:pPr>
            <a:r>
              <a:t>main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5B100E-5962-3560-33AA-1830403AD737}"/>
              </a:ext>
            </a:extLst>
          </p:cNvPr>
          <p:cNvSpPr txBox="1"/>
          <p:nvPr/>
        </p:nvSpPr>
        <p:spPr>
          <a:xfrm>
            <a:off x="10085832" y="3128474"/>
            <a:ext cx="1527048" cy="3385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F883D"/>
                </a:solidFill>
                <a:latin typeface="Aptos"/>
              </a:defRPr>
            </a:pPr>
            <a:r>
              <a:rPr sz="1600" dirty="0"/>
              <a:t>Merge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192B31-C3EC-4CE8-0F0C-7FE8BAC4C329}"/>
              </a:ext>
            </a:extLst>
          </p:cNvPr>
          <p:cNvSpPr txBox="1"/>
          <p:nvPr/>
        </p:nvSpPr>
        <p:spPr>
          <a:xfrm>
            <a:off x="10085832" y="3584448"/>
            <a:ext cx="1527048" cy="261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7606A"/>
                </a:solidFill>
                <a:latin typeface="Aptos"/>
              </a:defRPr>
            </a:pPr>
            <a:r>
              <a:rPr dirty="0"/>
              <a:t>Close</a:t>
            </a:r>
            <a:r>
              <a:rPr lang="en-GB" dirty="0"/>
              <a:t>s</a:t>
            </a:r>
            <a:r>
              <a:rPr dirty="0"/>
              <a:t> issue</a:t>
            </a:r>
          </a:p>
        </p:txBody>
      </p:sp>
    </p:spTree>
    <p:extLst>
      <p:ext uri="{BB962C8B-B14F-4D97-AF65-F5344CB8AC3E}">
        <p14:creationId xmlns:p14="http://schemas.microsoft.com/office/powerpoint/2010/main" val="4881373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CABBD5-EE33-5560-3BBA-6302331A3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1B877B-7D7F-1099-050B-5661762B9C8D}"/>
              </a:ext>
            </a:extLst>
          </p:cNvPr>
          <p:cNvSpPr txBox="1"/>
          <p:nvPr/>
        </p:nvSpPr>
        <p:spPr>
          <a:xfrm>
            <a:off x="731520" y="822960"/>
            <a:ext cx="1069848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Why Issues matter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B2B139-3D21-D2AD-5416-EFA6B14E5EA6}"/>
              </a:ext>
            </a:extLst>
          </p:cNvPr>
          <p:cNvSpPr txBox="1"/>
          <p:nvPr/>
        </p:nvSpPr>
        <p:spPr>
          <a:xfrm>
            <a:off x="731520" y="1554480"/>
            <a:ext cx="1051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9D1D9"/>
                </a:solidFill>
                <a:latin typeface="Aptos"/>
              </a:defRPr>
            </a:pPr>
            <a:r>
              <a:rPr dirty="0">
                <a:solidFill>
                  <a:schemeClr val="tx1"/>
                </a:solidFill>
              </a:rPr>
              <a:t>They connect planning, implementation and review into one auditable engineering workflow.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20405B18-6730-DEDB-60CE-522A70743FF6}"/>
              </a:ext>
            </a:extLst>
          </p:cNvPr>
          <p:cNvSpPr/>
          <p:nvPr/>
        </p:nvSpPr>
        <p:spPr>
          <a:xfrm>
            <a:off x="731520" y="2514600"/>
            <a:ext cx="5074920" cy="132588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4272240-368C-BD47-4917-18E6245FCDE8}"/>
              </a:ext>
            </a:extLst>
          </p:cNvPr>
          <p:cNvSpPr txBox="1"/>
          <p:nvPr/>
        </p:nvSpPr>
        <p:spPr>
          <a:xfrm>
            <a:off x="987552" y="2715768"/>
            <a:ext cx="4480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C0FF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Traceability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2445653-72F7-E774-761E-C6C2EE28D1B2}"/>
              </a:ext>
            </a:extLst>
          </p:cNvPr>
          <p:cNvSpPr txBox="1"/>
          <p:nvPr/>
        </p:nvSpPr>
        <p:spPr>
          <a:xfrm>
            <a:off x="987552" y="3118104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See why code changed and which task, branch and PR produced it.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5604D235-87DB-B5EF-FE82-ED2C6E236D87}"/>
              </a:ext>
            </a:extLst>
          </p:cNvPr>
          <p:cNvSpPr/>
          <p:nvPr/>
        </p:nvSpPr>
        <p:spPr>
          <a:xfrm>
            <a:off x="6217920" y="2514600"/>
            <a:ext cx="5074920" cy="132588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15075-FB6E-7CA4-F086-304DCB978693}"/>
              </a:ext>
            </a:extLst>
          </p:cNvPr>
          <p:cNvSpPr txBox="1"/>
          <p:nvPr/>
        </p:nvSpPr>
        <p:spPr>
          <a:xfrm>
            <a:off x="6473952" y="2715768"/>
            <a:ext cx="4480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C0FF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Collaboration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F892A32-8C44-D366-E3B3-76BA6960A9BB}"/>
              </a:ext>
            </a:extLst>
          </p:cNvPr>
          <p:cNvSpPr txBox="1"/>
          <p:nvPr/>
        </p:nvSpPr>
        <p:spPr>
          <a:xfrm>
            <a:off x="6473952" y="3118104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Give developers and reviewers one shared place for ownership and decisions.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EAEECCAB-5697-F630-5004-673C8BD0442E}"/>
              </a:ext>
            </a:extLst>
          </p:cNvPr>
          <p:cNvSpPr/>
          <p:nvPr/>
        </p:nvSpPr>
        <p:spPr>
          <a:xfrm>
            <a:off x="731520" y="4251960"/>
            <a:ext cx="5074920" cy="132588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828B151-59CE-4B26-1C00-4F875AB49F60}"/>
              </a:ext>
            </a:extLst>
          </p:cNvPr>
          <p:cNvSpPr txBox="1"/>
          <p:nvPr/>
        </p:nvSpPr>
        <p:spPr>
          <a:xfrm>
            <a:off x="987552" y="4453128"/>
            <a:ext cx="4480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C0FF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Quality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1D109F0-FFFA-4E9C-BED2-93D52A9BD9C9}"/>
              </a:ext>
            </a:extLst>
          </p:cNvPr>
          <p:cNvSpPr txBox="1"/>
          <p:nvPr/>
        </p:nvSpPr>
        <p:spPr>
          <a:xfrm>
            <a:off x="987552" y="4855464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Use acceptance criteria, reviews and linked tests to make "done" explicit.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894F5C0-8DD4-9DDA-E5BB-CCD67CB26585}"/>
              </a:ext>
            </a:extLst>
          </p:cNvPr>
          <p:cNvSpPr/>
          <p:nvPr/>
        </p:nvSpPr>
        <p:spPr>
          <a:xfrm>
            <a:off x="6217920" y="4251960"/>
            <a:ext cx="5074920" cy="132588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tx1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9CC8760-4A22-809D-3442-376EB0C0E242}"/>
              </a:ext>
            </a:extLst>
          </p:cNvPr>
          <p:cNvSpPr txBox="1"/>
          <p:nvPr/>
        </p:nvSpPr>
        <p:spPr>
          <a:xfrm>
            <a:off x="6473952" y="4453128"/>
            <a:ext cx="448056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79C0FF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Project visibility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5A1DFF-44D5-C667-56DD-73DCFC21A0B4}"/>
              </a:ext>
            </a:extLst>
          </p:cNvPr>
          <p:cNvSpPr txBox="1"/>
          <p:nvPr/>
        </p:nvSpPr>
        <p:spPr>
          <a:xfrm>
            <a:off x="6473952" y="4855464"/>
            <a:ext cx="4526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  <a:latin typeface="Aptos"/>
              </a:defRPr>
            </a:pPr>
            <a:r>
              <a:rPr>
                <a:solidFill>
                  <a:schemeClr val="tx1"/>
                </a:solidFill>
              </a:rPr>
              <a:t>Labels, milestones and status make progress and remaining work easier to inspect.</a:t>
            </a:r>
          </a:p>
        </p:txBody>
      </p:sp>
    </p:spTree>
    <p:extLst>
      <p:ext uri="{BB962C8B-B14F-4D97-AF65-F5344CB8AC3E}">
        <p14:creationId xmlns:p14="http://schemas.microsoft.com/office/powerpoint/2010/main" val="1273706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47189F-4FF3-BD5E-B175-E4B43C6F1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79BA456E-A955-DE9E-114C-E92C19BFB9D8}"/>
              </a:ext>
            </a:extLst>
          </p:cNvPr>
          <p:cNvSpPr/>
          <p:nvPr/>
        </p:nvSpPr>
        <p:spPr>
          <a:xfrm>
            <a:off x="594360" y="640080"/>
            <a:ext cx="3421738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 dirty="0">
                <a:solidFill>
                  <a:srgbClr val="172033"/>
                </a:solidFill>
                <a:latin typeface="Aptos"/>
              </a:rPr>
              <a:t>Be prepared to roll up your sleeve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C0279B7-3DBB-EFB9-745D-3AFD8E9D2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647" y="-1"/>
            <a:ext cx="5515177" cy="6850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319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EB28B-F31D-060C-6631-771E27A42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E2A74D6C-C444-B6A7-3386-AC21DC57F19C}"/>
              </a:ext>
            </a:extLst>
          </p:cNvPr>
          <p:cNvSpPr/>
          <p:nvPr/>
        </p:nvSpPr>
        <p:spPr>
          <a:xfrm>
            <a:off x="594360" y="640080"/>
            <a:ext cx="10972800" cy="640080"/>
          </a:xfrm>
          <a:noFill/>
          <a:ln>
            <a:noFill/>
          </a:ln>
        </p:spPr>
        <p:txBody>
          <a:bodyPr lIns="73152" tIns="73152" rIns="73152" bIns="73152" anchor="ctr"/>
          <a:lstStyle/>
          <a:p>
            <a:pPr marL="0" lvl="0" indent="0" algn="l"/>
            <a:r>
              <a:rPr lang="en-US" sz="3080" b="1" i="0">
                <a:solidFill>
                  <a:srgbClr val="172033"/>
                </a:solidFill>
                <a:latin typeface="Aptos"/>
              </a:rPr>
              <a:t>Codes and tutorial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7A167D-0AD9-CC17-6413-3A00B1578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59" y="2239353"/>
            <a:ext cx="3989997" cy="39899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62FC75B-9778-4AC3-66B5-63D7BCFD23DD}"/>
              </a:ext>
            </a:extLst>
          </p:cNvPr>
          <p:cNvSpPr txBox="1"/>
          <p:nvPr/>
        </p:nvSpPr>
        <p:spPr>
          <a:xfrm>
            <a:off x="5680711" y="3291840"/>
            <a:ext cx="4943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https://github.com/rbesenczi/my_ols</a:t>
            </a:r>
          </a:p>
        </p:txBody>
      </p:sp>
    </p:spTree>
    <p:extLst>
      <p:ext uri="{BB962C8B-B14F-4D97-AF65-F5344CB8AC3E}">
        <p14:creationId xmlns:p14="http://schemas.microsoft.com/office/powerpoint/2010/main" val="1867394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4560</TotalTime>
  <Words>2265</Words>
  <Application>Microsoft Macintosh PowerPoint</Application>
  <PresentationFormat>Widescreen</PresentationFormat>
  <Paragraphs>419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Dibyo Majumdar</dc:creator>
  <cp:lastModifiedBy>Renato Besenczi</cp:lastModifiedBy>
  <cp:revision>21</cp:revision>
  <dcterms:created xsi:type="dcterms:W3CDTF">2026-01-03T18:21:13Z</dcterms:created>
  <dcterms:modified xsi:type="dcterms:W3CDTF">2026-10-03T14:58:33Z</dcterms:modified>
</cp:coreProperties>
</file>